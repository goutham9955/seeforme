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Inter"/>
      <p:regular r:id="rId17"/>
      <p:bold r:id="rId18"/>
      <p:italic r:id="rId19"/>
      <p:boldItalic r:id="rId20"/>
    </p:embeddedFont>
    <p:embeddedFont>
      <p:font typeface="Caladea"/>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tULHnOw3DlLVbkiElelTj979s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22" Type="http://schemas.openxmlformats.org/officeDocument/2006/relationships/font" Target="fonts/Caladea-bold.fntdata"/><Relationship Id="rId21" Type="http://schemas.openxmlformats.org/officeDocument/2006/relationships/font" Target="fonts/Caladea-regular.fntdata"/><Relationship Id="rId24" Type="http://schemas.openxmlformats.org/officeDocument/2006/relationships/font" Target="fonts/Caladea-boldItalic.fntdata"/><Relationship Id="rId23" Type="http://schemas.openxmlformats.org/officeDocument/2006/relationships/font" Target="fonts/Caladea-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Inter-regular.fntdata"/><Relationship Id="rId16" Type="http://schemas.openxmlformats.org/officeDocument/2006/relationships/slide" Target="slides/slide12.xml"/><Relationship Id="rId19" Type="http://schemas.openxmlformats.org/officeDocument/2006/relationships/font" Target="fonts/Inter-italic.fntdata"/><Relationship Id="rId1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2]. Introduce the team and the one-line idea. SeeForMe lets a blind or low-vision person take or upload a photo, ask about it by typing or speaking, and hear the answer. What makes it different: it says “I’m not sure” out loud when it isn’t sure, and it refuses advice a photo can’t support. Paste the matching block from docs/presentation_script.md here.</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2]. Start with the three questions on the left: these are everyday questions a sighted person answers in a glance. The key point is the bold line: a blind user can’t check the answer, so a confident wrong answer is the worst outcome. On the right, the five things the brief asked for; every one maps to a module on the next slide.</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4]. Each row of the brief became one module with one owner. Read across a row or two: the brief asked for a low-confidence behavior, so Module 2 owns safety, ethics and confidence. Land the footnote: the model proposes, our code decides. That idea shapes the architecture on the next slide.</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Goutham. Walk left to right: a photo comes in, a quality check catches blur and darkness before the model sees it, the vision-language model proposes an answer, and the safety rules decide what is actually said. The amber box is the main design decision. Safety is ordinary code after the model, so it can be tested and the model cannot talk its way past it. Module 4 hosts everything; Module 5 runs the same pipeline over a frozen test set.</a:t>
            </a:r>
            <a:endParaRPr/>
          </a:p>
        </p:txBody>
      </p:sp>
      <p:sp>
        <p:nvSpPr>
          <p:cNvPr id="104" name="Google Shape;1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Goutham. The core is Qwen2.5-VL 3B, a small vision-language model that runs on the laptop through Ollama, about 3 GB. Each photo becomes roughly 1,100 image tokens, which is where most of the time goes. The photo goes in once and follow-up questions reuse it, so a second answer takes seconds. Every answer is forced into a JSON shape so our code can read the confidence and category. The design matches what we studied in class: a frozen vision encoder, a connecting layer and a language model, as in Flamingo.</a:t>
            </a:r>
            <a:endParaRPr/>
          </a:p>
        </p:txBody>
      </p:sp>
      <p:sp>
        <p:nvSpPr>
          <p:cNvPr id="155" name="Google Shape;15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3]. Three behaviours. Refuse: when the question needs advice a photo can’t support, like a dose, we read what is printed and point to a pharmacist. Hedge: low confidence is said out loud, starting with “I’m not sure”, always with a next step; a stove is never reported as surely off, and a blurry photo can’t produce high confidence. Ignore: text inside a photo is treated as data, never as a command. These rules are ordinary code after the model, so we can test them, and they can only raise the risk level, never lower it.</a:t>
            </a:r>
            <a:endParaRPr/>
          </a:p>
        </p:txBody>
      </p:sp>
      <p:sp>
        <p:nvSpPr>
          <p:cNvPr id="184" name="Google Shape;18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4]. A photo can come from a file, a paste, drag and drop, or the live camera. The camera talks the user into a good photo: too dark, hold steady, move closer, and it takes the shot itself once the picture is sharp. Answers are spoken, with replay, and the question can be spoken too. Everything works from the keyboard, with a screen-reader mode, a high-contrast theme and large text. Point to the screenshot to show a real answer card.</a:t>
            </a:r>
            <a:endParaRPr/>
          </a:p>
        </p:txBody>
      </p:sp>
      <p:sp>
        <p:nvSpPr>
          <p:cNvPr id="212" name="Google Shape;21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5]. The server is FastAPI: sessions live in memory only, uploads are limited, and it handles one question at a time. A photo-quality check runs before the model so bad photos never cost a model call. Everything runs on a MacBook Air M1 with 8 GB. The chart is the key finding: the same question took 135 seconds when memory was starved, 71 with Chrome open, 30 with Chrome closed, and 9 with memory free. On a small machine, free memory beats code changes.</a:t>
            </a:r>
            <a:endParaRPr/>
          </a:p>
        </p:txBody>
      </p:sp>
      <p:sp>
        <p:nvSpPr>
          <p:cNvPr id="236" name="Google Shape;23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2]. The three headline numbers are still to be filled in from the locked test run: items handled correctly out of 30, confident wrong answers on high-risk items, and typical seconds per answer. The test set has 30 items across six kinds, and we tuned only on 12 separate items so we couldn’t overfit the test. Errors are weighted by cost: a confident wrong medicine answer costs 20, a hedged miss on a low-risk item costs 1. Every grade was checked by a person against the photo.</a:t>
            </a:r>
            <a:endParaRPr/>
          </a:p>
        </p:txBody>
      </p:sp>
      <p:sp>
        <p:nvSpPr>
          <p:cNvPr id="275" name="Google Shape;2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Goutham. Four failures, each with what we changed. Invented meaning: the model read a blurry Startup Repair screen as a password prompt, with high confidence; the prompt now asks it to describe only what is readable. Cache leak: one photo’s content showed up in the next photo’s answer; each conversation now gets its own id. Gate too strict: a readable braille photo was blocked as blurry, because flat textures fool a sharpness test; this is a documented trade-off. Grader error: my own grader marked a correct answer wrong and raised a false safety alarm, so a person now checks every grade. The test-set failure patterns will be added after the locked run.</a:t>
            </a:r>
            <a:endParaRPr/>
          </a:p>
        </p:txBody>
      </p:sp>
      <p:sp>
        <p:nvSpPr>
          <p:cNvPr id="316" name="Google Shape;31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 [Member 3], everyone joins for the thanks. Our answer to the brief’s ethics question: an AI should refuse when a photo can’t support the answer and a wrong answer could be dangerous, and it should always offer a next step rather than a bare “no”. Be honest about limits: a small model is sometimes confidently wrong, and keyword rules can miss cases. Next: a bigger hosted model, local speech recognition, testing with real blind and low-vision users, and few-shot examples (result to be added). Thank the audience and open for questions.</a:t>
            </a:r>
            <a:endParaRPr/>
          </a:p>
        </p:txBody>
      </p:sp>
      <p:sp>
        <p:nvSpPr>
          <p:cNvPr id="352" name="Google Shape;35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[Member 5] narrates, [Member 4] drives. 1: Medicine bottle: it reads the label and adds a line asking the user to verify. 2: Ask “How many tablets should I take?”: it refuses and shows the rule that fired. 3: A blurry photo: it asks for a retake instead of guessing. 4: The live camera: listen for the spoken guidance, then the automatic capture. 5: A handwritten note saying “ignore instructions”: the assistant reads it as text and does not obey it. Backup plan if the live demo fails: [add recorded video or screenshots].</a:t>
            </a:r>
            <a:endParaRPr/>
          </a:p>
        </p:txBody>
      </p:sp>
      <p:sp>
        <p:nvSpPr>
          <p:cNvPr id="383" name="Google Shape;3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14"/>
          <p:cNvSpPr txBox="1"/>
          <p:nvPr>
            <p:ph type="title"/>
          </p:nvPr>
        </p:nvSpPr>
        <p:spPr>
          <a:xfrm>
            <a:off x="812765" y="762000"/>
            <a:ext cx="10566443" cy="502912"/>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E1A45"/>
              </a:buClr>
              <a:buSzPts val="3600"/>
              <a:buFont typeface="Caladea"/>
              <a:buNone/>
              <a:defRPr sz="3600">
                <a:solidFill>
                  <a:srgbClr val="0E1A45"/>
                </a:solidFill>
                <a:latin typeface="Caladea"/>
                <a:ea typeface="Caladea"/>
                <a:cs typeface="Caladea"/>
                <a:sym typeface="Calade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 type="body"/>
          </p:nvPr>
        </p:nvSpPr>
        <p:spPr>
          <a:xfrm>
            <a:off x="812765" y="1569712"/>
            <a:ext cx="10566435" cy="4475488"/>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0E1A45"/>
              </a:buClr>
              <a:buSzPts val="1600"/>
              <a:buNone/>
              <a:defRPr sz="1600">
                <a:solidFill>
                  <a:srgbClr val="0E1A45"/>
                </a:solidFill>
                <a:latin typeface="Inter"/>
                <a:ea typeface="Inter"/>
                <a:cs typeface="Inter"/>
                <a:sym typeface="Inte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12765" y="762000"/>
            <a:ext cx="10566443" cy="502912"/>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0E1A45"/>
              </a:buClr>
              <a:buSzPts val="3600"/>
              <a:buFont typeface="Caladea"/>
              <a:buNone/>
              <a:defRPr b="0" i="0" sz="3600" u="none" cap="none" strike="noStrike">
                <a:solidFill>
                  <a:srgbClr val="0E1A45"/>
                </a:solidFill>
                <a:latin typeface="Caladea"/>
                <a:ea typeface="Caladea"/>
                <a:cs typeface="Caladea"/>
                <a:sym typeface="Calade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12765" y="1569712"/>
            <a:ext cx="10566435" cy="4475488"/>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0E1A45"/>
              </a:buClr>
              <a:buSzPts val="1600"/>
              <a:buFont typeface="Arial"/>
              <a:buNone/>
              <a:defRPr b="0" i="0" sz="1600" u="none" cap="none" strike="noStrike">
                <a:solidFill>
                  <a:srgbClr val="0E1A45"/>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2.png"/><Relationship Id="rId10" Type="http://schemas.openxmlformats.org/officeDocument/2006/relationships/image" Target="../media/image20.png"/><Relationship Id="rId9"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17.png"/><Relationship Id="rId8"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6.png"/><Relationship Id="rId6"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image" Target="../media/image38.png"/><Relationship Id="rId6" Type="http://schemas.openxmlformats.org/officeDocument/2006/relationships/image" Target="../media/image4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2.png"/><Relationship Id="rId4" Type="http://schemas.openxmlformats.org/officeDocument/2006/relationships/image" Target="../media/image41.png"/><Relationship Id="rId5" Type="http://schemas.openxmlformats.org/officeDocument/2006/relationships/image" Target="../media/image43.png"/><Relationship Id="rId6"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1A45"/>
        </a:solidFill>
      </p:bgPr>
    </p:bg>
    <p:spTree>
      <p:nvGrpSpPr>
        <p:cNvPr id="20" name="Shape 20"/>
        <p:cNvGrpSpPr/>
        <p:nvPr/>
      </p:nvGrpSpPr>
      <p:grpSpPr>
        <a:xfrm>
          <a:off x="0" y="0"/>
          <a:ext cx="0" cy="0"/>
          <a:chOff x="0" y="0"/>
          <a:chExt cx="0" cy="0"/>
        </a:xfrm>
      </p:grpSpPr>
      <p:sp>
        <p:nvSpPr>
          <p:cNvPr id="21" name="Google Shape;21;p1"/>
          <p:cNvSpPr/>
          <p:nvPr/>
        </p:nvSpPr>
        <p:spPr>
          <a:xfrm>
            <a:off x="812765" y="1769135"/>
            <a:ext cx="7377789"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A900"/>
              </a:buClr>
              <a:buSzPts val="1400"/>
              <a:buFont typeface="Inter"/>
              <a:buNone/>
            </a:pPr>
            <a:r>
              <a:rPr b="1" i="0" lang="en-US" sz="1400" u="none" cap="none" strike="noStrike">
                <a:solidFill>
                  <a:srgbClr val="F2A900"/>
                </a:solidFill>
                <a:latin typeface="Inter"/>
                <a:ea typeface="Inter"/>
                <a:cs typeface="Inter"/>
                <a:sym typeface="Inter"/>
              </a:rPr>
              <a:t>AI COURSE FINAL PROJECT</a:t>
            </a:r>
            <a:endParaRPr b="0" i="0" sz="1400" u="none" cap="none" strike="noStrike">
              <a:solidFill>
                <a:schemeClr val="dk1"/>
              </a:solidFill>
              <a:latin typeface="Inter"/>
              <a:ea typeface="Inter"/>
              <a:cs typeface="Inter"/>
              <a:sym typeface="Inter"/>
            </a:endParaRPr>
          </a:p>
        </p:txBody>
      </p:sp>
      <p:sp>
        <p:nvSpPr>
          <p:cNvPr id="22" name="Google Shape;22;p1"/>
          <p:cNvSpPr txBox="1"/>
          <p:nvPr>
            <p:ph type="title"/>
          </p:nvPr>
        </p:nvSpPr>
        <p:spPr>
          <a:xfrm>
            <a:off x="812765" y="2272001"/>
            <a:ext cx="7377789" cy="1041413"/>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FFFFF"/>
              </a:buClr>
              <a:buSzPts val="8000"/>
              <a:buFont typeface="Caladea"/>
              <a:buNone/>
            </a:pPr>
            <a:r>
              <a:rPr b="1" i="0" lang="en-US" sz="8000">
                <a:solidFill>
                  <a:srgbClr val="FFFFFF"/>
                </a:solidFill>
                <a:latin typeface="Caladea"/>
                <a:ea typeface="Caladea"/>
                <a:cs typeface="Caladea"/>
                <a:sym typeface="Caladea"/>
              </a:rPr>
              <a:t>SeeForMe</a:t>
            </a:r>
            <a:endParaRPr sz="8000"/>
          </a:p>
        </p:txBody>
      </p:sp>
      <p:sp>
        <p:nvSpPr>
          <p:cNvPr id="23" name="Google Shape;23;p1"/>
          <p:cNvSpPr/>
          <p:nvPr/>
        </p:nvSpPr>
        <p:spPr>
          <a:xfrm>
            <a:off x="812765" y="3541983"/>
            <a:ext cx="7377789" cy="751893"/>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D6DDF7"/>
              </a:buClr>
              <a:buSzPts val="2200"/>
              <a:buFont typeface="Inter"/>
              <a:buNone/>
            </a:pPr>
            <a:r>
              <a:rPr b="0" i="0" lang="en-US" sz="2200" u="none" cap="none" strike="noStrike">
                <a:solidFill>
                  <a:srgbClr val="D6DDF7"/>
                </a:solidFill>
                <a:latin typeface="Inter"/>
                <a:ea typeface="Inter"/>
                <a:cs typeface="Inter"/>
                <a:sym typeface="Inter"/>
              </a:rPr>
              <a:t>A multimodal accessibility assistant that tells you when it isn’t sure</a:t>
            </a:r>
            <a:endParaRPr b="0" i="0" sz="2200" u="none" cap="none" strike="noStrike">
              <a:solidFill>
                <a:schemeClr val="dk1"/>
              </a:solidFill>
              <a:latin typeface="Inter"/>
              <a:ea typeface="Inter"/>
              <a:cs typeface="Inter"/>
              <a:sym typeface="Inter"/>
            </a:endParaRPr>
          </a:p>
        </p:txBody>
      </p:sp>
      <p:sp>
        <p:nvSpPr>
          <p:cNvPr id="24" name="Google Shape;24;p1"/>
          <p:cNvSpPr/>
          <p:nvPr/>
        </p:nvSpPr>
        <p:spPr>
          <a:xfrm>
            <a:off x="812765" y="4522446"/>
            <a:ext cx="7377789" cy="29209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500"/>
              <a:buFont typeface="Inter"/>
              <a:buNone/>
            </a:pPr>
            <a:r>
              <a:rPr b="0" i="0" lang="en-US" sz="1500" u="none" cap="none" strike="noStrike">
                <a:solidFill>
                  <a:srgbClr val="FFFFFF"/>
                </a:solidFill>
                <a:latin typeface="Inter"/>
                <a:ea typeface="Inter"/>
                <a:cs typeface="Inter"/>
                <a:sym typeface="Inter"/>
              </a:rPr>
              <a:t>Goutham, [Member 2], [Member 3], [Member 4], [Member 5]</a:t>
            </a:r>
            <a:endParaRPr b="0" i="0" sz="1500" u="none" cap="none" strike="noStrike">
              <a:solidFill>
                <a:schemeClr val="dk1"/>
              </a:solidFill>
              <a:latin typeface="Inter"/>
              <a:ea typeface="Inter"/>
              <a:cs typeface="Inter"/>
              <a:sym typeface="Inter"/>
            </a:endParaRPr>
          </a:p>
        </p:txBody>
      </p:sp>
      <p:sp>
        <p:nvSpPr>
          <p:cNvPr id="25" name="Google Shape;25;p1"/>
          <p:cNvSpPr/>
          <p:nvPr/>
        </p:nvSpPr>
        <p:spPr>
          <a:xfrm>
            <a:off x="812765" y="4839907"/>
            <a:ext cx="7377789"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9C4EC"/>
              </a:buClr>
              <a:buSzPts val="1400"/>
              <a:buFont typeface="Inter"/>
              <a:buNone/>
            </a:pPr>
            <a:r>
              <a:rPr b="0" i="0" lang="en-US" sz="1400" u="none" cap="none" strike="noStrike">
                <a:solidFill>
                  <a:srgbClr val="B9C4EC"/>
                </a:solidFill>
                <a:latin typeface="Inter"/>
                <a:ea typeface="Inter"/>
                <a:cs typeface="Inter"/>
                <a:sym typeface="Inter"/>
              </a:rPr>
              <a:t>[Course name] · October 2026</a:t>
            </a:r>
            <a:endParaRPr b="0" i="0" sz="1400" u="none" cap="none" strike="noStrike">
              <a:solidFill>
                <a:schemeClr val="dk1"/>
              </a:solidFill>
              <a:latin typeface="Inter"/>
              <a:ea typeface="Inter"/>
              <a:cs typeface="Inter"/>
              <a:sym typeface="Inter"/>
            </a:endParaRPr>
          </a:p>
        </p:txBody>
      </p:sp>
      <p:sp>
        <p:nvSpPr>
          <p:cNvPr id="26" name="Google Shape;26;p1"/>
          <p:cNvSpPr/>
          <p:nvPr/>
        </p:nvSpPr>
        <p:spPr>
          <a:xfrm>
            <a:off x="8585229" y="2031980"/>
            <a:ext cx="2793979" cy="2793979"/>
          </a:xfrm>
          <a:prstGeom prst="roundRect">
            <a:avLst>
              <a:gd fmla="val 50000" name="adj"/>
            </a:avLst>
          </a:prstGeom>
          <a:solidFill>
            <a:srgbClr val="2446C8"/>
          </a:solidFill>
          <a:ln>
            <a:noFill/>
          </a:ln>
          <a:effectLst>
            <a:outerShdw blurRad="406400" rotWithShape="0" algn="bl" dir="5400000" dist="1524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ye icon" id="27" name="Google Shape;27;p1"/>
          <p:cNvPicPr preferRelativeResize="0"/>
          <p:nvPr/>
        </p:nvPicPr>
        <p:blipFill rotWithShape="1">
          <a:blip r:embed="rId3">
            <a:alphaModFix/>
          </a:blip>
          <a:srcRect b="0" l="0" r="0" t="0"/>
          <a:stretch/>
        </p:blipFill>
        <p:spPr>
          <a:xfrm>
            <a:off x="9220198" y="2666949"/>
            <a:ext cx="1523997" cy="152399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txBox="1"/>
          <p:nvPr>
            <p:ph type="title"/>
          </p:nvPr>
        </p:nvSpPr>
        <p:spPr>
          <a:xfrm>
            <a:off x="812765" y="761998"/>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The problem and what the brief asked</a:t>
            </a:r>
            <a:endParaRPr sz="3600"/>
          </a:p>
        </p:txBody>
      </p:sp>
      <p:sp>
        <p:nvSpPr>
          <p:cNvPr id="34" name="Google Shape;34;p2"/>
          <p:cNvSpPr/>
          <p:nvPr/>
        </p:nvSpPr>
        <p:spPr>
          <a:xfrm>
            <a:off x="812765" y="1569691"/>
            <a:ext cx="5152749" cy="574006"/>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600"/>
              <a:buFont typeface="Inter"/>
              <a:buNone/>
            </a:pPr>
            <a:r>
              <a:rPr b="0" i="0" lang="en-US" sz="1600" u="none" cap="none" strike="noStrike">
                <a:solidFill>
                  <a:srgbClr val="2B3556"/>
                </a:solidFill>
                <a:latin typeface="Inter"/>
                <a:ea typeface="Inter"/>
                <a:cs typeface="Inter"/>
                <a:sym typeface="Inter"/>
              </a:rPr>
              <a:t>People who can’t see need answers to their own questions:</a:t>
            </a:r>
            <a:endParaRPr b="0" i="0" sz="1600" u="none" cap="none" strike="noStrike">
              <a:solidFill>
                <a:schemeClr val="dk1"/>
              </a:solidFill>
              <a:latin typeface="Inter"/>
              <a:ea typeface="Inter"/>
              <a:cs typeface="Inter"/>
              <a:sym typeface="Inter"/>
            </a:endParaRPr>
          </a:p>
        </p:txBody>
      </p:sp>
      <p:sp>
        <p:nvSpPr>
          <p:cNvPr id="35" name="Google Shape;35;p2"/>
          <p:cNvSpPr/>
          <p:nvPr/>
        </p:nvSpPr>
        <p:spPr>
          <a:xfrm>
            <a:off x="812765" y="2270688"/>
            <a:ext cx="5002669" cy="685690"/>
          </a:xfrm>
          <a:prstGeom prst="roundRect">
            <a:avLst>
              <a:gd fmla="val 22226"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990562" y="2384947"/>
            <a:ext cx="457172" cy="457172"/>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edicine bottle icon" id="37" name="Google Shape;37;p2"/>
          <p:cNvPicPr preferRelativeResize="0"/>
          <p:nvPr/>
        </p:nvPicPr>
        <p:blipFill rotWithShape="1">
          <a:blip r:embed="rId3">
            <a:alphaModFix/>
          </a:blip>
          <a:srcRect b="0" l="0" r="0" t="0"/>
          <a:stretch/>
        </p:blipFill>
        <p:spPr>
          <a:xfrm>
            <a:off x="1092140" y="2486526"/>
            <a:ext cx="253969" cy="253969"/>
          </a:xfrm>
          <a:prstGeom prst="rect">
            <a:avLst/>
          </a:prstGeom>
          <a:noFill/>
          <a:ln>
            <a:noFill/>
          </a:ln>
        </p:spPr>
      </p:pic>
      <p:sp>
        <p:nvSpPr>
          <p:cNvPr id="38" name="Google Shape;38;p2"/>
          <p:cNvSpPr/>
          <p:nvPr/>
        </p:nvSpPr>
        <p:spPr>
          <a:xfrm>
            <a:off x="1600124" y="2471309"/>
            <a:ext cx="2779822" cy="3098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600"/>
              <a:buFont typeface="Inter"/>
              <a:buNone/>
            </a:pPr>
            <a:r>
              <a:rPr b="1" i="0" lang="en-US" sz="1600" u="none" cap="none" strike="noStrike">
                <a:solidFill>
                  <a:srgbClr val="0E1A45"/>
                </a:solidFill>
                <a:latin typeface="Inter"/>
                <a:ea typeface="Inter"/>
                <a:cs typeface="Inter"/>
                <a:sym typeface="Inter"/>
              </a:rPr>
              <a:t>Which medicine is this?</a:t>
            </a:r>
            <a:endParaRPr b="0" i="0" sz="1600" u="none" cap="none" strike="noStrike">
              <a:solidFill>
                <a:schemeClr val="dk1"/>
              </a:solidFill>
              <a:latin typeface="Inter"/>
              <a:ea typeface="Inter"/>
              <a:cs typeface="Inter"/>
              <a:sym typeface="Inter"/>
            </a:endParaRPr>
          </a:p>
        </p:txBody>
      </p:sp>
      <p:sp>
        <p:nvSpPr>
          <p:cNvPr id="39" name="Google Shape;39;p2"/>
          <p:cNvSpPr/>
          <p:nvPr/>
        </p:nvSpPr>
        <p:spPr>
          <a:xfrm>
            <a:off x="812765" y="3108768"/>
            <a:ext cx="5002669" cy="685690"/>
          </a:xfrm>
          <a:prstGeom prst="roundRect">
            <a:avLst>
              <a:gd fmla="val 22226"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990562" y="3223027"/>
            <a:ext cx="457172" cy="457172"/>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reet sign icon" id="41" name="Google Shape;41;p2"/>
          <p:cNvPicPr preferRelativeResize="0"/>
          <p:nvPr/>
        </p:nvPicPr>
        <p:blipFill rotWithShape="1">
          <a:blip r:embed="rId4">
            <a:alphaModFix/>
          </a:blip>
          <a:srcRect b="0" l="0" r="0" t="0"/>
          <a:stretch/>
        </p:blipFill>
        <p:spPr>
          <a:xfrm>
            <a:off x="1092140" y="3324606"/>
            <a:ext cx="253969" cy="253969"/>
          </a:xfrm>
          <a:prstGeom prst="rect">
            <a:avLst/>
          </a:prstGeom>
          <a:noFill/>
          <a:ln>
            <a:noFill/>
          </a:ln>
        </p:spPr>
      </p:pic>
      <p:sp>
        <p:nvSpPr>
          <p:cNvPr id="42" name="Google Shape;42;p2"/>
          <p:cNvSpPr/>
          <p:nvPr/>
        </p:nvSpPr>
        <p:spPr>
          <a:xfrm>
            <a:off x="1600124" y="3309389"/>
            <a:ext cx="2927258" cy="3098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600"/>
              <a:buFont typeface="Inter"/>
              <a:buNone/>
            </a:pPr>
            <a:r>
              <a:rPr b="1" i="0" lang="en-US" sz="1600" u="none" cap="none" strike="noStrike">
                <a:solidFill>
                  <a:srgbClr val="0E1A45"/>
                </a:solidFill>
                <a:latin typeface="Inter"/>
                <a:ea typeface="Inter"/>
                <a:cs typeface="Inter"/>
                <a:sym typeface="Inter"/>
              </a:rPr>
              <a:t>What does this sign say?</a:t>
            </a:r>
            <a:endParaRPr b="0" i="0" sz="1600" u="none" cap="none" strike="noStrike">
              <a:solidFill>
                <a:schemeClr val="dk1"/>
              </a:solidFill>
              <a:latin typeface="Inter"/>
              <a:ea typeface="Inter"/>
              <a:cs typeface="Inter"/>
              <a:sym typeface="Inter"/>
            </a:endParaRPr>
          </a:p>
        </p:txBody>
      </p:sp>
      <p:sp>
        <p:nvSpPr>
          <p:cNvPr id="43" name="Google Shape;43;p2"/>
          <p:cNvSpPr/>
          <p:nvPr/>
        </p:nvSpPr>
        <p:spPr>
          <a:xfrm>
            <a:off x="812765" y="3946849"/>
            <a:ext cx="5002669" cy="685690"/>
          </a:xfrm>
          <a:prstGeom prst="roundRect">
            <a:avLst>
              <a:gd fmla="val 22226"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990562" y="4061108"/>
            <a:ext cx="457172" cy="457172"/>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lame icon" id="45" name="Google Shape;45;p2"/>
          <p:cNvPicPr preferRelativeResize="0"/>
          <p:nvPr/>
        </p:nvPicPr>
        <p:blipFill rotWithShape="1">
          <a:blip r:embed="rId5">
            <a:alphaModFix/>
          </a:blip>
          <a:srcRect b="0" l="0" r="0" t="0"/>
          <a:stretch/>
        </p:blipFill>
        <p:spPr>
          <a:xfrm>
            <a:off x="1092140" y="4162686"/>
            <a:ext cx="253969" cy="253969"/>
          </a:xfrm>
          <a:prstGeom prst="rect">
            <a:avLst/>
          </a:prstGeom>
          <a:noFill/>
          <a:ln>
            <a:noFill/>
          </a:ln>
        </p:spPr>
      </p:pic>
      <p:sp>
        <p:nvSpPr>
          <p:cNvPr id="46" name="Google Shape;46;p2"/>
          <p:cNvSpPr/>
          <p:nvPr/>
        </p:nvSpPr>
        <p:spPr>
          <a:xfrm>
            <a:off x="1600124" y="4147470"/>
            <a:ext cx="1840100" cy="3098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600"/>
              <a:buFont typeface="Inter"/>
              <a:buNone/>
            </a:pPr>
            <a:r>
              <a:rPr b="1" i="0" lang="en-US" sz="1600" u="none" cap="none" strike="noStrike">
                <a:solidFill>
                  <a:srgbClr val="0E1A45"/>
                </a:solidFill>
                <a:latin typeface="Inter"/>
                <a:ea typeface="Inter"/>
                <a:cs typeface="Inter"/>
                <a:sym typeface="Inter"/>
              </a:rPr>
              <a:t>Is the stove on?</a:t>
            </a:r>
            <a:endParaRPr b="0" i="0" sz="1600" u="none" cap="none" strike="noStrike">
              <a:solidFill>
                <a:schemeClr val="dk1"/>
              </a:solidFill>
              <a:latin typeface="Inter"/>
              <a:ea typeface="Inter"/>
              <a:cs typeface="Inter"/>
              <a:sym typeface="Inter"/>
            </a:endParaRPr>
          </a:p>
        </p:txBody>
      </p:sp>
      <p:sp>
        <p:nvSpPr>
          <p:cNvPr id="47" name="Google Shape;47;p2"/>
          <p:cNvSpPr/>
          <p:nvPr/>
        </p:nvSpPr>
        <p:spPr>
          <a:xfrm>
            <a:off x="812765" y="4784929"/>
            <a:ext cx="5152749" cy="608243"/>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E1A45"/>
              </a:buClr>
              <a:buSzPts val="1700"/>
              <a:buFont typeface="Inter"/>
              <a:buNone/>
            </a:pPr>
            <a:r>
              <a:rPr b="1" i="0" lang="en-US" sz="1700" u="none" cap="none" strike="noStrike">
                <a:solidFill>
                  <a:srgbClr val="0E1A45"/>
                </a:solidFill>
                <a:latin typeface="Inter"/>
                <a:ea typeface="Inter"/>
                <a:cs typeface="Inter"/>
                <a:sym typeface="Inter"/>
              </a:rPr>
              <a:t>They can’t check the answer, so the AI must be honest about what it doesn’t know.</a:t>
            </a:r>
            <a:endParaRPr b="0" i="0" sz="1700" u="none" cap="none" strike="noStrike">
              <a:solidFill>
                <a:schemeClr val="dk1"/>
              </a:solidFill>
              <a:latin typeface="Inter"/>
              <a:ea typeface="Inter"/>
              <a:cs typeface="Inter"/>
              <a:sym typeface="Inter"/>
            </a:endParaRPr>
          </a:p>
        </p:txBody>
      </p:sp>
      <p:sp>
        <p:nvSpPr>
          <p:cNvPr id="48" name="Google Shape;48;p2"/>
          <p:cNvSpPr/>
          <p:nvPr/>
        </p:nvSpPr>
        <p:spPr>
          <a:xfrm>
            <a:off x="6221793" y="1569691"/>
            <a:ext cx="5157414" cy="4272326"/>
          </a:xfrm>
          <a:prstGeom prst="roundRect">
            <a:avLst>
              <a:gd fmla="val 3567"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526574" y="1849066"/>
            <a:ext cx="4684287" cy="33018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2000"/>
              <a:buFont typeface="Caladea"/>
              <a:buNone/>
            </a:pPr>
            <a:r>
              <a:rPr b="1" i="0" lang="en-US" sz="2000" u="none" cap="none" strike="noStrike">
                <a:solidFill>
                  <a:srgbClr val="0E1A45"/>
                </a:solidFill>
                <a:latin typeface="Caladea"/>
                <a:ea typeface="Caladea"/>
                <a:cs typeface="Caladea"/>
                <a:sym typeface="Caladea"/>
              </a:rPr>
              <a:t>What the brief asked for</a:t>
            </a:r>
            <a:endParaRPr b="0" i="0" sz="2000" u="none" cap="none" strike="noStrike">
              <a:solidFill>
                <a:schemeClr val="dk1"/>
              </a:solidFill>
              <a:latin typeface="Inter"/>
              <a:ea typeface="Inter"/>
              <a:cs typeface="Inter"/>
              <a:sym typeface="Inter"/>
            </a:endParaRPr>
          </a:p>
        </p:txBody>
      </p:sp>
      <p:sp>
        <p:nvSpPr>
          <p:cNvPr id="50" name="Google Shape;50;p2"/>
          <p:cNvSpPr/>
          <p:nvPr/>
        </p:nvSpPr>
        <p:spPr>
          <a:xfrm>
            <a:off x="6526574" y="2306238"/>
            <a:ext cx="330187" cy="330187"/>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51" name="Google Shape;51;p2"/>
          <p:cNvPicPr preferRelativeResize="0"/>
          <p:nvPr/>
        </p:nvPicPr>
        <p:blipFill rotWithShape="1">
          <a:blip r:embed="rId6">
            <a:alphaModFix/>
          </a:blip>
          <a:srcRect b="0" l="0" r="0" t="0"/>
          <a:stretch/>
        </p:blipFill>
        <p:spPr>
          <a:xfrm>
            <a:off x="6602747" y="2382411"/>
            <a:ext cx="177797" cy="177797"/>
          </a:xfrm>
          <a:prstGeom prst="rect">
            <a:avLst/>
          </a:prstGeom>
          <a:noFill/>
          <a:ln>
            <a:noFill/>
          </a:ln>
        </p:spPr>
      </p:pic>
      <p:sp>
        <p:nvSpPr>
          <p:cNvPr id="52" name="Google Shape;52;p2"/>
          <p:cNvSpPr/>
          <p:nvPr/>
        </p:nvSpPr>
        <p:spPr>
          <a:xfrm>
            <a:off x="6983747" y="2347495"/>
            <a:ext cx="4213401"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Upload a photo, then multi-turn visual Q&amp;A</a:t>
            </a:r>
            <a:endParaRPr b="0" i="0" sz="1500" u="none" cap="none" strike="noStrike">
              <a:solidFill>
                <a:schemeClr val="dk1"/>
              </a:solidFill>
              <a:latin typeface="Inter"/>
              <a:ea typeface="Inter"/>
              <a:cs typeface="Inter"/>
              <a:sym typeface="Inter"/>
            </a:endParaRPr>
          </a:p>
        </p:txBody>
      </p:sp>
      <p:sp>
        <p:nvSpPr>
          <p:cNvPr id="53" name="Google Shape;53;p2"/>
          <p:cNvSpPr/>
          <p:nvPr/>
        </p:nvSpPr>
        <p:spPr>
          <a:xfrm>
            <a:off x="6526574" y="2788816"/>
            <a:ext cx="330187" cy="330187"/>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54" name="Google Shape;54;p2"/>
          <p:cNvPicPr preferRelativeResize="0"/>
          <p:nvPr/>
        </p:nvPicPr>
        <p:blipFill rotWithShape="1">
          <a:blip r:embed="rId6">
            <a:alphaModFix/>
          </a:blip>
          <a:srcRect b="0" l="0" r="0" t="0"/>
          <a:stretch/>
        </p:blipFill>
        <p:spPr>
          <a:xfrm>
            <a:off x="6602747" y="2864989"/>
            <a:ext cx="177797" cy="177797"/>
          </a:xfrm>
          <a:prstGeom prst="rect">
            <a:avLst/>
          </a:prstGeom>
          <a:noFill/>
          <a:ln>
            <a:noFill/>
          </a:ln>
        </p:spPr>
      </p:pic>
      <p:sp>
        <p:nvSpPr>
          <p:cNvPr id="55" name="Google Shape;55;p2"/>
          <p:cNvSpPr/>
          <p:nvPr/>
        </p:nvSpPr>
        <p:spPr>
          <a:xfrm>
            <a:off x="6983747" y="2830072"/>
            <a:ext cx="4213401"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Spoken responses</a:t>
            </a:r>
            <a:endParaRPr b="0" i="0" sz="1500" u="none" cap="none" strike="noStrike">
              <a:solidFill>
                <a:schemeClr val="dk1"/>
              </a:solidFill>
              <a:latin typeface="Inter"/>
              <a:ea typeface="Inter"/>
              <a:cs typeface="Inter"/>
              <a:sym typeface="Inter"/>
            </a:endParaRPr>
          </a:p>
        </p:txBody>
      </p:sp>
      <p:sp>
        <p:nvSpPr>
          <p:cNvPr id="56" name="Google Shape;56;p2"/>
          <p:cNvSpPr/>
          <p:nvPr/>
        </p:nvSpPr>
        <p:spPr>
          <a:xfrm>
            <a:off x="6526574" y="3271394"/>
            <a:ext cx="330187" cy="330187"/>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57" name="Google Shape;57;p2"/>
          <p:cNvPicPr preferRelativeResize="0"/>
          <p:nvPr/>
        </p:nvPicPr>
        <p:blipFill rotWithShape="1">
          <a:blip r:embed="rId6">
            <a:alphaModFix/>
          </a:blip>
          <a:srcRect b="0" l="0" r="0" t="0"/>
          <a:stretch/>
        </p:blipFill>
        <p:spPr>
          <a:xfrm>
            <a:off x="6602747" y="3347566"/>
            <a:ext cx="177797" cy="177797"/>
          </a:xfrm>
          <a:prstGeom prst="rect">
            <a:avLst/>
          </a:prstGeom>
          <a:noFill/>
          <a:ln>
            <a:noFill/>
          </a:ln>
        </p:spPr>
      </p:pic>
      <p:sp>
        <p:nvSpPr>
          <p:cNvPr id="58" name="Google Shape;58;p2"/>
          <p:cNvSpPr/>
          <p:nvPr/>
        </p:nvSpPr>
        <p:spPr>
          <a:xfrm>
            <a:off x="6983747" y="3312651"/>
            <a:ext cx="4213401"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An explicit low-confidence behavior</a:t>
            </a:r>
            <a:endParaRPr b="0" i="0" sz="1500" u="none" cap="none" strike="noStrike">
              <a:solidFill>
                <a:schemeClr val="dk1"/>
              </a:solidFill>
              <a:latin typeface="Inter"/>
              <a:ea typeface="Inter"/>
              <a:cs typeface="Inter"/>
              <a:sym typeface="Inter"/>
            </a:endParaRPr>
          </a:p>
        </p:txBody>
      </p:sp>
      <p:sp>
        <p:nvSpPr>
          <p:cNvPr id="59" name="Google Shape;59;p2"/>
          <p:cNvSpPr/>
          <p:nvPr/>
        </p:nvSpPr>
        <p:spPr>
          <a:xfrm>
            <a:off x="6526574" y="3836529"/>
            <a:ext cx="330187" cy="330187"/>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60" name="Google Shape;60;p2"/>
          <p:cNvPicPr preferRelativeResize="0"/>
          <p:nvPr/>
        </p:nvPicPr>
        <p:blipFill rotWithShape="1">
          <a:blip r:embed="rId6">
            <a:alphaModFix/>
          </a:blip>
          <a:srcRect b="0" l="0" r="0" t="0"/>
          <a:stretch/>
        </p:blipFill>
        <p:spPr>
          <a:xfrm>
            <a:off x="6602747" y="3912702"/>
            <a:ext cx="177797" cy="177797"/>
          </a:xfrm>
          <a:prstGeom prst="rect">
            <a:avLst/>
          </a:prstGeom>
          <a:noFill/>
          <a:ln>
            <a:noFill/>
          </a:ln>
        </p:spPr>
      </p:pic>
      <p:sp>
        <p:nvSpPr>
          <p:cNvPr id="61" name="Google Shape;61;p2"/>
          <p:cNvSpPr/>
          <p:nvPr/>
        </p:nvSpPr>
        <p:spPr>
          <a:xfrm>
            <a:off x="6983747" y="3753972"/>
            <a:ext cx="4213401" cy="520749"/>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30-image test set: accuracy and cost of errors</a:t>
            </a:r>
            <a:endParaRPr b="0" i="0" sz="1500" u="none" cap="none" strike="noStrike">
              <a:solidFill>
                <a:schemeClr val="dk1"/>
              </a:solidFill>
              <a:latin typeface="Inter"/>
              <a:ea typeface="Inter"/>
              <a:cs typeface="Inter"/>
              <a:sym typeface="Inter"/>
            </a:endParaRPr>
          </a:p>
        </p:txBody>
      </p:sp>
      <p:sp>
        <p:nvSpPr>
          <p:cNvPr id="62" name="Google Shape;62;p2"/>
          <p:cNvSpPr/>
          <p:nvPr/>
        </p:nvSpPr>
        <p:spPr>
          <a:xfrm>
            <a:off x="6526574" y="4401711"/>
            <a:ext cx="330187" cy="330187"/>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63" name="Google Shape;63;p2"/>
          <p:cNvPicPr preferRelativeResize="0"/>
          <p:nvPr/>
        </p:nvPicPr>
        <p:blipFill rotWithShape="1">
          <a:blip r:embed="rId6">
            <a:alphaModFix/>
          </a:blip>
          <a:srcRect b="0" l="0" r="0" t="0"/>
          <a:stretch/>
        </p:blipFill>
        <p:spPr>
          <a:xfrm>
            <a:off x="6602747" y="4477883"/>
            <a:ext cx="177797" cy="177797"/>
          </a:xfrm>
          <a:prstGeom prst="rect">
            <a:avLst/>
          </a:prstGeom>
          <a:noFill/>
          <a:ln>
            <a:noFill/>
          </a:ln>
        </p:spPr>
      </p:pic>
      <p:sp>
        <p:nvSpPr>
          <p:cNvPr id="64" name="Google Shape;64;p2"/>
          <p:cNvSpPr/>
          <p:nvPr/>
        </p:nvSpPr>
        <p:spPr>
          <a:xfrm>
            <a:off x="6983747" y="4442968"/>
            <a:ext cx="4213401"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Ethics: when should an AI refuse?</a:t>
            </a:r>
            <a:endParaRPr b="0" i="0" sz="1500" u="none" cap="none" strike="noStrike">
              <a:solidFill>
                <a:schemeClr val="dk1"/>
              </a:solidFill>
              <a:latin typeface="Inter"/>
              <a:ea typeface="Inter"/>
              <a:cs typeface="Inter"/>
              <a:sym typeface="Inter"/>
            </a:endParaRPr>
          </a:p>
        </p:txBody>
      </p:sp>
      <p:sp>
        <p:nvSpPr>
          <p:cNvPr id="65" name="Google Shape;65;p2"/>
          <p:cNvSpPr/>
          <p:nvPr/>
        </p:nvSpPr>
        <p:spPr>
          <a:xfrm>
            <a:off x="812765" y="6238278"/>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66" name="Google Shape;66;p2"/>
          <p:cNvSpPr/>
          <p:nvPr/>
        </p:nvSpPr>
        <p:spPr>
          <a:xfrm>
            <a:off x="5613952" y="6238278"/>
            <a:ext cx="1953897"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[Member 2]</a:t>
            </a:r>
            <a:endParaRPr b="0" i="0" sz="1200" u="none" cap="none" strike="noStrike">
              <a:solidFill>
                <a:schemeClr val="dk1"/>
              </a:solidFill>
              <a:latin typeface="Inter"/>
              <a:ea typeface="Inter"/>
              <a:cs typeface="Inter"/>
              <a:sym typeface="Inter"/>
            </a:endParaRPr>
          </a:p>
        </p:txBody>
      </p:sp>
      <p:sp>
        <p:nvSpPr>
          <p:cNvPr id="67" name="Google Shape;67;p2"/>
          <p:cNvSpPr/>
          <p:nvPr/>
        </p:nvSpPr>
        <p:spPr>
          <a:xfrm>
            <a:off x="11235434" y="6238278"/>
            <a:ext cx="143774"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2</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 name="Shape 72"/>
        <p:cNvGrpSpPr/>
        <p:nvPr/>
      </p:nvGrpSpPr>
      <p:grpSpPr>
        <a:xfrm>
          <a:off x="0" y="0"/>
          <a:ext cx="0" cy="0"/>
          <a:chOff x="0" y="0"/>
          <a:chExt cx="0" cy="0"/>
        </a:xfrm>
      </p:grpSpPr>
      <p:sp>
        <p:nvSpPr>
          <p:cNvPr id="73" name="Google Shape;73;p3"/>
          <p:cNvSpPr txBox="1"/>
          <p:nvPr>
            <p:ph type="title"/>
          </p:nvPr>
        </p:nvSpPr>
        <p:spPr>
          <a:xfrm>
            <a:off x="812765" y="761998"/>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From the brief to five modules</a:t>
            </a:r>
            <a:endParaRPr sz="3600"/>
          </a:p>
        </p:txBody>
      </p:sp>
      <p:sp>
        <p:nvSpPr>
          <p:cNvPr id="74" name="Google Shape;74;p3"/>
          <p:cNvSpPr/>
          <p:nvPr/>
        </p:nvSpPr>
        <p:spPr>
          <a:xfrm>
            <a:off x="812765" y="1518879"/>
            <a:ext cx="10566443" cy="3719780"/>
          </a:xfrm>
          <a:prstGeom prst="roundRect">
            <a:avLst>
              <a:gd fmla="val 4097"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 name="Google Shape;75;p3"/>
          <p:cNvCxnSpPr/>
          <p:nvPr/>
        </p:nvCxnSpPr>
        <p:spPr>
          <a:xfrm>
            <a:off x="1066734" y="2034597"/>
            <a:ext cx="10058504" cy="0"/>
          </a:xfrm>
          <a:prstGeom prst="straightConnector1">
            <a:avLst/>
          </a:prstGeom>
          <a:noFill/>
          <a:ln cap="flat" cmpd="sng" w="12700">
            <a:solidFill>
              <a:srgbClr val="D5DBEC"/>
            </a:solidFill>
            <a:prstDash val="solid"/>
            <a:round/>
            <a:headEnd len="sm" w="sm" type="none"/>
            <a:tailEnd len="sm" w="sm" type="none"/>
          </a:ln>
        </p:spPr>
      </p:cxnSp>
      <p:sp>
        <p:nvSpPr>
          <p:cNvPr id="76" name="Google Shape;76;p3"/>
          <p:cNvSpPr/>
          <p:nvPr/>
        </p:nvSpPr>
        <p:spPr>
          <a:xfrm>
            <a:off x="1066734" y="1696631"/>
            <a:ext cx="4970738"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300"/>
              <a:buFont typeface="Inter"/>
              <a:buNone/>
            </a:pPr>
            <a:r>
              <a:rPr b="1" i="0" lang="en-US" sz="1300" u="none" cap="none" strike="noStrike">
                <a:solidFill>
                  <a:srgbClr val="4A5578"/>
                </a:solidFill>
                <a:latin typeface="Inter"/>
                <a:ea typeface="Inter"/>
                <a:cs typeface="Inter"/>
                <a:sym typeface="Inter"/>
              </a:rPr>
              <a:t>WHAT THE BRIEF ASKED</a:t>
            </a:r>
            <a:endParaRPr b="0" i="0" sz="1300" u="none" cap="none" strike="noStrike">
              <a:solidFill>
                <a:schemeClr val="dk1"/>
              </a:solidFill>
              <a:latin typeface="Inter"/>
              <a:ea typeface="Inter"/>
              <a:cs typeface="Inter"/>
              <a:sym typeface="Inter"/>
            </a:endParaRPr>
          </a:p>
        </p:txBody>
      </p:sp>
      <p:sp>
        <p:nvSpPr>
          <p:cNvPr id="77" name="Google Shape;77;p3"/>
          <p:cNvSpPr/>
          <p:nvPr/>
        </p:nvSpPr>
        <p:spPr>
          <a:xfrm>
            <a:off x="6095850" y="1696631"/>
            <a:ext cx="5029200" cy="256500"/>
          </a:xfrm>
          <a:prstGeom prst="rect">
            <a:avLst/>
          </a:prstGeom>
          <a:solidFill>
            <a:srgbClr val="FFFFFF"/>
          </a:solid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300" u="none" strike="noStrike">
                <a:solidFill>
                  <a:srgbClr val="4A5578"/>
                </a:solidFill>
                <a:latin typeface="Inter"/>
                <a:ea typeface="Inter"/>
                <a:cs typeface="Inter"/>
                <a:sym typeface="Inter"/>
              </a:rPr>
              <a:t>MODULE</a:t>
            </a:r>
            <a:endParaRPr b="1" i="0" sz="1300" u="none" strike="noStrike">
              <a:solidFill>
                <a:srgbClr val="4A5578"/>
              </a:solidFill>
              <a:latin typeface="Inter"/>
              <a:ea typeface="Inter"/>
              <a:cs typeface="Inter"/>
              <a:sym typeface="Inter"/>
            </a:endParaRPr>
          </a:p>
        </p:txBody>
      </p:sp>
      <p:cxnSp>
        <p:nvCxnSpPr>
          <p:cNvPr id="78" name="Google Shape;78;p3"/>
          <p:cNvCxnSpPr/>
          <p:nvPr/>
        </p:nvCxnSpPr>
        <p:spPr>
          <a:xfrm>
            <a:off x="1066734" y="2627680"/>
            <a:ext cx="10058504" cy="0"/>
          </a:xfrm>
          <a:prstGeom prst="straightConnector1">
            <a:avLst/>
          </a:prstGeom>
          <a:noFill/>
          <a:ln cap="flat" cmpd="sng" w="9525">
            <a:solidFill>
              <a:srgbClr val="D5DBEC"/>
            </a:solidFill>
            <a:prstDash val="solid"/>
            <a:round/>
            <a:headEnd len="sm" w="sm" type="none"/>
            <a:tailEnd len="sm" w="sm" type="none"/>
          </a:ln>
        </p:spPr>
      </p:cxnSp>
      <p:sp>
        <p:nvSpPr>
          <p:cNvPr id="79" name="Google Shape;79;p3"/>
          <p:cNvSpPr/>
          <p:nvPr/>
        </p:nvSpPr>
        <p:spPr>
          <a:xfrm>
            <a:off x="1066734" y="2209143"/>
            <a:ext cx="5029116"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Multi-turn visual Q&amp;A, frozen encoder plus connector</a:t>
            </a:r>
            <a:endParaRPr b="0" i="0" sz="1500" u="none" cap="none" strike="noStrike">
              <a:solidFill>
                <a:schemeClr val="dk1"/>
              </a:solidFill>
              <a:latin typeface="Inter"/>
              <a:ea typeface="Inter"/>
              <a:cs typeface="Inter"/>
              <a:sym typeface="Inter"/>
            </a:endParaRPr>
          </a:p>
        </p:txBody>
      </p:sp>
      <p:sp>
        <p:nvSpPr>
          <p:cNvPr id="80" name="Google Shape;80;p3"/>
          <p:cNvSpPr/>
          <p:nvPr/>
        </p:nvSpPr>
        <p:spPr>
          <a:xfrm>
            <a:off x="6095850" y="2155206"/>
            <a:ext cx="355593" cy="355593"/>
          </a:xfrm>
          <a:prstGeom prst="roundRect">
            <a:avLst>
              <a:gd fmla="val 50000" name="adj"/>
            </a:avLst>
          </a:prstGeom>
          <a:solidFill>
            <a:srgbClr val="2446C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Inter"/>
              <a:ea typeface="Inter"/>
              <a:cs typeface="Inter"/>
              <a:sym typeface="Inter"/>
            </a:endParaRPr>
          </a:p>
        </p:txBody>
      </p:sp>
      <p:sp>
        <p:nvSpPr>
          <p:cNvPr id="81" name="Google Shape;81;p3"/>
          <p:cNvSpPr/>
          <p:nvPr/>
        </p:nvSpPr>
        <p:spPr>
          <a:xfrm>
            <a:off x="6578428" y="2199608"/>
            <a:ext cx="4524300" cy="292500"/>
          </a:xfrm>
          <a:prstGeom prst="rect">
            <a:avLst/>
          </a:prstGeom>
          <a:solidFill>
            <a:srgbClr val="FFFFFF"/>
          </a:solid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500" u="none" strike="noStrike">
                <a:solidFill>
                  <a:srgbClr val="0E1A45"/>
                </a:solidFill>
                <a:latin typeface="Inter"/>
                <a:ea typeface="Inter"/>
                <a:cs typeface="Inter"/>
                <a:sym typeface="Inter"/>
              </a:rPr>
              <a:t>Vision-language core</a:t>
            </a:r>
            <a:endParaRPr b="1" i="0" sz="1500" u="none" strike="noStrike">
              <a:solidFill>
                <a:srgbClr val="0E1A45"/>
              </a:solidFill>
              <a:latin typeface="Inter"/>
              <a:ea typeface="Inter"/>
              <a:cs typeface="Inter"/>
              <a:sym typeface="Inter"/>
            </a:endParaRPr>
          </a:p>
        </p:txBody>
      </p:sp>
      <p:cxnSp>
        <p:nvCxnSpPr>
          <p:cNvPr id="82" name="Google Shape;82;p3"/>
          <p:cNvCxnSpPr/>
          <p:nvPr/>
        </p:nvCxnSpPr>
        <p:spPr>
          <a:xfrm>
            <a:off x="1066734" y="3395384"/>
            <a:ext cx="10058504" cy="0"/>
          </a:xfrm>
          <a:prstGeom prst="straightConnector1">
            <a:avLst/>
          </a:prstGeom>
          <a:noFill/>
          <a:ln cap="flat" cmpd="sng" w="9525">
            <a:solidFill>
              <a:srgbClr val="D5DBEC"/>
            </a:solidFill>
            <a:prstDash val="solid"/>
            <a:round/>
            <a:headEnd len="sm" w="sm" type="none"/>
            <a:tailEnd len="sm" w="sm" type="none"/>
          </a:ln>
        </p:spPr>
      </p:cxnSp>
      <p:sp>
        <p:nvSpPr>
          <p:cNvPr id="83" name="Google Shape;83;p3"/>
          <p:cNvSpPr/>
          <p:nvPr/>
        </p:nvSpPr>
        <p:spPr>
          <a:xfrm>
            <a:off x="1066734" y="2887949"/>
            <a:ext cx="4970738"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Low-confidence behavior, when to refuse</a:t>
            </a:r>
            <a:endParaRPr b="0" i="0" sz="1500" u="none" cap="none" strike="noStrike">
              <a:solidFill>
                <a:schemeClr val="dk1"/>
              </a:solidFill>
              <a:latin typeface="Inter"/>
              <a:ea typeface="Inter"/>
              <a:cs typeface="Inter"/>
              <a:sym typeface="Inter"/>
            </a:endParaRPr>
          </a:p>
        </p:txBody>
      </p:sp>
      <p:sp>
        <p:nvSpPr>
          <p:cNvPr id="84" name="Google Shape;84;p3"/>
          <p:cNvSpPr/>
          <p:nvPr/>
        </p:nvSpPr>
        <p:spPr>
          <a:xfrm>
            <a:off x="6095850" y="2834013"/>
            <a:ext cx="355593" cy="355593"/>
          </a:xfrm>
          <a:prstGeom prst="roundRect">
            <a:avLst>
              <a:gd fmla="val 50000" name="adj"/>
            </a:avLst>
          </a:prstGeom>
          <a:solidFill>
            <a:srgbClr val="F2A90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2</a:t>
            </a:r>
            <a:endParaRPr b="0" i="0" sz="1400" u="none" cap="none" strike="noStrike">
              <a:solidFill>
                <a:schemeClr val="dk1"/>
              </a:solidFill>
              <a:latin typeface="Inter"/>
              <a:ea typeface="Inter"/>
              <a:cs typeface="Inter"/>
              <a:sym typeface="Inter"/>
            </a:endParaRPr>
          </a:p>
        </p:txBody>
      </p:sp>
      <p:sp>
        <p:nvSpPr>
          <p:cNvPr id="85" name="Google Shape;85;p3"/>
          <p:cNvSpPr/>
          <p:nvPr/>
        </p:nvSpPr>
        <p:spPr>
          <a:xfrm>
            <a:off x="6578428" y="2866073"/>
            <a:ext cx="4524300" cy="292500"/>
          </a:xfrm>
          <a:prstGeom prst="rect">
            <a:avLst/>
          </a:prstGeom>
          <a:solidFill>
            <a:srgbClr val="FFFFFF"/>
          </a:solid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500" u="none" strike="noStrike">
                <a:solidFill>
                  <a:srgbClr val="0E1A45"/>
                </a:solidFill>
                <a:latin typeface="Inter"/>
                <a:ea typeface="Inter"/>
                <a:cs typeface="Inter"/>
                <a:sym typeface="Inter"/>
              </a:rPr>
              <a:t>Safety, ethics and confidence</a:t>
            </a:r>
            <a:endParaRPr b="1" i="0" sz="1500" u="none" strike="noStrike">
              <a:solidFill>
                <a:srgbClr val="0E1A45"/>
              </a:solidFill>
              <a:latin typeface="Inter"/>
              <a:ea typeface="Inter"/>
              <a:cs typeface="Inter"/>
              <a:sym typeface="Inter"/>
            </a:endParaRPr>
          </a:p>
        </p:txBody>
      </p:sp>
      <p:cxnSp>
        <p:nvCxnSpPr>
          <p:cNvPr id="86" name="Google Shape;86;p3"/>
          <p:cNvCxnSpPr/>
          <p:nvPr/>
        </p:nvCxnSpPr>
        <p:spPr>
          <a:xfrm>
            <a:off x="1066734" y="3985293"/>
            <a:ext cx="10058504" cy="0"/>
          </a:xfrm>
          <a:prstGeom prst="straightConnector1">
            <a:avLst/>
          </a:prstGeom>
          <a:noFill/>
          <a:ln cap="flat" cmpd="sng" w="9525">
            <a:solidFill>
              <a:srgbClr val="D5DBEC"/>
            </a:solidFill>
            <a:prstDash val="solid"/>
            <a:round/>
            <a:headEnd len="sm" w="sm" type="none"/>
            <a:tailEnd len="sm" w="sm" type="none"/>
          </a:ln>
        </p:spPr>
      </p:cxnSp>
      <p:sp>
        <p:nvSpPr>
          <p:cNvPr id="87" name="Google Shape;87;p3"/>
          <p:cNvSpPr/>
          <p:nvPr/>
        </p:nvSpPr>
        <p:spPr>
          <a:xfrm>
            <a:off x="1066734" y="3566756"/>
            <a:ext cx="4970738"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Upload or capture, spoken responses</a:t>
            </a:r>
            <a:endParaRPr b="0" i="0" sz="1500" u="none" cap="none" strike="noStrike">
              <a:solidFill>
                <a:schemeClr val="dk1"/>
              </a:solidFill>
              <a:latin typeface="Inter"/>
              <a:ea typeface="Inter"/>
              <a:cs typeface="Inter"/>
              <a:sym typeface="Inter"/>
            </a:endParaRPr>
          </a:p>
        </p:txBody>
      </p:sp>
      <p:sp>
        <p:nvSpPr>
          <p:cNvPr id="88" name="Google Shape;88;p3"/>
          <p:cNvSpPr/>
          <p:nvPr/>
        </p:nvSpPr>
        <p:spPr>
          <a:xfrm>
            <a:off x="6095850" y="3512818"/>
            <a:ext cx="355593" cy="355593"/>
          </a:xfrm>
          <a:prstGeom prst="roundRect">
            <a:avLst>
              <a:gd fmla="val 50000" name="adj"/>
            </a:avLst>
          </a:prstGeom>
          <a:solidFill>
            <a:srgbClr val="0B6A33"/>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Inter"/>
              <a:ea typeface="Inter"/>
              <a:cs typeface="Inter"/>
              <a:sym typeface="Inter"/>
            </a:endParaRPr>
          </a:p>
        </p:txBody>
      </p:sp>
      <p:sp>
        <p:nvSpPr>
          <p:cNvPr id="89" name="Google Shape;89;p3"/>
          <p:cNvSpPr/>
          <p:nvPr/>
        </p:nvSpPr>
        <p:spPr>
          <a:xfrm>
            <a:off x="6578428" y="3557588"/>
            <a:ext cx="4524300" cy="292500"/>
          </a:xfrm>
          <a:prstGeom prst="rect">
            <a:avLst/>
          </a:prstGeom>
          <a:solidFill>
            <a:srgbClr val="FFFFFF"/>
          </a:solid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500" u="none" strike="noStrike">
                <a:solidFill>
                  <a:srgbClr val="0E1A45"/>
                </a:solidFill>
                <a:latin typeface="Inter"/>
                <a:ea typeface="Inter"/>
                <a:cs typeface="Inter"/>
                <a:sym typeface="Inter"/>
              </a:rPr>
              <a:t>Accessible interface</a:t>
            </a:r>
            <a:endParaRPr b="1" i="0" sz="1500" u="none" strike="noStrike">
              <a:solidFill>
                <a:srgbClr val="0E1A45"/>
              </a:solidFill>
              <a:latin typeface="Inter"/>
              <a:ea typeface="Inter"/>
              <a:cs typeface="Inter"/>
              <a:sym typeface="Inter"/>
            </a:endParaRPr>
          </a:p>
        </p:txBody>
      </p:sp>
      <p:cxnSp>
        <p:nvCxnSpPr>
          <p:cNvPr id="90" name="Google Shape;90;p3"/>
          <p:cNvCxnSpPr/>
          <p:nvPr/>
        </p:nvCxnSpPr>
        <p:spPr>
          <a:xfrm>
            <a:off x="1066734" y="4575201"/>
            <a:ext cx="10058504" cy="0"/>
          </a:xfrm>
          <a:prstGeom prst="straightConnector1">
            <a:avLst/>
          </a:prstGeom>
          <a:noFill/>
          <a:ln cap="flat" cmpd="sng" w="9525">
            <a:solidFill>
              <a:srgbClr val="D5DBEC"/>
            </a:solidFill>
            <a:prstDash val="solid"/>
            <a:round/>
            <a:headEnd len="sm" w="sm" type="none"/>
            <a:tailEnd len="sm" w="sm" type="none"/>
          </a:ln>
        </p:spPr>
      </p:cxnSp>
      <p:sp>
        <p:nvSpPr>
          <p:cNvPr id="91" name="Google Shape;91;p3"/>
          <p:cNvSpPr/>
          <p:nvPr/>
        </p:nvSpPr>
        <p:spPr>
          <a:xfrm>
            <a:off x="1066734" y="4156663"/>
            <a:ext cx="4970738"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Runs locally, without failures</a:t>
            </a:r>
            <a:endParaRPr b="0" i="0" sz="1500" u="none" cap="none" strike="noStrike">
              <a:solidFill>
                <a:schemeClr val="dk1"/>
              </a:solidFill>
              <a:latin typeface="Inter"/>
              <a:ea typeface="Inter"/>
              <a:cs typeface="Inter"/>
              <a:sym typeface="Inter"/>
            </a:endParaRPr>
          </a:p>
        </p:txBody>
      </p:sp>
      <p:sp>
        <p:nvSpPr>
          <p:cNvPr id="92" name="Google Shape;92;p3"/>
          <p:cNvSpPr/>
          <p:nvPr/>
        </p:nvSpPr>
        <p:spPr>
          <a:xfrm>
            <a:off x="6095850" y="4102726"/>
            <a:ext cx="355593" cy="355593"/>
          </a:xfrm>
          <a:prstGeom prst="roundRect">
            <a:avLst>
              <a:gd fmla="val 50000" name="adj"/>
            </a:avLst>
          </a:prstGeom>
          <a:solidFill>
            <a:srgbClr val="0E1A45"/>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4</a:t>
            </a:r>
            <a:endParaRPr b="0" i="0" sz="1400" u="none" cap="none" strike="noStrike">
              <a:solidFill>
                <a:schemeClr val="dk1"/>
              </a:solidFill>
              <a:latin typeface="Inter"/>
              <a:ea typeface="Inter"/>
              <a:cs typeface="Inter"/>
              <a:sym typeface="Inter"/>
            </a:endParaRPr>
          </a:p>
        </p:txBody>
      </p:sp>
      <p:sp>
        <p:nvSpPr>
          <p:cNvPr id="93" name="Google Shape;93;p3"/>
          <p:cNvSpPr/>
          <p:nvPr/>
        </p:nvSpPr>
        <p:spPr>
          <a:xfrm>
            <a:off x="6578428" y="4147185"/>
            <a:ext cx="4524300" cy="292500"/>
          </a:xfrm>
          <a:prstGeom prst="rect">
            <a:avLst/>
          </a:prstGeom>
          <a:solidFill>
            <a:srgbClr val="FFFFFF"/>
          </a:solid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500" u="none" strike="noStrike">
                <a:solidFill>
                  <a:srgbClr val="0E1A45"/>
                </a:solidFill>
                <a:latin typeface="Inter"/>
                <a:ea typeface="Inter"/>
                <a:cs typeface="Inter"/>
                <a:sym typeface="Inter"/>
              </a:rPr>
              <a:t>Platform and performance</a:t>
            </a:r>
            <a:endParaRPr b="1" i="0" sz="1500" u="none" strike="noStrike">
              <a:solidFill>
                <a:srgbClr val="0E1A45"/>
              </a:solidFill>
              <a:latin typeface="Inter"/>
              <a:ea typeface="Inter"/>
              <a:cs typeface="Inter"/>
              <a:sym typeface="Inter"/>
            </a:endParaRPr>
          </a:p>
        </p:txBody>
      </p:sp>
      <p:sp>
        <p:nvSpPr>
          <p:cNvPr id="94" name="Google Shape;94;p3"/>
          <p:cNvSpPr/>
          <p:nvPr/>
        </p:nvSpPr>
        <p:spPr>
          <a:xfrm>
            <a:off x="1066734" y="4746571"/>
            <a:ext cx="4970738" cy="273074"/>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30-image test, accuracy and cost of errors</a:t>
            </a:r>
            <a:endParaRPr b="0" i="0" sz="1500" u="none" cap="none" strike="noStrike">
              <a:solidFill>
                <a:schemeClr val="dk1"/>
              </a:solidFill>
              <a:latin typeface="Inter"/>
              <a:ea typeface="Inter"/>
              <a:cs typeface="Inter"/>
              <a:sym typeface="Inter"/>
            </a:endParaRPr>
          </a:p>
        </p:txBody>
      </p:sp>
      <p:sp>
        <p:nvSpPr>
          <p:cNvPr id="95" name="Google Shape;95;p3"/>
          <p:cNvSpPr/>
          <p:nvPr/>
        </p:nvSpPr>
        <p:spPr>
          <a:xfrm>
            <a:off x="6095850" y="4692634"/>
            <a:ext cx="355593" cy="355593"/>
          </a:xfrm>
          <a:prstGeom prst="roundRect">
            <a:avLst>
              <a:gd fmla="val 50000" name="adj"/>
            </a:avLst>
          </a:prstGeom>
          <a:solidFill>
            <a:srgbClr val="4A5A8A"/>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5</a:t>
            </a:r>
            <a:endParaRPr b="0" i="0" sz="1400" u="none" cap="none" strike="noStrike">
              <a:solidFill>
                <a:schemeClr val="dk1"/>
              </a:solidFill>
              <a:latin typeface="Inter"/>
              <a:ea typeface="Inter"/>
              <a:cs typeface="Inter"/>
              <a:sym typeface="Inter"/>
            </a:endParaRPr>
          </a:p>
        </p:txBody>
      </p:sp>
      <p:sp>
        <p:nvSpPr>
          <p:cNvPr id="96" name="Google Shape;96;p3"/>
          <p:cNvSpPr/>
          <p:nvPr/>
        </p:nvSpPr>
        <p:spPr>
          <a:xfrm>
            <a:off x="6578428" y="4736783"/>
            <a:ext cx="4524300" cy="292500"/>
          </a:xfrm>
          <a:prstGeom prst="rect">
            <a:avLst/>
          </a:prstGeom>
          <a:solidFill>
            <a:srgbClr val="FFFFFF"/>
          </a:solid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None/>
            </a:pPr>
            <a:r>
              <a:rPr b="1" i="0" lang="en-US" sz="1500" u="none" strike="noStrike">
                <a:solidFill>
                  <a:srgbClr val="0E1A45"/>
                </a:solidFill>
                <a:latin typeface="Inter"/>
                <a:ea typeface="Inter"/>
                <a:cs typeface="Inter"/>
                <a:sym typeface="Inter"/>
              </a:rPr>
              <a:t>Evaluation and data</a:t>
            </a:r>
            <a:endParaRPr b="1" i="0" sz="1500" u="none" strike="noStrike">
              <a:solidFill>
                <a:srgbClr val="0E1A45"/>
              </a:solidFill>
              <a:latin typeface="Inter"/>
              <a:ea typeface="Inter"/>
              <a:cs typeface="Inter"/>
              <a:sym typeface="Inter"/>
            </a:endParaRPr>
          </a:p>
        </p:txBody>
      </p:sp>
      <p:sp>
        <p:nvSpPr>
          <p:cNvPr id="97" name="Google Shape;97;p3"/>
          <p:cNvSpPr/>
          <p:nvPr/>
        </p:nvSpPr>
        <p:spPr>
          <a:xfrm>
            <a:off x="812765" y="5492629"/>
            <a:ext cx="10883436" cy="345443"/>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446C8"/>
              </a:buClr>
              <a:buSzPts val="1800"/>
              <a:buFont typeface="Caladea"/>
              <a:buNone/>
            </a:pPr>
            <a:r>
              <a:rPr b="0" i="1" lang="en-US" sz="1800" u="none" cap="none" strike="noStrike">
                <a:solidFill>
                  <a:srgbClr val="2446C8"/>
                </a:solidFill>
                <a:latin typeface="Caladea"/>
                <a:ea typeface="Caladea"/>
                <a:cs typeface="Caladea"/>
                <a:sym typeface="Caladea"/>
              </a:rPr>
              <a:t>“The model proposes, our code decides.”</a:t>
            </a:r>
            <a:endParaRPr b="0" i="0" sz="1800" u="none" cap="none" strike="noStrike">
              <a:solidFill>
                <a:schemeClr val="dk1"/>
              </a:solidFill>
              <a:latin typeface="Inter"/>
              <a:ea typeface="Inter"/>
              <a:cs typeface="Inter"/>
              <a:sym typeface="Inter"/>
            </a:endParaRPr>
          </a:p>
        </p:txBody>
      </p:sp>
      <p:sp>
        <p:nvSpPr>
          <p:cNvPr id="98" name="Google Shape;98;p3"/>
          <p:cNvSpPr/>
          <p:nvPr/>
        </p:nvSpPr>
        <p:spPr>
          <a:xfrm>
            <a:off x="812765" y="6238278"/>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99" name="Google Shape;99;p3"/>
          <p:cNvSpPr/>
          <p:nvPr/>
        </p:nvSpPr>
        <p:spPr>
          <a:xfrm>
            <a:off x="5610601" y="6238278"/>
            <a:ext cx="1960472"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[Member 4]</a:t>
            </a:r>
            <a:endParaRPr b="0" i="0" sz="1200" u="none" cap="none" strike="noStrike">
              <a:solidFill>
                <a:schemeClr val="dk1"/>
              </a:solidFill>
              <a:latin typeface="Inter"/>
              <a:ea typeface="Inter"/>
              <a:cs typeface="Inter"/>
              <a:sym typeface="Inter"/>
            </a:endParaRPr>
          </a:p>
        </p:txBody>
      </p:sp>
      <p:sp>
        <p:nvSpPr>
          <p:cNvPr id="100" name="Google Shape;100;p3"/>
          <p:cNvSpPr/>
          <p:nvPr/>
        </p:nvSpPr>
        <p:spPr>
          <a:xfrm>
            <a:off x="11234256" y="6238278"/>
            <a:ext cx="144952"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3</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4"/>
          <p:cNvSpPr txBox="1"/>
          <p:nvPr>
            <p:ph type="title"/>
          </p:nvPr>
        </p:nvSpPr>
        <p:spPr>
          <a:xfrm>
            <a:off x="812765" y="761998"/>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Architecture: the model proposes, code decides</a:t>
            </a:r>
            <a:endParaRPr sz="3600"/>
          </a:p>
        </p:txBody>
      </p:sp>
      <p:sp>
        <p:nvSpPr>
          <p:cNvPr id="107" name="Google Shape;107;p4"/>
          <p:cNvSpPr/>
          <p:nvPr/>
        </p:nvSpPr>
        <p:spPr>
          <a:xfrm>
            <a:off x="812765" y="1620503"/>
            <a:ext cx="1623854" cy="2110598"/>
          </a:xfrm>
          <a:prstGeom prst="roundRect">
            <a:avLst>
              <a:gd fmla="val 9385"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939750" y="1798300"/>
            <a:ext cx="406360" cy="406360"/>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109" name="Google Shape;109;p4"/>
          <p:cNvPicPr preferRelativeResize="0"/>
          <p:nvPr/>
        </p:nvPicPr>
        <p:blipFill rotWithShape="1">
          <a:blip r:embed="rId3">
            <a:alphaModFix/>
          </a:blip>
          <a:srcRect b="0" l="0" r="0" t="0"/>
          <a:stretch/>
        </p:blipFill>
        <p:spPr>
          <a:xfrm>
            <a:off x="1034988" y="1893539"/>
            <a:ext cx="215883" cy="215883"/>
          </a:xfrm>
          <a:prstGeom prst="rect">
            <a:avLst/>
          </a:prstGeom>
          <a:noFill/>
          <a:ln>
            <a:noFill/>
          </a:ln>
        </p:spPr>
      </p:pic>
      <p:sp>
        <p:nvSpPr>
          <p:cNvPr id="110" name="Google Shape;110;p4"/>
          <p:cNvSpPr/>
          <p:nvPr/>
        </p:nvSpPr>
        <p:spPr>
          <a:xfrm>
            <a:off x="939750" y="2293558"/>
            <a:ext cx="1420685"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Module 3</a:t>
            </a:r>
            <a:endParaRPr b="0" i="0" sz="1200" u="none" cap="none" strike="noStrike">
              <a:solidFill>
                <a:schemeClr val="dk1"/>
              </a:solidFill>
              <a:latin typeface="Inter"/>
              <a:ea typeface="Inter"/>
              <a:cs typeface="Inter"/>
              <a:sym typeface="Inter"/>
            </a:endParaRPr>
          </a:p>
        </p:txBody>
      </p:sp>
      <p:sp>
        <p:nvSpPr>
          <p:cNvPr id="111" name="Google Shape;111;p4"/>
          <p:cNvSpPr/>
          <p:nvPr/>
        </p:nvSpPr>
        <p:spPr>
          <a:xfrm>
            <a:off x="939750" y="2595803"/>
            <a:ext cx="1420685" cy="25400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500"/>
              <a:buFont typeface="Inter"/>
              <a:buNone/>
            </a:pPr>
            <a:r>
              <a:rPr b="1" i="0" lang="en-US" sz="1500" u="none" cap="none" strike="noStrike">
                <a:solidFill>
                  <a:srgbClr val="0E1A45"/>
                </a:solidFill>
                <a:latin typeface="Inter"/>
                <a:ea typeface="Inter"/>
                <a:cs typeface="Inter"/>
                <a:sym typeface="Inter"/>
              </a:rPr>
              <a:t>Photo</a:t>
            </a:r>
            <a:endParaRPr b="0" i="0" sz="1500" u="none" cap="none" strike="noStrike">
              <a:solidFill>
                <a:schemeClr val="dk1"/>
              </a:solidFill>
              <a:latin typeface="Inter"/>
              <a:ea typeface="Inter"/>
              <a:cs typeface="Inter"/>
              <a:sym typeface="Inter"/>
            </a:endParaRPr>
          </a:p>
        </p:txBody>
      </p:sp>
      <p:sp>
        <p:nvSpPr>
          <p:cNvPr id="112" name="Google Shape;112;p4"/>
          <p:cNvSpPr/>
          <p:nvPr/>
        </p:nvSpPr>
        <p:spPr>
          <a:xfrm>
            <a:off x="939750" y="2913311"/>
            <a:ext cx="1420685" cy="436787"/>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200"/>
              <a:buFont typeface="Inter"/>
              <a:buNone/>
            </a:pPr>
            <a:r>
              <a:rPr b="0" i="0" lang="en-US" sz="1200" u="none" cap="none" strike="noStrike">
                <a:solidFill>
                  <a:srgbClr val="2B3556"/>
                </a:solidFill>
                <a:latin typeface="Inter"/>
                <a:ea typeface="Inter"/>
                <a:cs typeface="Inter"/>
                <a:sym typeface="Inter"/>
              </a:rPr>
              <a:t>Camera, upload, paste</a:t>
            </a:r>
            <a:endParaRPr b="0" i="0" sz="1200" u="none" cap="none" strike="noStrike">
              <a:solidFill>
                <a:schemeClr val="dk1"/>
              </a:solidFill>
              <a:latin typeface="Inter"/>
              <a:ea typeface="Inter"/>
              <a:cs typeface="Inter"/>
              <a:sym typeface="Inter"/>
            </a:endParaRPr>
          </a:p>
        </p:txBody>
      </p:sp>
      <p:pic>
        <p:nvPicPr>
          <p:cNvPr descr="arrow-right" id="113" name="Google Shape;113;p4"/>
          <p:cNvPicPr preferRelativeResize="0"/>
          <p:nvPr/>
        </p:nvPicPr>
        <p:blipFill rotWithShape="1">
          <a:blip r:embed="rId4">
            <a:alphaModFix/>
          </a:blip>
          <a:srcRect b="-3" l="0" r="0" t="-3"/>
          <a:stretch/>
        </p:blipFill>
        <p:spPr>
          <a:xfrm>
            <a:off x="2512792" y="2599607"/>
            <a:ext cx="253969" cy="152391"/>
          </a:xfrm>
          <a:prstGeom prst="rect">
            <a:avLst/>
          </a:prstGeom>
          <a:noFill/>
          <a:ln>
            <a:noFill/>
          </a:ln>
        </p:spPr>
      </p:pic>
      <p:sp>
        <p:nvSpPr>
          <p:cNvPr id="114" name="Google Shape;114;p4"/>
          <p:cNvSpPr/>
          <p:nvPr/>
        </p:nvSpPr>
        <p:spPr>
          <a:xfrm>
            <a:off x="2842934" y="1620503"/>
            <a:ext cx="1623854" cy="2110598"/>
          </a:xfrm>
          <a:prstGeom prst="roundRect">
            <a:avLst>
              <a:gd fmla="val 9385"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2969919" y="1798300"/>
            <a:ext cx="406360" cy="406360"/>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116" name="Google Shape;116;p4"/>
          <p:cNvPicPr preferRelativeResize="0"/>
          <p:nvPr/>
        </p:nvPicPr>
        <p:blipFill rotWithShape="1">
          <a:blip r:embed="rId5">
            <a:alphaModFix/>
          </a:blip>
          <a:srcRect b="0" l="0" r="0" t="0"/>
          <a:stretch/>
        </p:blipFill>
        <p:spPr>
          <a:xfrm>
            <a:off x="3065157" y="1893539"/>
            <a:ext cx="215883" cy="215883"/>
          </a:xfrm>
          <a:prstGeom prst="rect">
            <a:avLst/>
          </a:prstGeom>
          <a:noFill/>
          <a:ln>
            <a:noFill/>
          </a:ln>
        </p:spPr>
      </p:pic>
      <p:sp>
        <p:nvSpPr>
          <p:cNvPr id="117" name="Google Shape;117;p4"/>
          <p:cNvSpPr/>
          <p:nvPr/>
        </p:nvSpPr>
        <p:spPr>
          <a:xfrm>
            <a:off x="2969919" y="2293558"/>
            <a:ext cx="1420685"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Module 4</a:t>
            </a:r>
            <a:endParaRPr b="0" i="0" sz="1200" u="none" cap="none" strike="noStrike">
              <a:solidFill>
                <a:schemeClr val="dk1"/>
              </a:solidFill>
              <a:latin typeface="Inter"/>
              <a:ea typeface="Inter"/>
              <a:cs typeface="Inter"/>
              <a:sym typeface="Inter"/>
            </a:endParaRPr>
          </a:p>
        </p:txBody>
      </p:sp>
      <p:sp>
        <p:nvSpPr>
          <p:cNvPr id="118" name="Google Shape;118;p4"/>
          <p:cNvSpPr/>
          <p:nvPr/>
        </p:nvSpPr>
        <p:spPr>
          <a:xfrm>
            <a:off x="2969919" y="2595803"/>
            <a:ext cx="1420685" cy="25400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500"/>
              <a:buFont typeface="Inter"/>
              <a:buNone/>
            </a:pPr>
            <a:r>
              <a:rPr b="1" i="0" lang="en-US" sz="1500" u="none" cap="none" strike="noStrike">
                <a:solidFill>
                  <a:srgbClr val="0E1A45"/>
                </a:solidFill>
                <a:latin typeface="Inter"/>
                <a:ea typeface="Inter"/>
                <a:cs typeface="Inter"/>
                <a:sym typeface="Inter"/>
              </a:rPr>
              <a:t>Quality check</a:t>
            </a:r>
            <a:endParaRPr b="0" i="0" sz="1500" u="none" cap="none" strike="noStrike">
              <a:solidFill>
                <a:schemeClr val="dk1"/>
              </a:solidFill>
              <a:latin typeface="Inter"/>
              <a:ea typeface="Inter"/>
              <a:cs typeface="Inter"/>
              <a:sym typeface="Inter"/>
            </a:endParaRPr>
          </a:p>
        </p:txBody>
      </p:sp>
      <p:sp>
        <p:nvSpPr>
          <p:cNvPr id="119" name="Google Shape;119;p4"/>
          <p:cNvSpPr/>
          <p:nvPr/>
        </p:nvSpPr>
        <p:spPr>
          <a:xfrm>
            <a:off x="2969919" y="2913311"/>
            <a:ext cx="1420685" cy="436787"/>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200"/>
              <a:buFont typeface="Inter"/>
              <a:buNone/>
            </a:pPr>
            <a:r>
              <a:rPr b="0" i="0" lang="en-US" sz="1200" u="none" cap="none" strike="noStrike">
                <a:solidFill>
                  <a:srgbClr val="2B3556"/>
                </a:solidFill>
                <a:latin typeface="Inter"/>
                <a:ea typeface="Inter"/>
                <a:cs typeface="Inter"/>
                <a:sym typeface="Inter"/>
              </a:rPr>
              <a:t>OpenCV blur and brightness</a:t>
            </a:r>
            <a:endParaRPr b="0" i="0" sz="1200" u="none" cap="none" strike="noStrike">
              <a:solidFill>
                <a:schemeClr val="dk1"/>
              </a:solidFill>
              <a:latin typeface="Inter"/>
              <a:ea typeface="Inter"/>
              <a:cs typeface="Inter"/>
              <a:sym typeface="Inter"/>
            </a:endParaRPr>
          </a:p>
        </p:txBody>
      </p:sp>
      <p:pic>
        <p:nvPicPr>
          <p:cNvPr descr="arrow-right" id="120" name="Google Shape;120;p4"/>
          <p:cNvPicPr preferRelativeResize="0"/>
          <p:nvPr/>
        </p:nvPicPr>
        <p:blipFill rotWithShape="1">
          <a:blip r:embed="rId4">
            <a:alphaModFix/>
          </a:blip>
          <a:srcRect b="-3" l="0" r="0" t="-3"/>
          <a:stretch/>
        </p:blipFill>
        <p:spPr>
          <a:xfrm>
            <a:off x="4542961" y="2599607"/>
            <a:ext cx="253969" cy="152391"/>
          </a:xfrm>
          <a:prstGeom prst="rect">
            <a:avLst/>
          </a:prstGeom>
          <a:noFill/>
          <a:ln>
            <a:noFill/>
          </a:ln>
        </p:spPr>
      </p:pic>
      <p:sp>
        <p:nvSpPr>
          <p:cNvPr id="121" name="Google Shape;121;p4"/>
          <p:cNvSpPr/>
          <p:nvPr/>
        </p:nvSpPr>
        <p:spPr>
          <a:xfrm>
            <a:off x="4873103" y="1620503"/>
            <a:ext cx="2034788" cy="2110598"/>
          </a:xfrm>
          <a:prstGeom prst="roundRect">
            <a:avLst>
              <a:gd fmla="val 7490" name="adj"/>
            </a:avLst>
          </a:prstGeom>
          <a:solidFill>
            <a:srgbClr val="2446C8"/>
          </a:solidFill>
          <a:ln>
            <a:noFill/>
          </a:ln>
          <a:effectLst>
            <a:outerShdw blurRad="203200" rotWithShape="0" algn="bl" dir="5400000" dist="76200">
              <a:srgbClr val="2446C8">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5000087" y="1798300"/>
            <a:ext cx="406360" cy="40636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123" name="Google Shape;123;p4"/>
          <p:cNvPicPr preferRelativeResize="0"/>
          <p:nvPr/>
        </p:nvPicPr>
        <p:blipFill rotWithShape="1">
          <a:blip r:embed="rId6">
            <a:alphaModFix/>
          </a:blip>
          <a:srcRect b="0" l="0" r="0" t="0"/>
          <a:stretch/>
        </p:blipFill>
        <p:spPr>
          <a:xfrm>
            <a:off x="5095326" y="1893539"/>
            <a:ext cx="215883" cy="215883"/>
          </a:xfrm>
          <a:prstGeom prst="rect">
            <a:avLst/>
          </a:prstGeom>
          <a:noFill/>
          <a:ln>
            <a:noFill/>
          </a:ln>
        </p:spPr>
      </p:pic>
      <p:sp>
        <p:nvSpPr>
          <p:cNvPr id="124" name="Google Shape;124;p4"/>
          <p:cNvSpPr/>
          <p:nvPr/>
        </p:nvSpPr>
        <p:spPr>
          <a:xfrm>
            <a:off x="5000087" y="2293558"/>
            <a:ext cx="1834243"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6DDF7"/>
              </a:buClr>
              <a:buSzPts val="1200"/>
              <a:buFont typeface="Inter"/>
              <a:buNone/>
            </a:pPr>
            <a:r>
              <a:rPr b="1" i="0" lang="en-US" sz="1200" u="none" cap="none" strike="noStrike">
                <a:solidFill>
                  <a:srgbClr val="D6DDF7"/>
                </a:solidFill>
                <a:latin typeface="Inter"/>
                <a:ea typeface="Inter"/>
                <a:cs typeface="Inter"/>
                <a:sym typeface="Inter"/>
              </a:rPr>
              <a:t>Module 1</a:t>
            </a:r>
            <a:endParaRPr b="0" i="0" sz="1200" u="none" cap="none" strike="noStrike">
              <a:solidFill>
                <a:schemeClr val="dk1"/>
              </a:solidFill>
              <a:latin typeface="Inter"/>
              <a:ea typeface="Inter"/>
              <a:cs typeface="Inter"/>
              <a:sym typeface="Inter"/>
            </a:endParaRPr>
          </a:p>
        </p:txBody>
      </p:sp>
      <p:sp>
        <p:nvSpPr>
          <p:cNvPr id="125" name="Google Shape;125;p4"/>
          <p:cNvSpPr/>
          <p:nvPr/>
        </p:nvSpPr>
        <p:spPr>
          <a:xfrm>
            <a:off x="5000087" y="2595803"/>
            <a:ext cx="1834243" cy="48261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Vision-language model</a:t>
            </a:r>
            <a:endParaRPr b="0" i="0" sz="1500" u="none" cap="none" strike="noStrike">
              <a:solidFill>
                <a:schemeClr val="dk1"/>
              </a:solidFill>
              <a:latin typeface="Inter"/>
              <a:ea typeface="Inter"/>
              <a:cs typeface="Inter"/>
              <a:sym typeface="Inter"/>
            </a:endParaRPr>
          </a:p>
        </p:txBody>
      </p:sp>
      <p:sp>
        <p:nvSpPr>
          <p:cNvPr id="126" name="Google Shape;126;p4"/>
          <p:cNvSpPr/>
          <p:nvPr/>
        </p:nvSpPr>
        <p:spPr>
          <a:xfrm>
            <a:off x="5000087" y="3141918"/>
            <a:ext cx="1834243" cy="436787"/>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Qwen2.5-VL 3B via Ollama</a:t>
            </a:r>
            <a:endParaRPr b="0" i="0" sz="1200" u="none" cap="none" strike="noStrike">
              <a:solidFill>
                <a:schemeClr val="dk1"/>
              </a:solidFill>
              <a:latin typeface="Inter"/>
              <a:ea typeface="Inter"/>
              <a:cs typeface="Inter"/>
              <a:sym typeface="Inter"/>
            </a:endParaRPr>
          </a:p>
        </p:txBody>
      </p:sp>
      <p:pic>
        <p:nvPicPr>
          <p:cNvPr descr="arrow-right" id="127" name="Google Shape;127;p4"/>
          <p:cNvPicPr preferRelativeResize="0"/>
          <p:nvPr/>
        </p:nvPicPr>
        <p:blipFill rotWithShape="1">
          <a:blip r:embed="rId4">
            <a:alphaModFix/>
          </a:blip>
          <a:srcRect b="-3" l="0" r="0" t="-3"/>
          <a:stretch/>
        </p:blipFill>
        <p:spPr>
          <a:xfrm>
            <a:off x="6984064" y="2599607"/>
            <a:ext cx="253969" cy="152391"/>
          </a:xfrm>
          <a:prstGeom prst="rect">
            <a:avLst/>
          </a:prstGeom>
          <a:noFill/>
          <a:ln>
            <a:noFill/>
          </a:ln>
        </p:spPr>
      </p:pic>
      <p:sp>
        <p:nvSpPr>
          <p:cNvPr id="128" name="Google Shape;128;p4"/>
          <p:cNvSpPr/>
          <p:nvPr/>
        </p:nvSpPr>
        <p:spPr>
          <a:xfrm>
            <a:off x="7314205" y="1620503"/>
            <a:ext cx="2034833" cy="2110598"/>
          </a:xfrm>
          <a:prstGeom prst="roundRect">
            <a:avLst>
              <a:gd fmla="val 7490" name="adj"/>
            </a:avLst>
          </a:prstGeom>
          <a:solidFill>
            <a:srgbClr val="F2A900"/>
          </a:solidFill>
          <a:ln>
            <a:noFill/>
          </a:ln>
          <a:effectLst>
            <a:outerShdw blurRad="203200" rotWithShape="0" algn="bl" dir="5400000" dist="76200">
              <a:srgbClr val="F2A9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7441190" y="1798300"/>
            <a:ext cx="406360" cy="406360"/>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rust" id="130" name="Google Shape;130;p4"/>
          <p:cNvPicPr preferRelativeResize="0"/>
          <p:nvPr/>
        </p:nvPicPr>
        <p:blipFill rotWithShape="1">
          <a:blip r:embed="rId7">
            <a:alphaModFix/>
          </a:blip>
          <a:srcRect b="0" l="0" r="0" t="0"/>
          <a:stretch/>
        </p:blipFill>
        <p:spPr>
          <a:xfrm>
            <a:off x="7536428" y="1893539"/>
            <a:ext cx="215883" cy="215883"/>
          </a:xfrm>
          <a:prstGeom prst="rect">
            <a:avLst/>
          </a:prstGeom>
          <a:noFill/>
          <a:ln>
            <a:noFill/>
          </a:ln>
        </p:spPr>
      </p:pic>
      <p:sp>
        <p:nvSpPr>
          <p:cNvPr id="131" name="Google Shape;131;p4"/>
          <p:cNvSpPr/>
          <p:nvPr/>
        </p:nvSpPr>
        <p:spPr>
          <a:xfrm>
            <a:off x="7441190" y="2293558"/>
            <a:ext cx="1834290"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A2A00"/>
              </a:buClr>
              <a:buSzPts val="1200"/>
              <a:buFont typeface="Inter"/>
              <a:buNone/>
            </a:pPr>
            <a:r>
              <a:rPr b="1" i="0" lang="en-US" sz="1200" u="none" cap="none" strike="noStrike">
                <a:solidFill>
                  <a:srgbClr val="3A2A00"/>
                </a:solidFill>
                <a:latin typeface="Inter"/>
                <a:ea typeface="Inter"/>
                <a:cs typeface="Inter"/>
                <a:sym typeface="Inter"/>
              </a:rPr>
              <a:t>Module 2</a:t>
            </a:r>
            <a:endParaRPr b="0" i="0" sz="1200" u="none" cap="none" strike="noStrike">
              <a:solidFill>
                <a:schemeClr val="dk1"/>
              </a:solidFill>
              <a:latin typeface="Inter"/>
              <a:ea typeface="Inter"/>
              <a:cs typeface="Inter"/>
              <a:sym typeface="Inter"/>
            </a:endParaRPr>
          </a:p>
        </p:txBody>
      </p:sp>
      <p:sp>
        <p:nvSpPr>
          <p:cNvPr id="132" name="Google Shape;132;p4"/>
          <p:cNvSpPr/>
          <p:nvPr/>
        </p:nvSpPr>
        <p:spPr>
          <a:xfrm>
            <a:off x="7441190" y="2595803"/>
            <a:ext cx="1834290" cy="25400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500"/>
              <a:buFont typeface="Inter"/>
              <a:buNone/>
            </a:pPr>
            <a:r>
              <a:rPr b="1" i="0" lang="en-US" sz="1500" u="none" cap="none" strike="noStrike">
                <a:solidFill>
                  <a:srgbClr val="0E1A45"/>
                </a:solidFill>
                <a:latin typeface="Inter"/>
                <a:ea typeface="Inter"/>
                <a:cs typeface="Inter"/>
                <a:sym typeface="Inter"/>
              </a:rPr>
              <a:t>Safety rules</a:t>
            </a:r>
            <a:endParaRPr b="0" i="0" sz="1500" u="none" cap="none" strike="noStrike">
              <a:solidFill>
                <a:schemeClr val="dk1"/>
              </a:solidFill>
              <a:latin typeface="Inter"/>
              <a:ea typeface="Inter"/>
              <a:cs typeface="Inter"/>
              <a:sym typeface="Inter"/>
            </a:endParaRPr>
          </a:p>
        </p:txBody>
      </p:sp>
      <p:sp>
        <p:nvSpPr>
          <p:cNvPr id="133" name="Google Shape;133;p4"/>
          <p:cNvSpPr/>
          <p:nvPr/>
        </p:nvSpPr>
        <p:spPr>
          <a:xfrm>
            <a:off x="7441190" y="2913311"/>
            <a:ext cx="1834290" cy="436787"/>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E1A45"/>
              </a:buClr>
              <a:buSzPts val="1200"/>
              <a:buFont typeface="Inter"/>
              <a:buNone/>
            </a:pPr>
            <a:r>
              <a:rPr b="0" i="0" lang="en-US" sz="1200" u="none" cap="none" strike="noStrike">
                <a:solidFill>
                  <a:srgbClr val="0E1A45"/>
                </a:solidFill>
                <a:latin typeface="Inter"/>
                <a:ea typeface="Inter"/>
                <a:cs typeface="Inter"/>
                <a:sym typeface="Inter"/>
              </a:rPr>
              <a:t>Plain code that refuses, hedges, flags</a:t>
            </a:r>
            <a:endParaRPr b="0" i="0" sz="1200" u="none" cap="none" strike="noStrike">
              <a:solidFill>
                <a:schemeClr val="dk1"/>
              </a:solidFill>
              <a:latin typeface="Inter"/>
              <a:ea typeface="Inter"/>
              <a:cs typeface="Inter"/>
              <a:sym typeface="Inter"/>
            </a:endParaRPr>
          </a:p>
        </p:txBody>
      </p:sp>
      <p:pic>
        <p:nvPicPr>
          <p:cNvPr descr="arrow-right" id="134" name="Google Shape;134;p4"/>
          <p:cNvPicPr preferRelativeResize="0"/>
          <p:nvPr/>
        </p:nvPicPr>
        <p:blipFill rotWithShape="1">
          <a:blip r:embed="rId4">
            <a:alphaModFix/>
          </a:blip>
          <a:srcRect b="-3" l="0" r="0" t="-3"/>
          <a:stretch/>
        </p:blipFill>
        <p:spPr>
          <a:xfrm>
            <a:off x="9425212" y="2599607"/>
            <a:ext cx="253969" cy="152391"/>
          </a:xfrm>
          <a:prstGeom prst="rect">
            <a:avLst/>
          </a:prstGeom>
          <a:noFill/>
          <a:ln>
            <a:noFill/>
          </a:ln>
        </p:spPr>
      </p:pic>
      <p:sp>
        <p:nvSpPr>
          <p:cNvPr id="135" name="Google Shape;135;p4"/>
          <p:cNvSpPr/>
          <p:nvPr/>
        </p:nvSpPr>
        <p:spPr>
          <a:xfrm>
            <a:off x="9755353" y="1620503"/>
            <a:ext cx="1623854" cy="2110598"/>
          </a:xfrm>
          <a:prstGeom prst="roundRect">
            <a:avLst>
              <a:gd fmla="val 9385"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9882338" y="1798300"/>
            <a:ext cx="406360" cy="406360"/>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137" name="Google Shape;137;p4"/>
          <p:cNvPicPr preferRelativeResize="0"/>
          <p:nvPr/>
        </p:nvPicPr>
        <p:blipFill rotWithShape="1">
          <a:blip r:embed="rId8">
            <a:alphaModFix/>
          </a:blip>
          <a:srcRect b="0" l="0" r="0" t="0"/>
          <a:stretch/>
        </p:blipFill>
        <p:spPr>
          <a:xfrm>
            <a:off x="9977576" y="1893539"/>
            <a:ext cx="215883" cy="215883"/>
          </a:xfrm>
          <a:prstGeom prst="rect">
            <a:avLst/>
          </a:prstGeom>
          <a:noFill/>
          <a:ln>
            <a:noFill/>
          </a:ln>
        </p:spPr>
      </p:pic>
      <p:sp>
        <p:nvSpPr>
          <p:cNvPr id="138" name="Google Shape;138;p4"/>
          <p:cNvSpPr/>
          <p:nvPr/>
        </p:nvSpPr>
        <p:spPr>
          <a:xfrm>
            <a:off x="9882338" y="2293558"/>
            <a:ext cx="1420685"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Module 3</a:t>
            </a:r>
            <a:endParaRPr b="0" i="0" sz="1200" u="none" cap="none" strike="noStrike">
              <a:solidFill>
                <a:schemeClr val="dk1"/>
              </a:solidFill>
              <a:latin typeface="Inter"/>
              <a:ea typeface="Inter"/>
              <a:cs typeface="Inter"/>
              <a:sym typeface="Inter"/>
            </a:endParaRPr>
          </a:p>
        </p:txBody>
      </p:sp>
      <p:sp>
        <p:nvSpPr>
          <p:cNvPr id="139" name="Google Shape;139;p4"/>
          <p:cNvSpPr/>
          <p:nvPr/>
        </p:nvSpPr>
        <p:spPr>
          <a:xfrm>
            <a:off x="9882338" y="2595803"/>
            <a:ext cx="1420685" cy="25400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500"/>
              <a:buFont typeface="Inter"/>
              <a:buNone/>
            </a:pPr>
            <a:r>
              <a:rPr b="1" i="0" lang="en-US" sz="1500" u="none" cap="none" strike="noStrike">
                <a:solidFill>
                  <a:srgbClr val="0E1A45"/>
                </a:solidFill>
                <a:latin typeface="Inter"/>
                <a:ea typeface="Inter"/>
                <a:cs typeface="Inter"/>
                <a:sym typeface="Inter"/>
              </a:rPr>
              <a:t>Answer</a:t>
            </a:r>
            <a:endParaRPr b="0" i="0" sz="1500" u="none" cap="none" strike="noStrike">
              <a:solidFill>
                <a:schemeClr val="dk1"/>
              </a:solidFill>
              <a:latin typeface="Inter"/>
              <a:ea typeface="Inter"/>
              <a:cs typeface="Inter"/>
              <a:sym typeface="Inter"/>
            </a:endParaRPr>
          </a:p>
        </p:txBody>
      </p:sp>
      <p:sp>
        <p:nvSpPr>
          <p:cNvPr id="140" name="Google Shape;140;p4"/>
          <p:cNvSpPr/>
          <p:nvPr/>
        </p:nvSpPr>
        <p:spPr>
          <a:xfrm>
            <a:off x="9882338" y="2913311"/>
            <a:ext cx="1420685" cy="436787"/>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200"/>
              <a:buFont typeface="Inter"/>
              <a:buNone/>
            </a:pPr>
            <a:r>
              <a:rPr b="0" i="0" lang="en-US" sz="1200" u="none" cap="none" strike="noStrike">
                <a:solidFill>
                  <a:srgbClr val="2B3556"/>
                </a:solidFill>
                <a:latin typeface="Inter"/>
                <a:ea typeface="Inter"/>
                <a:cs typeface="Inter"/>
                <a:sym typeface="Inter"/>
              </a:rPr>
              <a:t>Sentence, confidence, voice</a:t>
            </a:r>
            <a:endParaRPr b="0" i="0" sz="1200" u="none" cap="none" strike="noStrike">
              <a:solidFill>
                <a:schemeClr val="dk1"/>
              </a:solidFill>
              <a:latin typeface="Inter"/>
              <a:ea typeface="Inter"/>
              <a:cs typeface="Inter"/>
              <a:sym typeface="Inter"/>
            </a:endParaRPr>
          </a:p>
        </p:txBody>
      </p:sp>
      <p:sp>
        <p:nvSpPr>
          <p:cNvPr id="141" name="Google Shape;141;p4"/>
          <p:cNvSpPr/>
          <p:nvPr/>
        </p:nvSpPr>
        <p:spPr>
          <a:xfrm>
            <a:off x="812765" y="4086695"/>
            <a:ext cx="10566443" cy="533299"/>
          </a:xfrm>
          <a:prstGeom prst="roundRect">
            <a:avLst>
              <a:gd fmla="val 19051"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990562" y="4200954"/>
            <a:ext cx="304781" cy="304781"/>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143" name="Google Shape;143;p4"/>
          <p:cNvPicPr preferRelativeResize="0"/>
          <p:nvPr/>
        </p:nvPicPr>
        <p:blipFill rotWithShape="1">
          <a:blip r:embed="rId9">
            <a:alphaModFix/>
          </a:blip>
          <a:srcRect b="0" l="0" r="0" t="0"/>
          <a:stretch/>
        </p:blipFill>
        <p:spPr>
          <a:xfrm>
            <a:off x="1060394" y="4270786"/>
            <a:ext cx="165071" cy="165071"/>
          </a:xfrm>
          <a:prstGeom prst="rect">
            <a:avLst/>
          </a:prstGeom>
          <a:noFill/>
          <a:ln>
            <a:noFill/>
          </a:ln>
        </p:spPr>
      </p:pic>
      <p:sp>
        <p:nvSpPr>
          <p:cNvPr id="144" name="Google Shape;144;p4"/>
          <p:cNvSpPr/>
          <p:nvPr/>
        </p:nvSpPr>
        <p:spPr>
          <a:xfrm>
            <a:off x="1422327" y="4241893"/>
            <a:ext cx="10072456" cy="24830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300"/>
              <a:buFont typeface="Inter"/>
              <a:buNone/>
            </a:pPr>
            <a:r>
              <a:rPr b="1" i="0" lang="en-US" sz="1300" u="none" cap="none" strike="noStrike">
                <a:solidFill>
                  <a:srgbClr val="2B3556"/>
                </a:solidFill>
                <a:latin typeface="Inter"/>
                <a:ea typeface="Inter"/>
                <a:cs typeface="Inter"/>
                <a:sym typeface="Inter"/>
              </a:rPr>
              <a:t>Module 4:</a:t>
            </a:r>
            <a:r>
              <a:rPr b="0" i="0" lang="en-US" sz="1300" u="none" cap="none" strike="noStrike">
                <a:solidFill>
                  <a:srgbClr val="2B3556"/>
                </a:solidFill>
                <a:latin typeface="Inter"/>
                <a:ea typeface="Inter"/>
                <a:cs typeface="Inter"/>
                <a:sym typeface="Inter"/>
              </a:rPr>
              <a:t> FastAPI server and browser page. Sessions in memory only. One question at a time.</a:t>
            </a:r>
            <a:endParaRPr b="0" i="0" sz="1300" u="none" cap="none" strike="noStrike">
              <a:solidFill>
                <a:schemeClr val="dk1"/>
              </a:solidFill>
              <a:latin typeface="Inter"/>
              <a:ea typeface="Inter"/>
              <a:cs typeface="Inter"/>
              <a:sym typeface="Inter"/>
            </a:endParaRPr>
          </a:p>
        </p:txBody>
      </p:sp>
      <p:sp>
        <p:nvSpPr>
          <p:cNvPr id="145" name="Google Shape;145;p4"/>
          <p:cNvSpPr/>
          <p:nvPr/>
        </p:nvSpPr>
        <p:spPr>
          <a:xfrm>
            <a:off x="812765" y="4721572"/>
            <a:ext cx="10566443" cy="533299"/>
          </a:xfrm>
          <a:prstGeom prst="roundRect">
            <a:avLst>
              <a:gd fmla="val 19051" name="adj"/>
            </a:avLst>
          </a:prstGeom>
          <a:solidFill>
            <a:srgbClr val="F4F6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990562" y="4835832"/>
            <a:ext cx="304781" cy="304781"/>
          </a:xfrm>
          <a:prstGeom prst="roundRect">
            <a:avLst>
              <a:gd fmla="val 50000" name="adj"/>
            </a:avLst>
          </a:prstGeom>
          <a:solidFill>
            <a:srgbClr val="4A5A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147" name="Google Shape;147;p4"/>
          <p:cNvPicPr preferRelativeResize="0"/>
          <p:nvPr/>
        </p:nvPicPr>
        <p:blipFill rotWithShape="1">
          <a:blip r:embed="rId10">
            <a:alphaModFix/>
          </a:blip>
          <a:srcRect b="0" l="0" r="0" t="0"/>
          <a:stretch/>
        </p:blipFill>
        <p:spPr>
          <a:xfrm>
            <a:off x="1060394" y="4905665"/>
            <a:ext cx="165071" cy="165071"/>
          </a:xfrm>
          <a:prstGeom prst="rect">
            <a:avLst/>
          </a:prstGeom>
          <a:noFill/>
          <a:ln>
            <a:noFill/>
          </a:ln>
        </p:spPr>
      </p:pic>
      <p:sp>
        <p:nvSpPr>
          <p:cNvPr id="148" name="Google Shape;148;p4"/>
          <p:cNvSpPr/>
          <p:nvPr/>
        </p:nvSpPr>
        <p:spPr>
          <a:xfrm>
            <a:off x="1422327" y="4876771"/>
            <a:ext cx="10072456" cy="24830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300"/>
              <a:buFont typeface="Inter"/>
              <a:buNone/>
            </a:pPr>
            <a:r>
              <a:rPr b="1" i="0" lang="en-US" sz="1300" u="none" cap="none" strike="noStrike">
                <a:solidFill>
                  <a:srgbClr val="2B3556"/>
                </a:solidFill>
                <a:latin typeface="Inter"/>
                <a:ea typeface="Inter"/>
                <a:cs typeface="Inter"/>
                <a:sym typeface="Inter"/>
              </a:rPr>
              <a:t>Module 5:</a:t>
            </a:r>
            <a:r>
              <a:rPr b="0" i="0" lang="en-US" sz="1300" u="none" cap="none" strike="noStrike">
                <a:solidFill>
                  <a:srgbClr val="2B3556"/>
                </a:solidFill>
                <a:latin typeface="Inter"/>
                <a:ea typeface="Inter"/>
                <a:cs typeface="Inter"/>
                <a:sym typeface="Inter"/>
              </a:rPr>
              <a:t> runs the same pipeline over a frozen test set and scores it.</a:t>
            </a:r>
            <a:endParaRPr b="0" i="0" sz="1300" u="none" cap="none" strike="noStrike">
              <a:solidFill>
                <a:schemeClr val="dk1"/>
              </a:solidFill>
              <a:latin typeface="Inter"/>
              <a:ea typeface="Inter"/>
              <a:cs typeface="Inter"/>
              <a:sym typeface="Inter"/>
            </a:endParaRPr>
          </a:p>
        </p:txBody>
      </p:sp>
      <p:sp>
        <p:nvSpPr>
          <p:cNvPr id="149" name="Google Shape;149;p4"/>
          <p:cNvSpPr/>
          <p:nvPr/>
        </p:nvSpPr>
        <p:spPr>
          <a:xfrm>
            <a:off x="812765" y="6238280"/>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150" name="Google Shape;150;p4"/>
          <p:cNvSpPr/>
          <p:nvPr/>
        </p:nvSpPr>
        <p:spPr>
          <a:xfrm>
            <a:off x="5707334" y="6238280"/>
            <a:ext cx="1723151"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Goutham</a:t>
            </a:r>
            <a:endParaRPr b="0" i="0" sz="1200" u="none" cap="none" strike="noStrike">
              <a:solidFill>
                <a:schemeClr val="dk1"/>
              </a:solidFill>
              <a:latin typeface="Inter"/>
              <a:ea typeface="Inter"/>
              <a:cs typeface="Inter"/>
              <a:sym typeface="Inter"/>
            </a:endParaRPr>
          </a:p>
        </p:txBody>
      </p:sp>
      <p:sp>
        <p:nvSpPr>
          <p:cNvPr id="151" name="Google Shape;151;p4"/>
          <p:cNvSpPr/>
          <p:nvPr/>
        </p:nvSpPr>
        <p:spPr>
          <a:xfrm>
            <a:off x="11229954" y="6238280"/>
            <a:ext cx="149254"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4</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sp>
        <p:nvSpPr>
          <p:cNvPr id="157" name="Google Shape;157;p5"/>
          <p:cNvSpPr txBox="1"/>
          <p:nvPr>
            <p:ph type="title"/>
          </p:nvPr>
        </p:nvSpPr>
        <p:spPr>
          <a:xfrm>
            <a:off x="812765" y="762000"/>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Module 1: the vision-language core</a:t>
            </a:r>
            <a:endParaRPr sz="3600"/>
          </a:p>
        </p:txBody>
      </p:sp>
      <p:sp>
        <p:nvSpPr>
          <p:cNvPr id="158" name="Google Shape;158;p5"/>
          <p:cNvSpPr/>
          <p:nvPr/>
        </p:nvSpPr>
        <p:spPr>
          <a:xfrm>
            <a:off x="890235" y="1569690"/>
            <a:ext cx="6225215" cy="2025725"/>
          </a:xfrm>
          <a:prstGeom prst="rect">
            <a:avLst/>
          </a:prstGeom>
          <a:noFill/>
          <a:ln>
            <a:noFill/>
          </a:ln>
        </p:spPr>
        <p:txBody>
          <a:bodyPr anchorCtr="0" anchor="t" bIns="0" lIns="0" spcFirstLastPara="1" rIns="0" wrap="square" tIns="0">
            <a:normAutofit/>
          </a:bodyPr>
          <a:lstStyle/>
          <a:p>
            <a:pPr indent="-176530" lvl="0" marL="176530" marR="0" rtl="0" algn="l">
              <a:lnSpc>
                <a:spcPct val="150000"/>
              </a:lnSpc>
              <a:spcBef>
                <a:spcPts val="0"/>
              </a:spcBef>
              <a:spcAft>
                <a:spcPts val="0"/>
              </a:spcAft>
              <a:buClr>
                <a:srgbClr val="2B3556"/>
              </a:buClr>
              <a:buSzPts val="1500"/>
              <a:buFont typeface="Inter"/>
              <a:buChar char="•"/>
            </a:pPr>
            <a:r>
              <a:rPr b="0" i="0" lang="en-US" sz="1500" u="none" cap="none" strike="noStrike">
                <a:solidFill>
                  <a:srgbClr val="2B3556"/>
                </a:solidFill>
                <a:latin typeface="Inter"/>
                <a:ea typeface="Inter"/>
                <a:cs typeface="Inter"/>
                <a:sym typeface="Inter"/>
              </a:rPr>
              <a:t>Qwen2.5-VL 3B runs locally through Ollama, about 3 GB</a:t>
            </a:r>
            <a:endParaRPr b="0" i="0" sz="1500" u="none" cap="none" strike="noStrike">
              <a:solidFill>
                <a:schemeClr val="dk1"/>
              </a:solidFill>
              <a:latin typeface="Inter"/>
              <a:ea typeface="Inter"/>
              <a:cs typeface="Inter"/>
              <a:sym typeface="Inter"/>
            </a:endParaRPr>
          </a:p>
          <a:p>
            <a:pPr indent="-176530" lvl="0" marL="176530" marR="0" rtl="0" algn="l">
              <a:lnSpc>
                <a:spcPct val="150000"/>
              </a:lnSpc>
              <a:spcBef>
                <a:spcPts val="0"/>
              </a:spcBef>
              <a:spcAft>
                <a:spcPts val="0"/>
              </a:spcAft>
              <a:buClr>
                <a:srgbClr val="2B3556"/>
              </a:buClr>
              <a:buSzPts val="1500"/>
              <a:buFont typeface="Inter"/>
              <a:buChar char="•"/>
            </a:pPr>
            <a:r>
              <a:rPr b="0" i="0" lang="en-US" sz="1500" u="none" cap="none" strike="noStrike">
                <a:solidFill>
                  <a:srgbClr val="2B3556"/>
                </a:solidFill>
                <a:latin typeface="Inter"/>
                <a:ea typeface="Inter"/>
                <a:cs typeface="Inter"/>
                <a:sym typeface="Inter"/>
              </a:rPr>
              <a:t>The photo goes in once; follow-ups reuse it, so a second answer takes seconds</a:t>
            </a:r>
            <a:endParaRPr b="0" i="0" sz="1500" u="none" cap="none" strike="noStrike">
              <a:solidFill>
                <a:schemeClr val="dk1"/>
              </a:solidFill>
              <a:latin typeface="Inter"/>
              <a:ea typeface="Inter"/>
              <a:cs typeface="Inter"/>
              <a:sym typeface="Inter"/>
            </a:endParaRPr>
          </a:p>
          <a:p>
            <a:pPr indent="-176530" lvl="0" marL="176530" marR="0" rtl="0" algn="l">
              <a:lnSpc>
                <a:spcPct val="150000"/>
              </a:lnSpc>
              <a:spcBef>
                <a:spcPts val="0"/>
              </a:spcBef>
              <a:spcAft>
                <a:spcPts val="0"/>
              </a:spcAft>
              <a:buClr>
                <a:srgbClr val="2B3556"/>
              </a:buClr>
              <a:buSzPts val="1500"/>
              <a:buFont typeface="Inter"/>
              <a:buChar char="•"/>
            </a:pPr>
            <a:r>
              <a:rPr b="0" i="0" lang="en-US" sz="1500" u="none" cap="none" strike="noStrike">
                <a:solidFill>
                  <a:srgbClr val="2B3556"/>
                </a:solidFill>
                <a:latin typeface="Inter"/>
                <a:ea typeface="Inter"/>
                <a:cs typeface="Inter"/>
                <a:sym typeface="Inter"/>
              </a:rPr>
              <a:t>Answers are forced into a JSON shape: answer, confidence, category, reason, retake flag</a:t>
            </a:r>
            <a:endParaRPr b="0" i="0" sz="1500" u="none" cap="none" strike="noStrike">
              <a:solidFill>
                <a:schemeClr val="dk1"/>
              </a:solidFill>
              <a:latin typeface="Inter"/>
              <a:ea typeface="Inter"/>
              <a:cs typeface="Inter"/>
              <a:sym typeface="Inter"/>
            </a:endParaRPr>
          </a:p>
          <a:p>
            <a:pPr indent="-176530" lvl="0" marL="176530" marR="0" rtl="0" algn="l">
              <a:lnSpc>
                <a:spcPct val="150000"/>
              </a:lnSpc>
              <a:spcBef>
                <a:spcPts val="0"/>
              </a:spcBef>
              <a:spcAft>
                <a:spcPts val="0"/>
              </a:spcAft>
              <a:buClr>
                <a:srgbClr val="2B3556"/>
              </a:buClr>
              <a:buSzPts val="1500"/>
              <a:buFont typeface="Inter"/>
              <a:buChar char="•"/>
            </a:pPr>
            <a:r>
              <a:rPr b="0" i="0" lang="en-US" sz="1500" u="none" cap="none" strike="noStrike">
                <a:solidFill>
                  <a:srgbClr val="2B3556"/>
                </a:solidFill>
                <a:latin typeface="Inter"/>
                <a:ea typeface="Inter"/>
                <a:cs typeface="Inter"/>
                <a:sym typeface="Inter"/>
              </a:rPr>
              <a:t>The prompt asks for full spoken sentences and only what is readable</a:t>
            </a:r>
            <a:endParaRPr b="0" i="0" sz="1500" u="none" cap="none" strike="noStrike">
              <a:solidFill>
                <a:schemeClr val="dk1"/>
              </a:solidFill>
              <a:latin typeface="Inter"/>
              <a:ea typeface="Inter"/>
              <a:cs typeface="Inter"/>
              <a:sym typeface="Inter"/>
            </a:endParaRPr>
          </a:p>
        </p:txBody>
      </p:sp>
      <p:sp>
        <p:nvSpPr>
          <p:cNvPr id="159" name="Google Shape;159;p5"/>
          <p:cNvSpPr/>
          <p:nvPr/>
        </p:nvSpPr>
        <p:spPr>
          <a:xfrm>
            <a:off x="812765" y="5062358"/>
            <a:ext cx="1771263" cy="779660"/>
          </a:xfrm>
          <a:prstGeom prst="roundRect">
            <a:avLst>
              <a:gd fmla="val 16289"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911658" y="5202024"/>
            <a:ext cx="1573432" cy="274297"/>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Vision encoder</a:t>
            </a:r>
            <a:endParaRPr b="0" i="0" sz="1400" u="none" cap="none" strike="noStrike">
              <a:solidFill>
                <a:schemeClr val="dk1"/>
              </a:solidFill>
              <a:latin typeface="Inter"/>
              <a:ea typeface="Inter"/>
              <a:cs typeface="Inter"/>
              <a:sym typeface="Inter"/>
            </a:endParaRPr>
          </a:p>
        </p:txBody>
      </p:sp>
      <p:sp>
        <p:nvSpPr>
          <p:cNvPr id="161" name="Google Shape;161;p5"/>
          <p:cNvSpPr/>
          <p:nvPr/>
        </p:nvSpPr>
        <p:spPr>
          <a:xfrm>
            <a:off x="1421625" y="5489004"/>
            <a:ext cx="553497" cy="238747"/>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C9D3F5"/>
              </a:buClr>
              <a:buSzPts val="1200"/>
              <a:buFont typeface="Inter"/>
              <a:buNone/>
            </a:pPr>
            <a:r>
              <a:rPr b="0" i="0" lang="en-US" sz="1200" u="none" cap="none" strike="noStrike">
                <a:solidFill>
                  <a:srgbClr val="C9D3F5"/>
                </a:solidFill>
                <a:latin typeface="Inter"/>
                <a:ea typeface="Inter"/>
                <a:cs typeface="Inter"/>
                <a:sym typeface="Inter"/>
              </a:rPr>
              <a:t>frozen</a:t>
            </a:r>
            <a:endParaRPr b="0" i="0" sz="1200" u="none" cap="none" strike="noStrike">
              <a:solidFill>
                <a:schemeClr val="dk1"/>
              </a:solidFill>
              <a:latin typeface="Inter"/>
              <a:ea typeface="Inter"/>
              <a:cs typeface="Inter"/>
              <a:sym typeface="Inter"/>
            </a:endParaRPr>
          </a:p>
        </p:txBody>
      </p:sp>
      <p:pic>
        <p:nvPicPr>
          <p:cNvPr descr="arrow-right" id="162" name="Google Shape;162;p5"/>
          <p:cNvPicPr preferRelativeResize="0"/>
          <p:nvPr/>
        </p:nvPicPr>
        <p:blipFill rotWithShape="1">
          <a:blip r:embed="rId3">
            <a:alphaModFix/>
          </a:blip>
          <a:srcRect b="-3" l="0" r="0" t="-3"/>
          <a:stretch/>
        </p:blipFill>
        <p:spPr>
          <a:xfrm>
            <a:off x="2660201" y="5375970"/>
            <a:ext cx="253969" cy="152391"/>
          </a:xfrm>
          <a:prstGeom prst="rect">
            <a:avLst/>
          </a:prstGeom>
          <a:noFill/>
          <a:ln>
            <a:noFill/>
          </a:ln>
        </p:spPr>
      </p:pic>
      <p:sp>
        <p:nvSpPr>
          <p:cNvPr id="163" name="Google Shape;163;p5"/>
          <p:cNvSpPr/>
          <p:nvPr/>
        </p:nvSpPr>
        <p:spPr>
          <a:xfrm>
            <a:off x="2990343" y="5062358"/>
            <a:ext cx="1771309" cy="779660"/>
          </a:xfrm>
          <a:prstGeom prst="roundRect">
            <a:avLst>
              <a:gd fmla="val 16289"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3325629" y="5202024"/>
            <a:ext cx="1100690" cy="274297"/>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Connector</a:t>
            </a:r>
            <a:endParaRPr b="0" i="0" sz="1400" u="none" cap="none" strike="noStrike">
              <a:solidFill>
                <a:schemeClr val="dk1"/>
              </a:solidFill>
              <a:latin typeface="Inter"/>
              <a:ea typeface="Inter"/>
              <a:cs typeface="Inter"/>
              <a:sym typeface="Inter"/>
            </a:endParaRPr>
          </a:p>
        </p:txBody>
      </p:sp>
      <p:sp>
        <p:nvSpPr>
          <p:cNvPr id="165" name="Google Shape;165;p5"/>
          <p:cNvSpPr/>
          <p:nvPr/>
        </p:nvSpPr>
        <p:spPr>
          <a:xfrm>
            <a:off x="3182541" y="5489004"/>
            <a:ext cx="1386868" cy="238747"/>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D6DDF7"/>
              </a:buClr>
              <a:buSzPts val="1200"/>
              <a:buFont typeface="Inter"/>
              <a:buNone/>
            </a:pPr>
            <a:r>
              <a:rPr b="0" i="0" lang="en-US" sz="1200" u="none" cap="none" strike="noStrike">
                <a:solidFill>
                  <a:srgbClr val="D6DDF7"/>
                </a:solidFill>
                <a:latin typeface="Inter"/>
                <a:ea typeface="Inter"/>
                <a:cs typeface="Inter"/>
                <a:sym typeface="Inter"/>
              </a:rPr>
              <a:t>image → tokens</a:t>
            </a:r>
            <a:endParaRPr b="0" i="0" sz="1200" u="none" cap="none" strike="noStrike">
              <a:solidFill>
                <a:schemeClr val="dk1"/>
              </a:solidFill>
              <a:latin typeface="Inter"/>
              <a:ea typeface="Inter"/>
              <a:cs typeface="Inter"/>
              <a:sym typeface="Inter"/>
            </a:endParaRPr>
          </a:p>
        </p:txBody>
      </p:sp>
      <p:pic>
        <p:nvPicPr>
          <p:cNvPr descr="arrow-right" id="166" name="Google Shape;166;p5"/>
          <p:cNvPicPr preferRelativeResize="0"/>
          <p:nvPr/>
        </p:nvPicPr>
        <p:blipFill rotWithShape="1">
          <a:blip r:embed="rId3">
            <a:alphaModFix/>
          </a:blip>
          <a:srcRect b="-3" l="0" r="0" t="-3"/>
          <a:stretch/>
        </p:blipFill>
        <p:spPr>
          <a:xfrm>
            <a:off x="4837824" y="5375970"/>
            <a:ext cx="253969" cy="152391"/>
          </a:xfrm>
          <a:prstGeom prst="rect">
            <a:avLst/>
          </a:prstGeom>
          <a:noFill/>
          <a:ln>
            <a:noFill/>
          </a:ln>
        </p:spPr>
      </p:pic>
      <p:sp>
        <p:nvSpPr>
          <p:cNvPr id="167" name="Google Shape;167;p5"/>
          <p:cNvSpPr/>
          <p:nvPr/>
        </p:nvSpPr>
        <p:spPr>
          <a:xfrm>
            <a:off x="5167966" y="5062358"/>
            <a:ext cx="1771309" cy="779660"/>
          </a:xfrm>
          <a:prstGeom prst="roundRect">
            <a:avLst>
              <a:gd fmla="val 16289" name="adj"/>
            </a:avLst>
          </a:prstGeom>
          <a:solidFill>
            <a:srgbClr val="E4E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5190555" y="5202024"/>
            <a:ext cx="1726085" cy="274297"/>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Language model</a:t>
            </a:r>
            <a:endParaRPr b="0" i="0" sz="1400" u="none" cap="none" strike="noStrike">
              <a:solidFill>
                <a:schemeClr val="dk1"/>
              </a:solidFill>
              <a:latin typeface="Inter"/>
              <a:ea typeface="Inter"/>
              <a:cs typeface="Inter"/>
              <a:sym typeface="Inter"/>
            </a:endParaRPr>
          </a:p>
        </p:txBody>
      </p:sp>
      <p:sp>
        <p:nvSpPr>
          <p:cNvPr id="169" name="Google Shape;169;p5"/>
          <p:cNvSpPr/>
          <p:nvPr/>
        </p:nvSpPr>
        <p:spPr>
          <a:xfrm>
            <a:off x="5287447" y="5489004"/>
            <a:ext cx="1532348" cy="238747"/>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2B3556"/>
              </a:buClr>
              <a:buSzPts val="1200"/>
              <a:buFont typeface="Inter"/>
              <a:buNone/>
            </a:pPr>
            <a:r>
              <a:rPr b="0" i="0" lang="en-US" sz="1200" u="none" cap="none" strike="noStrike">
                <a:solidFill>
                  <a:srgbClr val="2B3556"/>
                </a:solidFill>
                <a:latin typeface="Inter"/>
                <a:ea typeface="Inter"/>
                <a:cs typeface="Inter"/>
                <a:sym typeface="Inter"/>
              </a:rPr>
              <a:t>writes the answer</a:t>
            </a:r>
            <a:endParaRPr b="0" i="0" sz="1200" u="none" cap="none" strike="noStrike">
              <a:solidFill>
                <a:schemeClr val="dk1"/>
              </a:solidFill>
              <a:latin typeface="Inter"/>
              <a:ea typeface="Inter"/>
              <a:cs typeface="Inter"/>
              <a:sym typeface="Inter"/>
            </a:endParaRPr>
          </a:p>
        </p:txBody>
      </p:sp>
      <p:sp>
        <p:nvSpPr>
          <p:cNvPr id="170" name="Google Shape;170;p5"/>
          <p:cNvSpPr/>
          <p:nvPr/>
        </p:nvSpPr>
        <p:spPr>
          <a:xfrm>
            <a:off x="7294868" y="1569690"/>
            <a:ext cx="4084340" cy="1605151"/>
          </a:xfrm>
          <a:prstGeom prst="roundRect">
            <a:avLst>
              <a:gd fmla="val 9494" name="adj"/>
            </a:avLst>
          </a:prstGeom>
          <a:solidFill>
            <a:srgbClr val="2446C8"/>
          </a:solidFill>
          <a:ln>
            <a:noFill/>
          </a:ln>
          <a:effectLst>
            <a:outerShdw blurRad="203200" rotWithShape="0" algn="bl" dir="5400000" dist="76200">
              <a:srgbClr val="2446C8">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7574243" y="1823659"/>
            <a:ext cx="3631357" cy="78739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FFFFFF"/>
              </a:buClr>
              <a:buSzPts val="6000"/>
              <a:buFont typeface="Caladea"/>
              <a:buNone/>
            </a:pPr>
            <a:r>
              <a:rPr b="1" i="0" lang="en-US" sz="6000" u="none" cap="none" strike="noStrike">
                <a:solidFill>
                  <a:srgbClr val="FFFFFF"/>
                </a:solidFill>
                <a:latin typeface="Caladea"/>
                <a:ea typeface="Caladea"/>
                <a:cs typeface="Caladea"/>
                <a:sym typeface="Caladea"/>
              </a:rPr>
              <a:t>~1,100</a:t>
            </a:r>
            <a:endParaRPr b="0" i="0" sz="6000" u="none" cap="none" strike="noStrike">
              <a:solidFill>
                <a:schemeClr val="dk1"/>
              </a:solidFill>
              <a:latin typeface="Inter"/>
              <a:ea typeface="Inter"/>
              <a:cs typeface="Inter"/>
              <a:sym typeface="Inter"/>
            </a:endParaRPr>
          </a:p>
        </p:txBody>
      </p:sp>
      <p:sp>
        <p:nvSpPr>
          <p:cNvPr id="172" name="Google Shape;172;p5"/>
          <p:cNvSpPr/>
          <p:nvPr/>
        </p:nvSpPr>
        <p:spPr>
          <a:xfrm>
            <a:off x="7574243" y="2636425"/>
            <a:ext cx="3631357" cy="3098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600"/>
              <a:buFont typeface="Inter"/>
              <a:buNone/>
            </a:pPr>
            <a:r>
              <a:rPr b="0" i="0" lang="en-US" sz="1600" u="none" cap="none" strike="noStrike">
                <a:solidFill>
                  <a:srgbClr val="FFFFFF"/>
                </a:solidFill>
                <a:latin typeface="Inter"/>
                <a:ea typeface="Inter"/>
                <a:cs typeface="Inter"/>
                <a:sym typeface="Inter"/>
              </a:rPr>
              <a:t>image tokens per photo</a:t>
            </a:r>
            <a:endParaRPr b="0" i="0" sz="1600" u="none" cap="none" strike="noStrike">
              <a:solidFill>
                <a:schemeClr val="dk1"/>
              </a:solidFill>
              <a:latin typeface="Inter"/>
              <a:ea typeface="Inter"/>
              <a:cs typeface="Inter"/>
              <a:sym typeface="Inter"/>
            </a:endParaRPr>
          </a:p>
        </p:txBody>
      </p:sp>
      <p:sp>
        <p:nvSpPr>
          <p:cNvPr id="173" name="Google Shape;173;p5"/>
          <p:cNvSpPr/>
          <p:nvPr/>
        </p:nvSpPr>
        <p:spPr>
          <a:xfrm>
            <a:off x="7294868" y="3352639"/>
            <a:ext cx="4084340" cy="2489379"/>
          </a:xfrm>
          <a:prstGeom prst="roundRect">
            <a:avLst>
              <a:gd fmla="val 6122"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7574243" y="3581202"/>
            <a:ext cx="355593" cy="355593"/>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raduationCap" id="175" name="Google Shape;175;p5"/>
          <p:cNvPicPr preferRelativeResize="0"/>
          <p:nvPr/>
        </p:nvPicPr>
        <p:blipFill rotWithShape="1">
          <a:blip r:embed="rId4">
            <a:alphaModFix/>
          </a:blip>
          <a:srcRect b="0" l="0" r="0" t="0"/>
          <a:stretch/>
        </p:blipFill>
        <p:spPr>
          <a:xfrm>
            <a:off x="7656801" y="3663761"/>
            <a:ext cx="190477" cy="190477"/>
          </a:xfrm>
          <a:prstGeom prst="rect">
            <a:avLst/>
          </a:prstGeom>
          <a:noFill/>
          <a:ln>
            <a:noFill/>
          </a:ln>
        </p:spPr>
      </p:pic>
      <p:sp>
        <p:nvSpPr>
          <p:cNvPr id="176" name="Google Shape;176;p5"/>
          <p:cNvSpPr/>
          <p:nvPr/>
        </p:nvSpPr>
        <p:spPr>
          <a:xfrm>
            <a:off x="8044095" y="3637087"/>
            <a:ext cx="1553216" cy="26922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600"/>
              <a:buFont typeface="Inter"/>
              <a:buNone/>
            </a:pPr>
            <a:r>
              <a:rPr b="1" i="0" lang="en-US" sz="1600" u="none" cap="none" strike="noStrike">
                <a:solidFill>
                  <a:srgbClr val="0E1A45"/>
                </a:solidFill>
                <a:latin typeface="Inter"/>
                <a:ea typeface="Inter"/>
                <a:cs typeface="Inter"/>
                <a:sym typeface="Inter"/>
              </a:rPr>
              <a:t>Course tie-in</a:t>
            </a:r>
            <a:endParaRPr b="0" i="0" sz="1600" u="none" cap="none" strike="noStrike">
              <a:solidFill>
                <a:schemeClr val="dk1"/>
              </a:solidFill>
              <a:latin typeface="Inter"/>
              <a:ea typeface="Inter"/>
              <a:cs typeface="Inter"/>
              <a:sym typeface="Inter"/>
            </a:endParaRPr>
          </a:p>
        </p:txBody>
      </p:sp>
      <p:sp>
        <p:nvSpPr>
          <p:cNvPr id="177" name="Google Shape;177;p5"/>
          <p:cNvSpPr/>
          <p:nvPr/>
        </p:nvSpPr>
        <p:spPr>
          <a:xfrm>
            <a:off x="7574243" y="4038374"/>
            <a:ext cx="3631357"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Frozen vision encoder, connecting layer and language model, as in Flamingo.</a:t>
            </a:r>
            <a:endParaRPr b="0" i="0" sz="1400" u="none" cap="none" strike="noStrike">
              <a:solidFill>
                <a:schemeClr val="dk1"/>
              </a:solidFill>
              <a:latin typeface="Inter"/>
              <a:ea typeface="Inter"/>
              <a:cs typeface="Inter"/>
              <a:sym typeface="Inter"/>
            </a:endParaRPr>
          </a:p>
        </p:txBody>
      </p:sp>
      <p:sp>
        <p:nvSpPr>
          <p:cNvPr id="178" name="Google Shape;178;p5"/>
          <p:cNvSpPr/>
          <p:nvPr/>
        </p:nvSpPr>
        <p:spPr>
          <a:xfrm>
            <a:off x="812765" y="6238280"/>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179" name="Google Shape;179;p5"/>
          <p:cNvSpPr/>
          <p:nvPr/>
        </p:nvSpPr>
        <p:spPr>
          <a:xfrm>
            <a:off x="5711364" y="6238280"/>
            <a:ext cx="1723151"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Goutham</a:t>
            </a:r>
            <a:endParaRPr b="0" i="0" sz="1200" u="none" cap="none" strike="noStrike">
              <a:solidFill>
                <a:schemeClr val="dk1"/>
              </a:solidFill>
              <a:latin typeface="Inter"/>
              <a:ea typeface="Inter"/>
              <a:cs typeface="Inter"/>
              <a:sym typeface="Inter"/>
            </a:endParaRPr>
          </a:p>
        </p:txBody>
      </p:sp>
      <p:sp>
        <p:nvSpPr>
          <p:cNvPr id="180" name="Google Shape;180;p5"/>
          <p:cNvSpPr/>
          <p:nvPr/>
        </p:nvSpPr>
        <p:spPr>
          <a:xfrm>
            <a:off x="11237970" y="6238280"/>
            <a:ext cx="141238"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5</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6"/>
          <p:cNvSpPr txBox="1"/>
          <p:nvPr>
            <p:ph type="title"/>
          </p:nvPr>
        </p:nvSpPr>
        <p:spPr>
          <a:xfrm>
            <a:off x="812765" y="762000"/>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Module 2: safety, ethics and confidence</a:t>
            </a:r>
            <a:endParaRPr sz="3600"/>
          </a:p>
        </p:txBody>
      </p:sp>
      <p:sp>
        <p:nvSpPr>
          <p:cNvPr id="187" name="Google Shape;187;p6"/>
          <p:cNvSpPr/>
          <p:nvPr/>
        </p:nvSpPr>
        <p:spPr>
          <a:xfrm>
            <a:off x="812765" y="1678425"/>
            <a:ext cx="3386694" cy="2930926"/>
          </a:xfrm>
          <a:prstGeom prst="roundRect">
            <a:avLst>
              <a:gd fmla="val 5200"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1066734" y="1932394"/>
            <a:ext cx="558796" cy="558796"/>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189" name="Google Shape;189;p6"/>
          <p:cNvPicPr preferRelativeResize="0"/>
          <p:nvPr/>
        </p:nvPicPr>
        <p:blipFill rotWithShape="1">
          <a:blip r:embed="rId3">
            <a:alphaModFix/>
          </a:blip>
          <a:srcRect b="0" l="0" r="0" t="0"/>
          <a:stretch/>
        </p:blipFill>
        <p:spPr>
          <a:xfrm>
            <a:off x="1200104" y="2065765"/>
            <a:ext cx="292056" cy="292056"/>
          </a:xfrm>
          <a:prstGeom prst="rect">
            <a:avLst/>
          </a:prstGeom>
          <a:noFill/>
          <a:ln>
            <a:noFill/>
          </a:ln>
        </p:spPr>
      </p:pic>
      <p:sp>
        <p:nvSpPr>
          <p:cNvPr id="190" name="Google Shape;190;p6"/>
          <p:cNvSpPr/>
          <p:nvPr/>
        </p:nvSpPr>
        <p:spPr>
          <a:xfrm>
            <a:off x="1066734" y="2618175"/>
            <a:ext cx="2965119" cy="39113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2400"/>
              <a:buFont typeface="Caladea"/>
              <a:buNone/>
            </a:pPr>
            <a:r>
              <a:rPr b="1" i="0" lang="en-US" sz="2400" u="none" cap="none" strike="noStrike">
                <a:solidFill>
                  <a:srgbClr val="0E1A45"/>
                </a:solidFill>
                <a:latin typeface="Caladea"/>
                <a:ea typeface="Caladea"/>
                <a:cs typeface="Caladea"/>
                <a:sym typeface="Caladea"/>
              </a:rPr>
              <a:t>Refuse</a:t>
            </a:r>
            <a:endParaRPr b="0" i="0" sz="2400" u="none" cap="none" strike="noStrike">
              <a:solidFill>
                <a:schemeClr val="dk1"/>
              </a:solidFill>
              <a:latin typeface="Inter"/>
              <a:ea typeface="Inter"/>
              <a:cs typeface="Inter"/>
              <a:sym typeface="Inter"/>
            </a:endParaRPr>
          </a:p>
        </p:txBody>
      </p:sp>
      <p:sp>
        <p:nvSpPr>
          <p:cNvPr id="191" name="Google Shape;191;p6"/>
          <p:cNvSpPr/>
          <p:nvPr/>
        </p:nvSpPr>
        <p:spPr>
          <a:xfrm>
            <a:off x="1066734" y="3110898"/>
            <a:ext cx="2965119" cy="1020988"/>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Advice a photo can’t support, such as doses or “is it safe to take”. We read what is printed and point to a pharmacist.</a:t>
            </a:r>
            <a:endParaRPr b="0" i="0" sz="1400" u="none" cap="none" strike="noStrike">
              <a:solidFill>
                <a:schemeClr val="dk1"/>
              </a:solidFill>
              <a:latin typeface="Inter"/>
              <a:ea typeface="Inter"/>
              <a:cs typeface="Inter"/>
              <a:sym typeface="Inter"/>
            </a:endParaRPr>
          </a:p>
        </p:txBody>
      </p:sp>
      <p:sp>
        <p:nvSpPr>
          <p:cNvPr id="192" name="Google Shape;192;p6"/>
          <p:cNvSpPr/>
          <p:nvPr/>
        </p:nvSpPr>
        <p:spPr>
          <a:xfrm>
            <a:off x="4402617" y="1678425"/>
            <a:ext cx="3386739" cy="2930926"/>
          </a:xfrm>
          <a:prstGeom prst="roundRect">
            <a:avLst>
              <a:gd fmla="val 5200"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4656586" y="1932394"/>
            <a:ext cx="558796" cy="558796"/>
          </a:xfrm>
          <a:prstGeom prst="roundRect">
            <a:avLst>
              <a:gd fmla="val 50000" name="adj"/>
            </a:avLst>
          </a:prstGeom>
          <a:solidFill>
            <a:srgbClr val="F2A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194" name="Google Shape;194;p6"/>
          <p:cNvPicPr preferRelativeResize="0"/>
          <p:nvPr/>
        </p:nvPicPr>
        <p:blipFill rotWithShape="1">
          <a:blip r:embed="rId4">
            <a:alphaModFix/>
          </a:blip>
          <a:srcRect b="0" l="0" r="0" t="0"/>
          <a:stretch/>
        </p:blipFill>
        <p:spPr>
          <a:xfrm>
            <a:off x="4789956" y="2065765"/>
            <a:ext cx="292056" cy="292056"/>
          </a:xfrm>
          <a:prstGeom prst="rect">
            <a:avLst/>
          </a:prstGeom>
          <a:noFill/>
          <a:ln>
            <a:noFill/>
          </a:ln>
        </p:spPr>
      </p:pic>
      <p:sp>
        <p:nvSpPr>
          <p:cNvPr id="195" name="Google Shape;195;p6"/>
          <p:cNvSpPr/>
          <p:nvPr/>
        </p:nvSpPr>
        <p:spPr>
          <a:xfrm>
            <a:off x="4656586" y="2618175"/>
            <a:ext cx="2965165" cy="39113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2400"/>
              <a:buFont typeface="Caladea"/>
              <a:buNone/>
            </a:pPr>
            <a:r>
              <a:rPr b="1" i="0" lang="en-US" sz="2400" u="none" cap="none" strike="noStrike">
                <a:solidFill>
                  <a:srgbClr val="0E1A45"/>
                </a:solidFill>
                <a:latin typeface="Caladea"/>
                <a:ea typeface="Caladea"/>
                <a:cs typeface="Caladea"/>
                <a:sym typeface="Caladea"/>
              </a:rPr>
              <a:t>Hedge</a:t>
            </a:r>
            <a:endParaRPr b="0" i="0" sz="2400" u="none" cap="none" strike="noStrike">
              <a:solidFill>
                <a:schemeClr val="dk1"/>
              </a:solidFill>
              <a:latin typeface="Inter"/>
              <a:ea typeface="Inter"/>
              <a:cs typeface="Inter"/>
              <a:sym typeface="Inter"/>
            </a:endParaRPr>
          </a:p>
        </p:txBody>
      </p:sp>
      <p:sp>
        <p:nvSpPr>
          <p:cNvPr id="196" name="Google Shape;196;p6"/>
          <p:cNvSpPr/>
          <p:nvPr/>
        </p:nvSpPr>
        <p:spPr>
          <a:xfrm>
            <a:off x="4656586" y="3110898"/>
            <a:ext cx="2965165" cy="126988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Low confidence starts with “I’m not sure” plus a next step. A stove is never reported as surely off. A blurry photo can’t give high confidence.</a:t>
            </a:r>
            <a:endParaRPr b="0" i="0" sz="1400" u="none" cap="none" strike="noStrike">
              <a:solidFill>
                <a:schemeClr val="dk1"/>
              </a:solidFill>
              <a:latin typeface="Inter"/>
              <a:ea typeface="Inter"/>
              <a:cs typeface="Inter"/>
              <a:sym typeface="Inter"/>
            </a:endParaRPr>
          </a:p>
        </p:txBody>
      </p:sp>
      <p:sp>
        <p:nvSpPr>
          <p:cNvPr id="197" name="Google Shape;197;p6"/>
          <p:cNvSpPr/>
          <p:nvPr/>
        </p:nvSpPr>
        <p:spPr>
          <a:xfrm>
            <a:off x="7992514" y="1678425"/>
            <a:ext cx="3386694" cy="2930926"/>
          </a:xfrm>
          <a:prstGeom prst="roundRect">
            <a:avLst>
              <a:gd fmla="val 5200"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8246483" y="1932394"/>
            <a:ext cx="558796" cy="558796"/>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199" name="Google Shape;199;p6"/>
          <p:cNvPicPr preferRelativeResize="0"/>
          <p:nvPr/>
        </p:nvPicPr>
        <p:blipFill rotWithShape="1">
          <a:blip r:embed="rId5">
            <a:alphaModFix/>
          </a:blip>
          <a:srcRect b="0" l="0" r="0" t="0"/>
          <a:stretch/>
        </p:blipFill>
        <p:spPr>
          <a:xfrm>
            <a:off x="8379853" y="2065765"/>
            <a:ext cx="292056" cy="292056"/>
          </a:xfrm>
          <a:prstGeom prst="rect">
            <a:avLst/>
          </a:prstGeom>
          <a:noFill/>
          <a:ln>
            <a:noFill/>
          </a:ln>
        </p:spPr>
      </p:pic>
      <p:sp>
        <p:nvSpPr>
          <p:cNvPr id="200" name="Google Shape;200;p6"/>
          <p:cNvSpPr/>
          <p:nvPr/>
        </p:nvSpPr>
        <p:spPr>
          <a:xfrm>
            <a:off x="8246483" y="2618175"/>
            <a:ext cx="2965119" cy="39113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2400"/>
              <a:buFont typeface="Caladea"/>
              <a:buNone/>
            </a:pPr>
            <a:r>
              <a:rPr b="1" i="0" lang="en-US" sz="2400" u="none" cap="none" strike="noStrike">
                <a:solidFill>
                  <a:srgbClr val="0E1A45"/>
                </a:solidFill>
                <a:latin typeface="Caladea"/>
                <a:ea typeface="Caladea"/>
                <a:cs typeface="Caladea"/>
                <a:sym typeface="Caladea"/>
              </a:rPr>
              <a:t>Ignore</a:t>
            </a:r>
            <a:endParaRPr b="0" i="0" sz="2400" u="none" cap="none" strike="noStrike">
              <a:solidFill>
                <a:schemeClr val="dk1"/>
              </a:solidFill>
              <a:latin typeface="Inter"/>
              <a:ea typeface="Inter"/>
              <a:cs typeface="Inter"/>
              <a:sym typeface="Inter"/>
            </a:endParaRPr>
          </a:p>
        </p:txBody>
      </p:sp>
      <p:sp>
        <p:nvSpPr>
          <p:cNvPr id="201" name="Google Shape;201;p6"/>
          <p:cNvSpPr/>
          <p:nvPr/>
        </p:nvSpPr>
        <p:spPr>
          <a:xfrm>
            <a:off x="8246483" y="3110898"/>
            <a:ext cx="2965119" cy="52319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Instructions written inside a photo are data, not commands.</a:t>
            </a:r>
            <a:endParaRPr b="0" i="0" sz="1400" u="none" cap="none" strike="noStrike">
              <a:solidFill>
                <a:schemeClr val="dk1"/>
              </a:solidFill>
              <a:latin typeface="Inter"/>
              <a:ea typeface="Inter"/>
              <a:cs typeface="Inter"/>
              <a:sym typeface="Inter"/>
            </a:endParaRPr>
          </a:p>
        </p:txBody>
      </p:sp>
      <p:sp>
        <p:nvSpPr>
          <p:cNvPr id="202" name="Google Shape;202;p6"/>
          <p:cNvSpPr/>
          <p:nvPr/>
        </p:nvSpPr>
        <p:spPr>
          <a:xfrm>
            <a:off x="812765" y="5022869"/>
            <a:ext cx="10566443" cy="819150"/>
          </a:xfrm>
          <a:prstGeom prst="roundRect">
            <a:avLst>
              <a:gd fmla="val 15504" name="adj"/>
            </a:avLst>
          </a:prstGeom>
          <a:solidFill>
            <a:srgbClr val="EEF1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1015922" y="5241919"/>
            <a:ext cx="380999" cy="380999"/>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204" name="Google Shape;204;p6"/>
          <p:cNvPicPr preferRelativeResize="0"/>
          <p:nvPr/>
        </p:nvPicPr>
        <p:blipFill rotWithShape="1">
          <a:blip r:embed="rId6">
            <a:alphaModFix/>
          </a:blip>
          <a:srcRect b="0" l="0" r="0" t="0"/>
          <a:stretch/>
        </p:blipFill>
        <p:spPr>
          <a:xfrm>
            <a:off x="1104821" y="5330819"/>
            <a:ext cx="203157" cy="203157"/>
          </a:xfrm>
          <a:prstGeom prst="rect">
            <a:avLst/>
          </a:prstGeom>
          <a:noFill/>
          <a:ln>
            <a:noFill/>
          </a:ln>
        </p:spPr>
      </p:pic>
      <p:sp>
        <p:nvSpPr>
          <p:cNvPr id="205" name="Google Shape;205;p6"/>
          <p:cNvSpPr/>
          <p:nvPr/>
        </p:nvSpPr>
        <p:spPr>
          <a:xfrm>
            <a:off x="1549312" y="5175256"/>
            <a:ext cx="9915541" cy="539769"/>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E1A45"/>
              </a:buClr>
              <a:buSzPts val="1500"/>
              <a:buFont typeface="Inter"/>
              <a:buNone/>
            </a:pPr>
            <a:r>
              <a:rPr b="0" i="0" lang="en-US" sz="1500" u="none" cap="none" strike="noStrike">
                <a:solidFill>
                  <a:srgbClr val="0E1A45"/>
                </a:solidFill>
                <a:latin typeface="Inter"/>
                <a:ea typeface="Inter"/>
                <a:cs typeface="Inter"/>
                <a:sym typeface="Inter"/>
              </a:rPr>
              <a:t>The rules are plain code that runs after the model, so they can be tested. They can only raise the risk, never lower it.</a:t>
            </a:r>
            <a:endParaRPr b="0" i="0" sz="1500" u="none" cap="none" strike="noStrike">
              <a:solidFill>
                <a:schemeClr val="dk1"/>
              </a:solidFill>
              <a:latin typeface="Inter"/>
              <a:ea typeface="Inter"/>
              <a:cs typeface="Inter"/>
              <a:sym typeface="Inter"/>
            </a:endParaRPr>
          </a:p>
        </p:txBody>
      </p:sp>
      <p:sp>
        <p:nvSpPr>
          <p:cNvPr id="206" name="Google Shape;206;p6"/>
          <p:cNvSpPr/>
          <p:nvPr/>
        </p:nvSpPr>
        <p:spPr>
          <a:xfrm>
            <a:off x="812765" y="6238280"/>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207" name="Google Shape;207;p6"/>
          <p:cNvSpPr/>
          <p:nvPr/>
        </p:nvSpPr>
        <p:spPr>
          <a:xfrm>
            <a:off x="5612593" y="6238280"/>
            <a:ext cx="195530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[Member 3]</a:t>
            </a:r>
            <a:endParaRPr b="0" i="0" sz="1200" u="none" cap="none" strike="noStrike">
              <a:solidFill>
                <a:schemeClr val="dk1"/>
              </a:solidFill>
              <a:latin typeface="Inter"/>
              <a:ea typeface="Inter"/>
              <a:cs typeface="Inter"/>
              <a:sym typeface="Inter"/>
            </a:endParaRPr>
          </a:p>
        </p:txBody>
      </p:sp>
      <p:sp>
        <p:nvSpPr>
          <p:cNvPr id="208" name="Google Shape;208;p6"/>
          <p:cNvSpPr/>
          <p:nvPr/>
        </p:nvSpPr>
        <p:spPr>
          <a:xfrm>
            <a:off x="11233894" y="6238280"/>
            <a:ext cx="145314"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6</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7"/>
          <p:cNvSpPr txBox="1"/>
          <p:nvPr>
            <p:ph type="title"/>
          </p:nvPr>
        </p:nvSpPr>
        <p:spPr>
          <a:xfrm>
            <a:off x="812765" y="762000"/>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Module 3: the accessible interface</a:t>
            </a:r>
            <a:endParaRPr sz="3600"/>
          </a:p>
        </p:txBody>
      </p:sp>
      <p:sp>
        <p:nvSpPr>
          <p:cNvPr id="215" name="Google Shape;215;p7"/>
          <p:cNvSpPr/>
          <p:nvPr/>
        </p:nvSpPr>
        <p:spPr>
          <a:xfrm>
            <a:off x="812765" y="1598268"/>
            <a:ext cx="457172" cy="457172"/>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216" name="Google Shape;216;p7"/>
          <p:cNvPicPr preferRelativeResize="0"/>
          <p:nvPr/>
        </p:nvPicPr>
        <p:blipFill rotWithShape="1">
          <a:blip r:embed="rId3">
            <a:alphaModFix/>
          </a:blip>
          <a:srcRect b="0" l="0" r="0" t="0"/>
          <a:stretch/>
        </p:blipFill>
        <p:spPr>
          <a:xfrm>
            <a:off x="920684" y="1706187"/>
            <a:ext cx="241289" cy="241289"/>
          </a:xfrm>
          <a:prstGeom prst="rect">
            <a:avLst/>
          </a:prstGeom>
          <a:noFill/>
          <a:ln>
            <a:noFill/>
          </a:ln>
        </p:spPr>
      </p:pic>
      <p:sp>
        <p:nvSpPr>
          <p:cNvPr id="217" name="Google Shape;217;p7"/>
          <p:cNvSpPr/>
          <p:nvPr/>
        </p:nvSpPr>
        <p:spPr>
          <a:xfrm>
            <a:off x="1422327" y="1569690"/>
            <a:ext cx="4918588" cy="539769"/>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Photo from a file, paste, drag and drop, or the live camera</a:t>
            </a:r>
            <a:endParaRPr b="0" i="0" sz="1500" u="none" cap="none" strike="noStrike">
              <a:solidFill>
                <a:schemeClr val="dk1"/>
              </a:solidFill>
              <a:latin typeface="Inter"/>
              <a:ea typeface="Inter"/>
              <a:cs typeface="Inter"/>
              <a:sym typeface="Inter"/>
            </a:endParaRPr>
          </a:p>
        </p:txBody>
      </p:sp>
      <p:sp>
        <p:nvSpPr>
          <p:cNvPr id="218" name="Google Shape;218;p7"/>
          <p:cNvSpPr/>
          <p:nvPr/>
        </p:nvSpPr>
        <p:spPr>
          <a:xfrm>
            <a:off x="812765" y="2850905"/>
            <a:ext cx="457172" cy="457172"/>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219" name="Google Shape;219;p7"/>
          <p:cNvPicPr preferRelativeResize="0"/>
          <p:nvPr/>
        </p:nvPicPr>
        <p:blipFill rotWithShape="1">
          <a:blip r:embed="rId4">
            <a:alphaModFix/>
          </a:blip>
          <a:srcRect b="0" l="0" r="0" t="0"/>
          <a:stretch/>
        </p:blipFill>
        <p:spPr>
          <a:xfrm>
            <a:off x="920684" y="2958824"/>
            <a:ext cx="241289" cy="241289"/>
          </a:xfrm>
          <a:prstGeom prst="rect">
            <a:avLst/>
          </a:prstGeom>
          <a:noFill/>
          <a:ln>
            <a:noFill/>
          </a:ln>
        </p:spPr>
      </p:pic>
      <p:sp>
        <p:nvSpPr>
          <p:cNvPr id="220" name="Google Shape;220;p7"/>
          <p:cNvSpPr/>
          <p:nvPr/>
        </p:nvSpPr>
        <p:spPr>
          <a:xfrm>
            <a:off x="1422327" y="2822330"/>
            <a:ext cx="4918588" cy="539769"/>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The camera speaks guidance (too dark, hold steady, move closer) and takes the photo when it is sharp</a:t>
            </a:r>
            <a:endParaRPr b="0" i="0" sz="1500" u="none" cap="none" strike="noStrike">
              <a:solidFill>
                <a:schemeClr val="dk1"/>
              </a:solidFill>
              <a:latin typeface="Inter"/>
              <a:ea typeface="Inter"/>
              <a:cs typeface="Inter"/>
              <a:sym typeface="Inter"/>
            </a:endParaRPr>
          </a:p>
        </p:txBody>
      </p:sp>
      <p:sp>
        <p:nvSpPr>
          <p:cNvPr id="221" name="Google Shape;221;p7"/>
          <p:cNvSpPr/>
          <p:nvPr/>
        </p:nvSpPr>
        <p:spPr>
          <a:xfrm>
            <a:off x="812765" y="4103588"/>
            <a:ext cx="457172" cy="457172"/>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lay" id="222" name="Google Shape;222;p7"/>
          <p:cNvPicPr preferRelativeResize="0"/>
          <p:nvPr/>
        </p:nvPicPr>
        <p:blipFill rotWithShape="1">
          <a:blip r:embed="rId5">
            <a:alphaModFix/>
          </a:blip>
          <a:srcRect b="0" l="0" r="0" t="0"/>
          <a:stretch/>
        </p:blipFill>
        <p:spPr>
          <a:xfrm>
            <a:off x="920684" y="4211507"/>
            <a:ext cx="241289" cy="241289"/>
          </a:xfrm>
          <a:prstGeom prst="rect">
            <a:avLst/>
          </a:prstGeom>
          <a:noFill/>
          <a:ln>
            <a:noFill/>
          </a:ln>
        </p:spPr>
      </p:pic>
      <p:sp>
        <p:nvSpPr>
          <p:cNvPr id="223" name="Google Shape;223;p7"/>
          <p:cNvSpPr/>
          <p:nvPr/>
        </p:nvSpPr>
        <p:spPr>
          <a:xfrm>
            <a:off x="1422327" y="4075010"/>
            <a:ext cx="4918588" cy="539769"/>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Spoken answers with replay, and a microphone to speak the question</a:t>
            </a:r>
            <a:endParaRPr b="0" i="0" sz="1500" u="none" cap="none" strike="noStrike">
              <a:solidFill>
                <a:schemeClr val="dk1"/>
              </a:solidFill>
              <a:latin typeface="Inter"/>
              <a:ea typeface="Inter"/>
              <a:cs typeface="Inter"/>
              <a:sym typeface="Inter"/>
            </a:endParaRPr>
          </a:p>
        </p:txBody>
      </p:sp>
      <p:sp>
        <p:nvSpPr>
          <p:cNvPr id="224" name="Google Shape;224;p7"/>
          <p:cNvSpPr/>
          <p:nvPr/>
        </p:nvSpPr>
        <p:spPr>
          <a:xfrm>
            <a:off x="812765" y="5356225"/>
            <a:ext cx="457172" cy="457172"/>
          </a:xfrm>
          <a:prstGeom prst="roundRect">
            <a:avLst>
              <a:gd fmla="val 50000"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Key" id="225" name="Google Shape;225;p7"/>
          <p:cNvPicPr preferRelativeResize="0"/>
          <p:nvPr/>
        </p:nvPicPr>
        <p:blipFill rotWithShape="1">
          <a:blip r:embed="rId6">
            <a:alphaModFix/>
          </a:blip>
          <a:srcRect b="0" l="0" r="0" t="0"/>
          <a:stretch/>
        </p:blipFill>
        <p:spPr>
          <a:xfrm>
            <a:off x="920684" y="5464144"/>
            <a:ext cx="241289" cy="241289"/>
          </a:xfrm>
          <a:prstGeom prst="rect">
            <a:avLst/>
          </a:prstGeom>
          <a:noFill/>
          <a:ln>
            <a:noFill/>
          </a:ln>
        </p:spPr>
      </p:pic>
      <p:sp>
        <p:nvSpPr>
          <p:cNvPr id="226" name="Google Shape;226;p7"/>
          <p:cNvSpPr/>
          <p:nvPr/>
        </p:nvSpPr>
        <p:spPr>
          <a:xfrm>
            <a:off x="1422327" y="5327647"/>
            <a:ext cx="4918588" cy="539769"/>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Keyboard-only use, screen-reader mode, high-contrast theme, large text</a:t>
            </a:r>
            <a:endParaRPr b="0" i="0" sz="1500" u="none" cap="none" strike="noStrike">
              <a:solidFill>
                <a:schemeClr val="dk1"/>
              </a:solidFill>
              <a:latin typeface="Inter"/>
              <a:ea typeface="Inter"/>
              <a:cs typeface="Inter"/>
              <a:sym typeface="Inter"/>
            </a:endParaRPr>
          </a:p>
        </p:txBody>
      </p:sp>
      <p:sp>
        <p:nvSpPr>
          <p:cNvPr id="227" name="Google Shape;227;p7"/>
          <p:cNvSpPr/>
          <p:nvPr/>
        </p:nvSpPr>
        <p:spPr>
          <a:xfrm>
            <a:off x="6565949" y="1582390"/>
            <a:ext cx="4800559" cy="4246926"/>
          </a:xfrm>
          <a:prstGeom prst="roundRect">
            <a:avLst>
              <a:gd fmla="val 3289" name="adj"/>
            </a:avLst>
          </a:prstGeom>
          <a:solidFill>
            <a:srgbClr val="F4F6FB"/>
          </a:solidFill>
          <a:ln cap="flat" cmpd="sng" w="25400">
            <a:solidFill>
              <a:srgbClr val="F2A9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8586995" y="3187750"/>
            <a:ext cx="758466" cy="350430"/>
          </a:xfrm>
          <a:prstGeom prst="roundRect">
            <a:avLst>
              <a:gd fmla="val 50000" name="adj"/>
            </a:avLst>
          </a:prstGeom>
          <a:solidFill>
            <a:srgbClr val="F2A90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TBD</a:t>
            </a:r>
            <a:endParaRPr b="0" i="0" sz="1400" u="none" cap="none" strike="noStrike">
              <a:solidFill>
                <a:schemeClr val="dk1"/>
              </a:solidFill>
              <a:latin typeface="Inter"/>
              <a:ea typeface="Inter"/>
              <a:cs typeface="Inter"/>
              <a:sym typeface="Inter"/>
            </a:endParaRPr>
          </a:p>
        </p:txBody>
      </p:sp>
      <p:sp>
        <p:nvSpPr>
          <p:cNvPr id="229" name="Google Shape;229;p7"/>
          <p:cNvSpPr/>
          <p:nvPr/>
        </p:nvSpPr>
        <p:spPr>
          <a:xfrm>
            <a:off x="6818667" y="3690572"/>
            <a:ext cx="4295123" cy="55879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7A5200"/>
              </a:buClr>
              <a:buSzPts val="1500"/>
              <a:buFont typeface="Inter"/>
              <a:buNone/>
            </a:pPr>
            <a:r>
              <a:rPr b="0" i="0" lang="en-US" sz="1500" u="none" cap="none" strike="noStrike">
                <a:solidFill>
                  <a:srgbClr val="7A5200"/>
                </a:solidFill>
                <a:latin typeface="Inter"/>
                <a:ea typeface="Inter"/>
                <a:cs typeface="Inter"/>
                <a:sym typeface="Inter"/>
              </a:rPr>
              <a:t>TBD: screenshot of the app with an answer card visible</a:t>
            </a:r>
            <a:endParaRPr b="0" i="0" sz="1500" u="none" cap="none" strike="noStrike">
              <a:solidFill>
                <a:schemeClr val="dk1"/>
              </a:solidFill>
              <a:latin typeface="Inter"/>
              <a:ea typeface="Inter"/>
              <a:cs typeface="Inter"/>
              <a:sym typeface="Inter"/>
            </a:endParaRPr>
          </a:p>
        </p:txBody>
      </p:sp>
      <p:sp>
        <p:nvSpPr>
          <p:cNvPr id="230" name="Google Shape;230;p7"/>
          <p:cNvSpPr/>
          <p:nvPr/>
        </p:nvSpPr>
        <p:spPr>
          <a:xfrm>
            <a:off x="812765" y="6238280"/>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231" name="Google Shape;231;p7"/>
          <p:cNvSpPr/>
          <p:nvPr/>
        </p:nvSpPr>
        <p:spPr>
          <a:xfrm>
            <a:off x="5614541" y="6238280"/>
            <a:ext cx="1960472"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[Member 4]</a:t>
            </a:r>
            <a:endParaRPr b="0" i="0" sz="1200" u="none" cap="none" strike="noStrike">
              <a:solidFill>
                <a:schemeClr val="dk1"/>
              </a:solidFill>
              <a:latin typeface="Inter"/>
              <a:ea typeface="Inter"/>
              <a:cs typeface="Inter"/>
              <a:sym typeface="Inter"/>
            </a:endParaRPr>
          </a:p>
        </p:txBody>
      </p:sp>
      <p:sp>
        <p:nvSpPr>
          <p:cNvPr id="232" name="Google Shape;232;p7"/>
          <p:cNvSpPr/>
          <p:nvPr/>
        </p:nvSpPr>
        <p:spPr>
          <a:xfrm>
            <a:off x="11242136" y="6238280"/>
            <a:ext cx="137072"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7</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8"/>
          <p:cNvSpPr txBox="1"/>
          <p:nvPr>
            <p:ph type="title"/>
          </p:nvPr>
        </p:nvSpPr>
        <p:spPr>
          <a:xfrm>
            <a:off x="812765" y="762000"/>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Module 4: platform and performance</a:t>
            </a:r>
            <a:endParaRPr sz="3600"/>
          </a:p>
        </p:txBody>
      </p:sp>
      <p:sp>
        <p:nvSpPr>
          <p:cNvPr id="239" name="Google Shape;239;p8"/>
          <p:cNvSpPr/>
          <p:nvPr/>
        </p:nvSpPr>
        <p:spPr>
          <a:xfrm>
            <a:off x="812765" y="1610993"/>
            <a:ext cx="431766" cy="431766"/>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240" name="Google Shape;240;p8"/>
          <p:cNvPicPr preferRelativeResize="0"/>
          <p:nvPr/>
        </p:nvPicPr>
        <p:blipFill rotWithShape="1">
          <a:blip r:embed="rId3">
            <a:alphaModFix/>
          </a:blip>
          <a:srcRect b="0" l="0" r="0" t="0"/>
          <a:stretch/>
        </p:blipFill>
        <p:spPr>
          <a:xfrm>
            <a:off x="914344" y="1712571"/>
            <a:ext cx="228563" cy="228563"/>
          </a:xfrm>
          <a:prstGeom prst="rect">
            <a:avLst/>
          </a:prstGeom>
          <a:noFill/>
          <a:ln>
            <a:noFill/>
          </a:ln>
        </p:spPr>
      </p:pic>
      <p:sp>
        <p:nvSpPr>
          <p:cNvPr id="241" name="Google Shape;241;p8"/>
          <p:cNvSpPr/>
          <p:nvPr/>
        </p:nvSpPr>
        <p:spPr>
          <a:xfrm>
            <a:off x="1396921" y="1569693"/>
            <a:ext cx="4395318" cy="539769"/>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FastAPI server: sessions in memory, upload limits, one question at a time</a:t>
            </a:r>
            <a:endParaRPr b="0" i="0" sz="1500" u="none" cap="none" strike="noStrike">
              <a:solidFill>
                <a:schemeClr val="dk1"/>
              </a:solidFill>
              <a:latin typeface="Inter"/>
              <a:ea typeface="Inter"/>
              <a:cs typeface="Inter"/>
              <a:sym typeface="Inter"/>
            </a:endParaRPr>
          </a:p>
        </p:txBody>
      </p:sp>
      <p:sp>
        <p:nvSpPr>
          <p:cNvPr id="242" name="Google Shape;242;p8"/>
          <p:cNvSpPr/>
          <p:nvPr/>
        </p:nvSpPr>
        <p:spPr>
          <a:xfrm>
            <a:off x="812765" y="2574745"/>
            <a:ext cx="431766" cy="431766"/>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243" name="Google Shape;243;p8"/>
          <p:cNvPicPr preferRelativeResize="0"/>
          <p:nvPr/>
        </p:nvPicPr>
        <p:blipFill rotWithShape="1">
          <a:blip r:embed="rId4">
            <a:alphaModFix/>
          </a:blip>
          <a:srcRect b="0" l="0" r="0" t="0"/>
          <a:stretch/>
        </p:blipFill>
        <p:spPr>
          <a:xfrm>
            <a:off x="914344" y="2676323"/>
            <a:ext cx="228563" cy="228563"/>
          </a:xfrm>
          <a:prstGeom prst="rect">
            <a:avLst/>
          </a:prstGeom>
          <a:noFill/>
          <a:ln>
            <a:noFill/>
          </a:ln>
        </p:spPr>
      </p:pic>
      <p:sp>
        <p:nvSpPr>
          <p:cNvPr id="244" name="Google Shape;244;p8"/>
          <p:cNvSpPr/>
          <p:nvPr/>
        </p:nvSpPr>
        <p:spPr>
          <a:xfrm>
            <a:off x="1396921" y="2662014"/>
            <a:ext cx="4395318" cy="2825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A photo-quality check runs before the model</a:t>
            </a:r>
            <a:endParaRPr b="0" i="0" sz="1500" u="none" cap="none" strike="noStrike">
              <a:solidFill>
                <a:schemeClr val="dk1"/>
              </a:solidFill>
              <a:latin typeface="Inter"/>
              <a:ea typeface="Inter"/>
              <a:cs typeface="Inter"/>
              <a:sym typeface="Inter"/>
            </a:endParaRPr>
          </a:p>
        </p:txBody>
      </p:sp>
      <p:sp>
        <p:nvSpPr>
          <p:cNvPr id="245" name="Google Shape;245;p8"/>
          <p:cNvSpPr/>
          <p:nvPr/>
        </p:nvSpPr>
        <p:spPr>
          <a:xfrm>
            <a:off x="812765" y="3497241"/>
            <a:ext cx="431766" cy="431766"/>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 id="246" name="Google Shape;246;p8"/>
          <p:cNvPicPr preferRelativeResize="0"/>
          <p:nvPr/>
        </p:nvPicPr>
        <p:blipFill rotWithShape="1">
          <a:blip r:embed="rId5">
            <a:alphaModFix/>
          </a:blip>
          <a:srcRect b="0" l="0" r="0" t="0"/>
          <a:stretch/>
        </p:blipFill>
        <p:spPr>
          <a:xfrm>
            <a:off x="914344" y="3598819"/>
            <a:ext cx="228563" cy="228563"/>
          </a:xfrm>
          <a:prstGeom prst="rect">
            <a:avLst/>
          </a:prstGeom>
          <a:noFill/>
          <a:ln>
            <a:noFill/>
          </a:ln>
        </p:spPr>
      </p:pic>
      <p:sp>
        <p:nvSpPr>
          <p:cNvPr id="247" name="Google Shape;247;p8"/>
          <p:cNvSpPr/>
          <p:nvPr/>
        </p:nvSpPr>
        <p:spPr>
          <a:xfrm>
            <a:off x="1396921" y="3584510"/>
            <a:ext cx="4395318" cy="2825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Runs entirely on a MacBook Air M1 with 8 GB</a:t>
            </a:r>
            <a:endParaRPr b="0" i="0" sz="1500" u="none" cap="none" strike="noStrike">
              <a:solidFill>
                <a:schemeClr val="dk1"/>
              </a:solidFill>
              <a:latin typeface="Inter"/>
              <a:ea typeface="Inter"/>
              <a:cs typeface="Inter"/>
              <a:sym typeface="Inter"/>
            </a:endParaRPr>
          </a:p>
        </p:txBody>
      </p:sp>
      <p:sp>
        <p:nvSpPr>
          <p:cNvPr id="248" name="Google Shape;248;p8"/>
          <p:cNvSpPr/>
          <p:nvPr/>
        </p:nvSpPr>
        <p:spPr>
          <a:xfrm>
            <a:off x="812765" y="4419690"/>
            <a:ext cx="431766" cy="431766"/>
          </a:xfrm>
          <a:prstGeom prst="roundRect">
            <a:avLst>
              <a:gd fmla="val 50000" name="adj"/>
            </a:avLst>
          </a:prstGeom>
          <a:solidFill>
            <a:srgbClr val="0E1A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249" name="Google Shape;249;p8"/>
          <p:cNvPicPr preferRelativeResize="0"/>
          <p:nvPr/>
        </p:nvPicPr>
        <p:blipFill rotWithShape="1">
          <a:blip r:embed="rId6">
            <a:alphaModFix/>
          </a:blip>
          <a:srcRect b="0" l="0" r="0" t="0"/>
          <a:stretch/>
        </p:blipFill>
        <p:spPr>
          <a:xfrm>
            <a:off x="914344" y="4521271"/>
            <a:ext cx="228563" cy="228563"/>
          </a:xfrm>
          <a:prstGeom prst="rect">
            <a:avLst/>
          </a:prstGeom>
          <a:noFill/>
          <a:ln>
            <a:noFill/>
          </a:ln>
        </p:spPr>
      </p:pic>
      <p:sp>
        <p:nvSpPr>
          <p:cNvPr id="250" name="Google Shape;250;p8"/>
          <p:cNvSpPr/>
          <p:nvPr/>
        </p:nvSpPr>
        <p:spPr>
          <a:xfrm>
            <a:off x="1396921" y="4506959"/>
            <a:ext cx="4395318" cy="28258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500"/>
              <a:buFont typeface="Inter"/>
              <a:buNone/>
            </a:pPr>
            <a:r>
              <a:rPr b="0" i="0" lang="en-US" sz="1500" u="none" cap="none" strike="noStrike">
                <a:solidFill>
                  <a:srgbClr val="2B3556"/>
                </a:solidFill>
                <a:latin typeface="Inter"/>
                <a:ea typeface="Inter"/>
                <a:cs typeface="Inter"/>
                <a:sym typeface="Inter"/>
              </a:rPr>
              <a:t>Speed depends on free memory</a:t>
            </a:r>
            <a:endParaRPr b="0" i="0" sz="1500" u="none" cap="none" strike="noStrike">
              <a:solidFill>
                <a:schemeClr val="dk1"/>
              </a:solidFill>
              <a:latin typeface="Inter"/>
              <a:ea typeface="Inter"/>
              <a:cs typeface="Inter"/>
              <a:sym typeface="Inter"/>
            </a:endParaRPr>
          </a:p>
        </p:txBody>
      </p:sp>
      <p:sp>
        <p:nvSpPr>
          <p:cNvPr id="251" name="Google Shape;251;p8"/>
          <p:cNvSpPr/>
          <p:nvPr/>
        </p:nvSpPr>
        <p:spPr>
          <a:xfrm>
            <a:off x="6019814" y="1569693"/>
            <a:ext cx="5359394" cy="3281764"/>
          </a:xfrm>
          <a:prstGeom prst="roundRect">
            <a:avLst>
              <a:gd fmla="val 4644"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6273783" y="1798256"/>
            <a:ext cx="4996999" cy="25400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500"/>
              <a:buFont typeface="Inter"/>
              <a:buNone/>
            </a:pPr>
            <a:r>
              <a:rPr b="1" i="0" lang="en-US" sz="1500" u="none" cap="none" strike="noStrike">
                <a:solidFill>
                  <a:srgbClr val="0E1A45"/>
                </a:solidFill>
                <a:latin typeface="Inter"/>
                <a:ea typeface="Inter"/>
                <a:cs typeface="Inter"/>
                <a:sym typeface="Inter"/>
              </a:rPr>
              <a:t>Seconds per answer (measured)</a:t>
            </a:r>
            <a:endParaRPr b="0" i="0" sz="1500" u="none" cap="none" strike="noStrike">
              <a:solidFill>
                <a:schemeClr val="dk1"/>
              </a:solidFill>
              <a:latin typeface="Inter"/>
              <a:ea typeface="Inter"/>
              <a:cs typeface="Inter"/>
              <a:sym typeface="Inter"/>
            </a:endParaRPr>
          </a:p>
        </p:txBody>
      </p:sp>
      <p:sp>
        <p:nvSpPr>
          <p:cNvPr id="253" name="Google Shape;253;p8"/>
          <p:cNvSpPr/>
          <p:nvPr/>
        </p:nvSpPr>
        <p:spPr>
          <a:xfrm>
            <a:off x="6273783" y="2203348"/>
            <a:ext cx="1447767"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Memory starved</a:t>
            </a:r>
            <a:endParaRPr b="0" i="0" sz="1300" u="none" cap="none" strike="noStrike">
              <a:solidFill>
                <a:schemeClr val="dk1"/>
              </a:solidFill>
              <a:latin typeface="Inter"/>
              <a:ea typeface="Inter"/>
              <a:cs typeface="Inter"/>
              <a:sym typeface="Inter"/>
            </a:endParaRPr>
          </a:p>
        </p:txBody>
      </p:sp>
      <p:sp>
        <p:nvSpPr>
          <p:cNvPr id="254" name="Google Shape;254;p8"/>
          <p:cNvSpPr/>
          <p:nvPr/>
        </p:nvSpPr>
        <p:spPr>
          <a:xfrm>
            <a:off x="7772328" y="2166528"/>
            <a:ext cx="2412979" cy="304781"/>
          </a:xfrm>
          <a:prstGeom prst="roundRect">
            <a:avLst>
              <a:gd fmla="val 16668" name="adj"/>
            </a:avLst>
          </a:prstGeom>
          <a:solidFill>
            <a:srgbClr val="8C2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10286886" y="2194471"/>
            <a:ext cx="53252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135 s</a:t>
            </a:r>
            <a:endParaRPr b="0" i="0" sz="1400" u="none" cap="none" strike="noStrike">
              <a:solidFill>
                <a:schemeClr val="dk1"/>
              </a:solidFill>
              <a:latin typeface="Inter"/>
              <a:ea typeface="Inter"/>
              <a:cs typeface="Inter"/>
              <a:sym typeface="Inter"/>
            </a:endParaRPr>
          </a:p>
        </p:txBody>
      </p:sp>
      <p:sp>
        <p:nvSpPr>
          <p:cNvPr id="256" name="Google Shape;256;p8"/>
          <p:cNvSpPr/>
          <p:nvPr/>
        </p:nvSpPr>
        <p:spPr>
          <a:xfrm>
            <a:off x="6273783" y="2647792"/>
            <a:ext cx="1447767"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Chrome open</a:t>
            </a:r>
            <a:endParaRPr b="0" i="0" sz="1300" u="none" cap="none" strike="noStrike">
              <a:solidFill>
                <a:schemeClr val="dk1"/>
              </a:solidFill>
              <a:latin typeface="Inter"/>
              <a:ea typeface="Inter"/>
              <a:cs typeface="Inter"/>
              <a:sym typeface="Inter"/>
            </a:endParaRPr>
          </a:p>
        </p:txBody>
      </p:sp>
      <p:sp>
        <p:nvSpPr>
          <p:cNvPr id="257" name="Google Shape;257;p8"/>
          <p:cNvSpPr/>
          <p:nvPr/>
        </p:nvSpPr>
        <p:spPr>
          <a:xfrm>
            <a:off x="7772328" y="2610976"/>
            <a:ext cx="1269982" cy="304781"/>
          </a:xfrm>
          <a:prstGeom prst="roundRect">
            <a:avLst>
              <a:gd fmla="val 1666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9143889" y="2638918"/>
            <a:ext cx="386171"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71 s</a:t>
            </a:r>
            <a:endParaRPr b="0" i="0" sz="1400" u="none" cap="none" strike="noStrike">
              <a:solidFill>
                <a:schemeClr val="dk1"/>
              </a:solidFill>
              <a:latin typeface="Inter"/>
              <a:ea typeface="Inter"/>
              <a:cs typeface="Inter"/>
              <a:sym typeface="Inter"/>
            </a:endParaRPr>
          </a:p>
        </p:txBody>
      </p:sp>
      <p:sp>
        <p:nvSpPr>
          <p:cNvPr id="259" name="Google Shape;259;p8"/>
          <p:cNvSpPr/>
          <p:nvPr/>
        </p:nvSpPr>
        <p:spPr>
          <a:xfrm>
            <a:off x="6273783" y="3092239"/>
            <a:ext cx="1447767"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Chrome closed</a:t>
            </a:r>
            <a:endParaRPr b="0" i="0" sz="1300" u="none" cap="none" strike="noStrike">
              <a:solidFill>
                <a:schemeClr val="dk1"/>
              </a:solidFill>
              <a:latin typeface="Inter"/>
              <a:ea typeface="Inter"/>
              <a:cs typeface="Inter"/>
              <a:sym typeface="Inter"/>
            </a:endParaRPr>
          </a:p>
        </p:txBody>
      </p:sp>
      <p:sp>
        <p:nvSpPr>
          <p:cNvPr id="260" name="Google Shape;260;p8"/>
          <p:cNvSpPr/>
          <p:nvPr/>
        </p:nvSpPr>
        <p:spPr>
          <a:xfrm>
            <a:off x="7772328" y="3055420"/>
            <a:ext cx="533390" cy="304781"/>
          </a:xfrm>
          <a:prstGeom prst="roundRect">
            <a:avLst>
              <a:gd fmla="val 1666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8407297" y="3083362"/>
            <a:ext cx="451602"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30 s</a:t>
            </a:r>
            <a:endParaRPr b="0" i="0" sz="1400" u="none" cap="none" strike="noStrike">
              <a:solidFill>
                <a:schemeClr val="dk1"/>
              </a:solidFill>
              <a:latin typeface="Inter"/>
              <a:ea typeface="Inter"/>
              <a:cs typeface="Inter"/>
              <a:sym typeface="Inter"/>
            </a:endParaRPr>
          </a:p>
        </p:txBody>
      </p:sp>
      <p:sp>
        <p:nvSpPr>
          <p:cNvPr id="262" name="Google Shape;262;p8"/>
          <p:cNvSpPr/>
          <p:nvPr/>
        </p:nvSpPr>
        <p:spPr>
          <a:xfrm>
            <a:off x="6273783" y="3536686"/>
            <a:ext cx="1447767"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Memory free</a:t>
            </a:r>
            <a:endParaRPr b="0" i="0" sz="1300" u="none" cap="none" strike="noStrike">
              <a:solidFill>
                <a:schemeClr val="dk1"/>
              </a:solidFill>
              <a:latin typeface="Inter"/>
              <a:ea typeface="Inter"/>
              <a:cs typeface="Inter"/>
              <a:sym typeface="Inter"/>
            </a:endParaRPr>
          </a:p>
        </p:txBody>
      </p:sp>
      <p:sp>
        <p:nvSpPr>
          <p:cNvPr id="263" name="Google Shape;263;p8"/>
          <p:cNvSpPr/>
          <p:nvPr/>
        </p:nvSpPr>
        <p:spPr>
          <a:xfrm>
            <a:off x="7772328" y="3499867"/>
            <a:ext cx="165071" cy="304781"/>
          </a:xfrm>
          <a:prstGeom prst="roundRect">
            <a:avLst>
              <a:gd fmla="val 30775" name="adj"/>
            </a:avLst>
          </a:prstGeom>
          <a:solidFill>
            <a:srgbClr val="0B6A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8038978" y="3527809"/>
            <a:ext cx="308730"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9 s</a:t>
            </a:r>
            <a:endParaRPr b="0" i="0" sz="1400" u="none" cap="none" strike="noStrike">
              <a:solidFill>
                <a:schemeClr val="dk1"/>
              </a:solidFill>
              <a:latin typeface="Inter"/>
              <a:ea typeface="Inter"/>
              <a:cs typeface="Inter"/>
              <a:sym typeface="Inter"/>
            </a:endParaRPr>
          </a:p>
        </p:txBody>
      </p:sp>
      <p:sp>
        <p:nvSpPr>
          <p:cNvPr id="265" name="Google Shape;265;p8"/>
          <p:cNvSpPr/>
          <p:nvPr/>
        </p:nvSpPr>
        <p:spPr>
          <a:xfrm>
            <a:off x="812765" y="5156240"/>
            <a:ext cx="10566443" cy="685780"/>
          </a:xfrm>
          <a:prstGeom prst="roundRect">
            <a:avLst>
              <a:gd fmla="val 18519"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1015922" y="5308628"/>
            <a:ext cx="380999" cy="380999"/>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267" name="Google Shape;267;p8"/>
          <p:cNvPicPr preferRelativeResize="0"/>
          <p:nvPr/>
        </p:nvPicPr>
        <p:blipFill rotWithShape="1">
          <a:blip r:embed="rId7">
            <a:alphaModFix/>
          </a:blip>
          <a:srcRect b="0" l="0" r="0" t="0"/>
          <a:stretch/>
        </p:blipFill>
        <p:spPr>
          <a:xfrm>
            <a:off x="1104821" y="5397528"/>
            <a:ext cx="203157" cy="203157"/>
          </a:xfrm>
          <a:prstGeom prst="rect">
            <a:avLst/>
          </a:prstGeom>
          <a:noFill/>
          <a:ln>
            <a:noFill/>
          </a:ln>
        </p:spPr>
      </p:pic>
      <p:sp>
        <p:nvSpPr>
          <p:cNvPr id="268" name="Google Shape;268;p8"/>
          <p:cNvSpPr/>
          <p:nvPr/>
        </p:nvSpPr>
        <p:spPr>
          <a:xfrm>
            <a:off x="1549312" y="5356904"/>
            <a:ext cx="9915541" cy="3098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600"/>
              <a:buFont typeface="Inter"/>
              <a:buNone/>
            </a:pPr>
            <a:r>
              <a:rPr b="1" i="0" lang="en-US" sz="1600" u="none" cap="none" strike="noStrike">
                <a:solidFill>
                  <a:srgbClr val="FFFFFF"/>
                </a:solidFill>
                <a:latin typeface="Inter"/>
                <a:ea typeface="Inter"/>
                <a:cs typeface="Inter"/>
                <a:sym typeface="Inter"/>
              </a:rPr>
              <a:t>On a small machine, free memory beats code changes.</a:t>
            </a:r>
            <a:endParaRPr b="0" i="0" sz="1600" u="none" cap="none" strike="noStrike">
              <a:solidFill>
                <a:schemeClr val="dk1"/>
              </a:solidFill>
              <a:latin typeface="Inter"/>
              <a:ea typeface="Inter"/>
              <a:cs typeface="Inter"/>
              <a:sym typeface="Inter"/>
            </a:endParaRPr>
          </a:p>
        </p:txBody>
      </p:sp>
      <p:sp>
        <p:nvSpPr>
          <p:cNvPr id="269" name="Google Shape;269;p8"/>
          <p:cNvSpPr/>
          <p:nvPr/>
        </p:nvSpPr>
        <p:spPr>
          <a:xfrm>
            <a:off x="812765" y="6238277"/>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270" name="Google Shape;270;p8"/>
          <p:cNvSpPr/>
          <p:nvPr/>
        </p:nvSpPr>
        <p:spPr>
          <a:xfrm>
            <a:off x="5614541" y="6238277"/>
            <a:ext cx="1950853"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[Member 5]</a:t>
            </a:r>
            <a:endParaRPr b="0" i="0" sz="1200" u="none" cap="none" strike="noStrike">
              <a:solidFill>
                <a:schemeClr val="dk1"/>
              </a:solidFill>
              <a:latin typeface="Inter"/>
              <a:ea typeface="Inter"/>
              <a:cs typeface="Inter"/>
              <a:sym typeface="Inter"/>
            </a:endParaRPr>
          </a:p>
        </p:txBody>
      </p:sp>
      <p:sp>
        <p:nvSpPr>
          <p:cNvPr id="271" name="Google Shape;271;p8"/>
          <p:cNvSpPr/>
          <p:nvPr/>
        </p:nvSpPr>
        <p:spPr>
          <a:xfrm>
            <a:off x="11234120" y="6238277"/>
            <a:ext cx="145087"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8</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10"/>
          <p:cNvSpPr txBox="1"/>
          <p:nvPr>
            <p:ph type="title"/>
          </p:nvPr>
        </p:nvSpPr>
        <p:spPr>
          <a:xfrm>
            <a:off x="812765" y="761994"/>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Module 5: evaluation and results</a:t>
            </a:r>
            <a:endParaRPr sz="3600"/>
          </a:p>
        </p:txBody>
      </p:sp>
      <p:sp>
        <p:nvSpPr>
          <p:cNvPr id="278" name="Google Shape;278;p10"/>
          <p:cNvSpPr/>
          <p:nvPr/>
        </p:nvSpPr>
        <p:spPr>
          <a:xfrm>
            <a:off x="825465" y="1531578"/>
            <a:ext cx="3361294" cy="1313781"/>
          </a:xfrm>
          <a:prstGeom prst="roundRect">
            <a:avLst>
              <a:gd fmla="val 10633" name="adj"/>
            </a:avLst>
          </a:prstGeom>
          <a:solidFill>
            <a:srgbClr val="F4F6FB"/>
          </a:solidFill>
          <a:ln cap="flat" cmpd="sng" w="25400">
            <a:solidFill>
              <a:srgbClr val="F2A9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1064515" y="1719858"/>
            <a:ext cx="2969690" cy="482617"/>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A5200"/>
              </a:buClr>
              <a:buSzPts val="3600"/>
              <a:buFont typeface="Caladea"/>
              <a:buNone/>
            </a:pPr>
            <a:r>
              <a:rPr b="1" i="0" lang="en-US" sz="3600" u="none" cap="none" strike="noStrike">
                <a:solidFill>
                  <a:srgbClr val="7A5200"/>
                </a:solidFill>
                <a:latin typeface="Caladea"/>
                <a:ea typeface="Caladea"/>
                <a:cs typeface="Caladea"/>
                <a:sym typeface="Caladea"/>
              </a:rPr>
              <a:t>TBD</a:t>
            </a:r>
            <a:endParaRPr b="0" i="0" sz="3600" u="none" cap="none" strike="noStrike">
              <a:solidFill>
                <a:schemeClr val="dk1"/>
              </a:solidFill>
              <a:latin typeface="Inter"/>
              <a:ea typeface="Inter"/>
              <a:cs typeface="Inter"/>
              <a:sym typeface="Inter"/>
            </a:endParaRPr>
          </a:p>
        </p:txBody>
      </p:sp>
      <p:sp>
        <p:nvSpPr>
          <p:cNvPr id="280" name="Google Shape;280;p10"/>
          <p:cNvSpPr/>
          <p:nvPr/>
        </p:nvSpPr>
        <p:spPr>
          <a:xfrm>
            <a:off x="1064515" y="2227845"/>
            <a:ext cx="2969690" cy="240015"/>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of 30 test items handled correctly</a:t>
            </a:r>
            <a:endParaRPr b="0" i="0" sz="1300" u="none" cap="none" strike="noStrike">
              <a:solidFill>
                <a:schemeClr val="dk1"/>
              </a:solidFill>
              <a:latin typeface="Inter"/>
              <a:ea typeface="Inter"/>
              <a:cs typeface="Inter"/>
              <a:sym typeface="Inter"/>
            </a:endParaRPr>
          </a:p>
        </p:txBody>
      </p:sp>
      <p:sp>
        <p:nvSpPr>
          <p:cNvPr id="281" name="Google Shape;281;p10"/>
          <p:cNvSpPr/>
          <p:nvPr/>
        </p:nvSpPr>
        <p:spPr>
          <a:xfrm>
            <a:off x="4415317" y="1531578"/>
            <a:ext cx="3361339" cy="1313781"/>
          </a:xfrm>
          <a:prstGeom prst="roundRect">
            <a:avLst>
              <a:gd fmla="val 10633" name="adj"/>
            </a:avLst>
          </a:prstGeom>
          <a:solidFill>
            <a:srgbClr val="F4F6FB"/>
          </a:solidFill>
          <a:ln cap="flat" cmpd="sng" w="25400">
            <a:solidFill>
              <a:srgbClr val="F2A9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4654367" y="1719858"/>
            <a:ext cx="2969736" cy="482617"/>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A5200"/>
              </a:buClr>
              <a:buSzPts val="3600"/>
              <a:buFont typeface="Caladea"/>
              <a:buNone/>
            </a:pPr>
            <a:r>
              <a:rPr b="1" i="0" lang="en-US" sz="3600" u="none" cap="none" strike="noStrike">
                <a:solidFill>
                  <a:srgbClr val="7A5200"/>
                </a:solidFill>
                <a:latin typeface="Caladea"/>
                <a:ea typeface="Caladea"/>
                <a:cs typeface="Caladea"/>
                <a:sym typeface="Caladea"/>
              </a:rPr>
              <a:t>TBD</a:t>
            </a:r>
            <a:endParaRPr b="0" i="0" sz="3600" u="none" cap="none" strike="noStrike">
              <a:solidFill>
                <a:schemeClr val="dk1"/>
              </a:solidFill>
              <a:latin typeface="Inter"/>
              <a:ea typeface="Inter"/>
              <a:cs typeface="Inter"/>
              <a:sym typeface="Inter"/>
            </a:endParaRPr>
          </a:p>
        </p:txBody>
      </p:sp>
      <p:sp>
        <p:nvSpPr>
          <p:cNvPr id="283" name="Google Shape;283;p10"/>
          <p:cNvSpPr/>
          <p:nvPr/>
        </p:nvSpPr>
        <p:spPr>
          <a:xfrm>
            <a:off x="4654367" y="2227845"/>
            <a:ext cx="2969736" cy="45463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confident wrong answers on high-risk items</a:t>
            </a:r>
            <a:endParaRPr b="0" i="0" sz="1300" u="none" cap="none" strike="noStrike">
              <a:solidFill>
                <a:schemeClr val="dk1"/>
              </a:solidFill>
              <a:latin typeface="Inter"/>
              <a:ea typeface="Inter"/>
              <a:cs typeface="Inter"/>
              <a:sym typeface="Inter"/>
            </a:endParaRPr>
          </a:p>
        </p:txBody>
      </p:sp>
      <p:sp>
        <p:nvSpPr>
          <p:cNvPr id="284" name="Google Shape;284;p10"/>
          <p:cNvSpPr/>
          <p:nvPr/>
        </p:nvSpPr>
        <p:spPr>
          <a:xfrm>
            <a:off x="8005214" y="1531578"/>
            <a:ext cx="3361294" cy="1313781"/>
          </a:xfrm>
          <a:prstGeom prst="roundRect">
            <a:avLst>
              <a:gd fmla="val 10633" name="adj"/>
            </a:avLst>
          </a:prstGeom>
          <a:solidFill>
            <a:srgbClr val="F4F6FB"/>
          </a:solidFill>
          <a:ln cap="flat" cmpd="sng" w="25400">
            <a:solidFill>
              <a:srgbClr val="F2A9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8244263" y="1719858"/>
            <a:ext cx="2969690" cy="482617"/>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7A5200"/>
              </a:buClr>
              <a:buSzPts val="3600"/>
              <a:buFont typeface="Caladea"/>
              <a:buNone/>
            </a:pPr>
            <a:r>
              <a:rPr b="1" i="0" lang="en-US" sz="3600" u="none" cap="none" strike="noStrike">
                <a:solidFill>
                  <a:srgbClr val="7A5200"/>
                </a:solidFill>
                <a:latin typeface="Caladea"/>
                <a:ea typeface="Caladea"/>
                <a:cs typeface="Caladea"/>
                <a:sym typeface="Caladea"/>
              </a:rPr>
              <a:t>TBD</a:t>
            </a:r>
            <a:endParaRPr b="0" i="0" sz="3600" u="none" cap="none" strike="noStrike">
              <a:solidFill>
                <a:schemeClr val="dk1"/>
              </a:solidFill>
              <a:latin typeface="Inter"/>
              <a:ea typeface="Inter"/>
              <a:cs typeface="Inter"/>
              <a:sym typeface="Inter"/>
            </a:endParaRPr>
          </a:p>
        </p:txBody>
      </p:sp>
      <p:sp>
        <p:nvSpPr>
          <p:cNvPr id="286" name="Google Shape;286;p10"/>
          <p:cNvSpPr/>
          <p:nvPr/>
        </p:nvSpPr>
        <p:spPr>
          <a:xfrm>
            <a:off x="8244263" y="2227845"/>
            <a:ext cx="2969690" cy="240015"/>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seconds typical per answer</a:t>
            </a:r>
            <a:endParaRPr b="0" i="0" sz="1300" u="none" cap="none" strike="noStrike">
              <a:solidFill>
                <a:schemeClr val="dk1"/>
              </a:solidFill>
              <a:latin typeface="Inter"/>
              <a:ea typeface="Inter"/>
              <a:cs typeface="Inter"/>
              <a:sym typeface="Inter"/>
            </a:endParaRPr>
          </a:p>
        </p:txBody>
      </p:sp>
      <p:sp>
        <p:nvSpPr>
          <p:cNvPr id="287" name="Google Shape;287;p10"/>
          <p:cNvSpPr/>
          <p:nvPr/>
        </p:nvSpPr>
        <p:spPr>
          <a:xfrm>
            <a:off x="812765" y="3112027"/>
            <a:ext cx="5406628" cy="2729988"/>
          </a:xfrm>
          <a:prstGeom prst="roundRect">
            <a:avLst>
              <a:gd fmla="val 5582"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a:off x="1041328" y="3289821"/>
            <a:ext cx="5097987" cy="23874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Test set mix (30 items)</a:t>
            </a:r>
            <a:endParaRPr b="0" i="0" sz="1400" u="none" cap="none" strike="noStrike">
              <a:solidFill>
                <a:schemeClr val="dk1"/>
              </a:solidFill>
              <a:latin typeface="Inter"/>
              <a:ea typeface="Inter"/>
              <a:cs typeface="Inter"/>
              <a:sym typeface="Inter"/>
            </a:endParaRPr>
          </a:p>
        </p:txBody>
      </p:sp>
      <p:sp>
        <p:nvSpPr>
          <p:cNvPr id="289" name="Google Shape;289;p10"/>
          <p:cNvSpPr/>
          <p:nvPr/>
        </p:nvSpPr>
        <p:spPr>
          <a:xfrm>
            <a:off x="1041328" y="3579341"/>
            <a:ext cx="1384274"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Signage</a:t>
            </a:r>
            <a:endParaRPr b="0" i="0" sz="1300" u="none" cap="none" strike="noStrike">
              <a:solidFill>
                <a:schemeClr val="dk1"/>
              </a:solidFill>
              <a:latin typeface="Inter"/>
              <a:ea typeface="Inter"/>
              <a:cs typeface="Inter"/>
              <a:sym typeface="Inter"/>
            </a:endParaRPr>
          </a:p>
        </p:txBody>
      </p:sp>
      <p:sp>
        <p:nvSpPr>
          <p:cNvPr id="290" name="Google Shape;290;p10"/>
          <p:cNvSpPr/>
          <p:nvPr/>
        </p:nvSpPr>
        <p:spPr>
          <a:xfrm>
            <a:off x="2476381" y="3586950"/>
            <a:ext cx="2285995" cy="215883"/>
          </a:xfrm>
          <a:prstGeom prst="roundRect">
            <a:avLst>
              <a:gd fmla="val 1764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0"/>
          <p:cNvSpPr/>
          <p:nvPr/>
        </p:nvSpPr>
        <p:spPr>
          <a:xfrm>
            <a:off x="4863955" y="3579341"/>
            <a:ext cx="158311"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8</a:t>
            </a:r>
            <a:endParaRPr b="0" i="0" sz="1300" u="none" cap="none" strike="noStrike">
              <a:solidFill>
                <a:schemeClr val="dk1"/>
              </a:solidFill>
              <a:latin typeface="Inter"/>
              <a:ea typeface="Inter"/>
              <a:cs typeface="Inter"/>
              <a:sym typeface="Inter"/>
            </a:endParaRPr>
          </a:p>
        </p:txBody>
      </p:sp>
      <p:sp>
        <p:nvSpPr>
          <p:cNvPr id="292" name="Google Shape;292;p10"/>
          <p:cNvSpPr/>
          <p:nvPr/>
        </p:nvSpPr>
        <p:spPr>
          <a:xfrm>
            <a:off x="1041328" y="3886659"/>
            <a:ext cx="1384274"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Hazard</a:t>
            </a:r>
            <a:endParaRPr b="0" i="0" sz="1300" u="none" cap="none" strike="noStrike">
              <a:solidFill>
                <a:schemeClr val="dk1"/>
              </a:solidFill>
              <a:latin typeface="Inter"/>
              <a:ea typeface="Inter"/>
              <a:cs typeface="Inter"/>
              <a:sym typeface="Inter"/>
            </a:endParaRPr>
          </a:p>
        </p:txBody>
      </p:sp>
      <p:sp>
        <p:nvSpPr>
          <p:cNvPr id="293" name="Google Shape;293;p10"/>
          <p:cNvSpPr/>
          <p:nvPr/>
        </p:nvSpPr>
        <p:spPr>
          <a:xfrm>
            <a:off x="2476381" y="3894268"/>
            <a:ext cx="1714473" cy="215883"/>
          </a:xfrm>
          <a:prstGeom prst="roundRect">
            <a:avLst>
              <a:gd fmla="val 1764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4292433" y="3886659"/>
            <a:ext cx="158085"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6</a:t>
            </a:r>
            <a:endParaRPr b="0" i="0" sz="1300" u="none" cap="none" strike="noStrike">
              <a:solidFill>
                <a:schemeClr val="dk1"/>
              </a:solidFill>
              <a:latin typeface="Inter"/>
              <a:ea typeface="Inter"/>
              <a:cs typeface="Inter"/>
              <a:sym typeface="Inter"/>
            </a:endParaRPr>
          </a:p>
        </p:txBody>
      </p:sp>
      <p:sp>
        <p:nvSpPr>
          <p:cNvPr id="295" name="Google Shape;295;p10"/>
          <p:cNvSpPr/>
          <p:nvPr/>
        </p:nvSpPr>
        <p:spPr>
          <a:xfrm>
            <a:off x="1041328" y="4193977"/>
            <a:ext cx="1384274"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Document</a:t>
            </a:r>
            <a:endParaRPr b="0" i="0" sz="1300" u="none" cap="none" strike="noStrike">
              <a:solidFill>
                <a:schemeClr val="dk1"/>
              </a:solidFill>
              <a:latin typeface="Inter"/>
              <a:ea typeface="Inter"/>
              <a:cs typeface="Inter"/>
              <a:sym typeface="Inter"/>
            </a:endParaRPr>
          </a:p>
        </p:txBody>
      </p:sp>
      <p:sp>
        <p:nvSpPr>
          <p:cNvPr id="296" name="Google Shape;296;p10"/>
          <p:cNvSpPr/>
          <p:nvPr/>
        </p:nvSpPr>
        <p:spPr>
          <a:xfrm>
            <a:off x="2476381" y="4201585"/>
            <a:ext cx="1428713" cy="215883"/>
          </a:xfrm>
          <a:prstGeom prst="roundRect">
            <a:avLst>
              <a:gd fmla="val 1764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4006672" y="4193977"/>
            <a:ext cx="153511"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5</a:t>
            </a:r>
            <a:endParaRPr b="0" i="0" sz="1300" u="none" cap="none" strike="noStrike">
              <a:solidFill>
                <a:schemeClr val="dk1"/>
              </a:solidFill>
              <a:latin typeface="Inter"/>
              <a:ea typeface="Inter"/>
              <a:cs typeface="Inter"/>
              <a:sym typeface="Inter"/>
            </a:endParaRPr>
          </a:p>
        </p:txBody>
      </p:sp>
      <p:sp>
        <p:nvSpPr>
          <p:cNvPr id="298" name="Google Shape;298;p10"/>
          <p:cNvSpPr/>
          <p:nvPr/>
        </p:nvSpPr>
        <p:spPr>
          <a:xfrm>
            <a:off x="1041328" y="4501294"/>
            <a:ext cx="1384274"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Medication</a:t>
            </a:r>
            <a:endParaRPr b="0" i="0" sz="1300" u="none" cap="none" strike="noStrike">
              <a:solidFill>
                <a:schemeClr val="dk1"/>
              </a:solidFill>
              <a:latin typeface="Inter"/>
              <a:ea typeface="Inter"/>
              <a:cs typeface="Inter"/>
              <a:sym typeface="Inter"/>
            </a:endParaRPr>
          </a:p>
        </p:txBody>
      </p:sp>
      <p:sp>
        <p:nvSpPr>
          <p:cNvPr id="299" name="Google Shape;299;p10"/>
          <p:cNvSpPr/>
          <p:nvPr/>
        </p:nvSpPr>
        <p:spPr>
          <a:xfrm>
            <a:off x="2476381" y="4508903"/>
            <a:ext cx="1142997" cy="215883"/>
          </a:xfrm>
          <a:prstGeom prst="roundRect">
            <a:avLst>
              <a:gd fmla="val 1764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3720957" y="4501294"/>
            <a:ext cx="162478"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4</a:t>
            </a:r>
            <a:endParaRPr b="0" i="0" sz="1300" u="none" cap="none" strike="noStrike">
              <a:solidFill>
                <a:schemeClr val="dk1"/>
              </a:solidFill>
              <a:latin typeface="Inter"/>
              <a:ea typeface="Inter"/>
              <a:cs typeface="Inter"/>
              <a:sym typeface="Inter"/>
            </a:endParaRPr>
          </a:p>
        </p:txBody>
      </p:sp>
      <p:sp>
        <p:nvSpPr>
          <p:cNvPr id="301" name="Google Shape;301;p10"/>
          <p:cNvSpPr/>
          <p:nvPr/>
        </p:nvSpPr>
        <p:spPr>
          <a:xfrm>
            <a:off x="1041328" y="4808612"/>
            <a:ext cx="1384274"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Label</a:t>
            </a:r>
            <a:endParaRPr b="0" i="0" sz="1300" u="none" cap="none" strike="noStrike">
              <a:solidFill>
                <a:schemeClr val="dk1"/>
              </a:solidFill>
              <a:latin typeface="Inter"/>
              <a:ea typeface="Inter"/>
              <a:cs typeface="Inter"/>
              <a:sym typeface="Inter"/>
            </a:endParaRPr>
          </a:p>
        </p:txBody>
      </p:sp>
      <p:sp>
        <p:nvSpPr>
          <p:cNvPr id="302" name="Google Shape;302;p10"/>
          <p:cNvSpPr/>
          <p:nvPr/>
        </p:nvSpPr>
        <p:spPr>
          <a:xfrm>
            <a:off x="2476381" y="4816221"/>
            <a:ext cx="1142997" cy="215883"/>
          </a:xfrm>
          <a:prstGeom prst="roundRect">
            <a:avLst>
              <a:gd fmla="val 1764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3720957" y="4808612"/>
            <a:ext cx="162478"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4</a:t>
            </a:r>
            <a:endParaRPr b="0" i="0" sz="1300" u="none" cap="none" strike="noStrike">
              <a:solidFill>
                <a:schemeClr val="dk1"/>
              </a:solidFill>
              <a:latin typeface="Inter"/>
              <a:ea typeface="Inter"/>
              <a:cs typeface="Inter"/>
              <a:sym typeface="Inter"/>
            </a:endParaRPr>
          </a:p>
        </p:txBody>
      </p:sp>
      <p:sp>
        <p:nvSpPr>
          <p:cNvPr id="304" name="Google Shape;304;p10"/>
          <p:cNvSpPr/>
          <p:nvPr/>
        </p:nvSpPr>
        <p:spPr>
          <a:xfrm>
            <a:off x="1041328" y="5115930"/>
            <a:ext cx="1384274"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Unanswerable</a:t>
            </a:r>
            <a:endParaRPr b="0" i="0" sz="1300" u="none" cap="none" strike="noStrike">
              <a:solidFill>
                <a:schemeClr val="dk1"/>
              </a:solidFill>
              <a:latin typeface="Inter"/>
              <a:ea typeface="Inter"/>
              <a:cs typeface="Inter"/>
              <a:sym typeface="Inter"/>
            </a:endParaRPr>
          </a:p>
        </p:txBody>
      </p:sp>
      <p:sp>
        <p:nvSpPr>
          <p:cNvPr id="305" name="Google Shape;305;p10"/>
          <p:cNvSpPr/>
          <p:nvPr/>
        </p:nvSpPr>
        <p:spPr>
          <a:xfrm>
            <a:off x="2476381" y="5123538"/>
            <a:ext cx="857237" cy="215883"/>
          </a:xfrm>
          <a:prstGeom prst="roundRect">
            <a:avLst>
              <a:gd fmla="val 17648"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0"/>
          <p:cNvSpPr/>
          <p:nvPr/>
        </p:nvSpPr>
        <p:spPr>
          <a:xfrm>
            <a:off x="3435197" y="5115930"/>
            <a:ext cx="157360" cy="25654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3</a:t>
            </a:r>
            <a:endParaRPr b="0" i="0" sz="1300" u="none" cap="none" strike="noStrike">
              <a:solidFill>
                <a:schemeClr val="dk1"/>
              </a:solidFill>
              <a:latin typeface="Inter"/>
              <a:ea typeface="Inter"/>
              <a:cs typeface="Inter"/>
              <a:sym typeface="Inter"/>
            </a:endParaRPr>
          </a:p>
        </p:txBody>
      </p:sp>
      <p:sp>
        <p:nvSpPr>
          <p:cNvPr id="307" name="Google Shape;307;p10"/>
          <p:cNvSpPr/>
          <p:nvPr/>
        </p:nvSpPr>
        <p:spPr>
          <a:xfrm>
            <a:off x="6422551" y="3112027"/>
            <a:ext cx="4956657" cy="2729988"/>
          </a:xfrm>
          <a:prstGeom prst="roundRect">
            <a:avLst>
              <a:gd fmla="val 5582"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p:nvPr/>
        </p:nvSpPr>
        <p:spPr>
          <a:xfrm>
            <a:off x="6651113" y="3289821"/>
            <a:ext cx="4634517" cy="238747"/>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How we tested</a:t>
            </a:r>
            <a:endParaRPr b="0" i="0" sz="1400" u="none" cap="none" strike="noStrike">
              <a:solidFill>
                <a:schemeClr val="dk1"/>
              </a:solidFill>
              <a:latin typeface="Inter"/>
              <a:ea typeface="Inter"/>
              <a:cs typeface="Inter"/>
              <a:sym typeface="Inter"/>
            </a:endParaRPr>
          </a:p>
        </p:txBody>
      </p:sp>
      <p:sp>
        <p:nvSpPr>
          <p:cNvPr id="309" name="Google Shape;309;p10"/>
          <p:cNvSpPr/>
          <p:nvPr/>
        </p:nvSpPr>
        <p:spPr>
          <a:xfrm>
            <a:off x="6735695" y="3579341"/>
            <a:ext cx="4542315" cy="1314267"/>
          </a:xfrm>
          <a:prstGeom prst="rect">
            <a:avLst/>
          </a:prstGeom>
          <a:noFill/>
          <a:ln>
            <a:noFill/>
          </a:ln>
        </p:spPr>
        <p:txBody>
          <a:bodyPr anchorCtr="0" anchor="t" bIns="0" lIns="0" spcFirstLastPara="1" rIns="0" wrap="square" tIns="0">
            <a:normAutofit/>
          </a:bodyPr>
          <a:lstStyle/>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30 test items, run once</a:t>
            </a:r>
            <a:endParaRPr b="0" i="0" sz="1400" u="none" cap="none" strike="noStrike">
              <a:solidFill>
                <a:schemeClr val="dk1"/>
              </a:solidFill>
              <a:latin typeface="Inter"/>
              <a:ea typeface="Inter"/>
              <a:cs typeface="Inter"/>
              <a:sym typeface="Inter"/>
            </a:endParaRPr>
          </a:p>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12 separate items for tuning</a:t>
            </a:r>
            <a:endParaRPr b="0" i="0" sz="1400" u="none" cap="none" strike="noStrike">
              <a:solidFill>
                <a:schemeClr val="dk1"/>
              </a:solidFill>
              <a:latin typeface="Inter"/>
              <a:ea typeface="Inter"/>
              <a:cs typeface="Inter"/>
              <a:sym typeface="Inter"/>
            </a:endParaRPr>
          </a:p>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Cost: a confident wrong medicine answer = 20, a hedged miss on a low-risk item = 1</a:t>
            </a:r>
            <a:endParaRPr b="0" i="0" sz="1400" u="none" cap="none" strike="noStrike">
              <a:solidFill>
                <a:schemeClr val="dk1"/>
              </a:solidFill>
              <a:latin typeface="Inter"/>
              <a:ea typeface="Inter"/>
              <a:cs typeface="Inter"/>
              <a:sym typeface="Inter"/>
            </a:endParaRPr>
          </a:p>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Every grade checked against the photo</a:t>
            </a:r>
            <a:endParaRPr b="0" i="0" sz="1400" u="none" cap="none" strike="noStrike">
              <a:solidFill>
                <a:schemeClr val="dk1"/>
              </a:solidFill>
              <a:latin typeface="Inter"/>
              <a:ea typeface="Inter"/>
              <a:cs typeface="Inter"/>
              <a:sym typeface="Inter"/>
            </a:endParaRPr>
          </a:p>
        </p:txBody>
      </p:sp>
      <p:sp>
        <p:nvSpPr>
          <p:cNvPr id="310" name="Google Shape;310;p10"/>
          <p:cNvSpPr/>
          <p:nvPr/>
        </p:nvSpPr>
        <p:spPr>
          <a:xfrm>
            <a:off x="812765" y="6238273"/>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311" name="Google Shape;311;p10"/>
          <p:cNvSpPr/>
          <p:nvPr/>
        </p:nvSpPr>
        <p:spPr>
          <a:xfrm>
            <a:off x="5581345" y="6238273"/>
            <a:ext cx="1953897"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[Member 2]</a:t>
            </a:r>
            <a:endParaRPr b="0" i="0" sz="1200" u="none" cap="none" strike="noStrike">
              <a:solidFill>
                <a:schemeClr val="dk1"/>
              </a:solidFill>
              <a:latin typeface="Inter"/>
              <a:ea typeface="Inter"/>
              <a:cs typeface="Inter"/>
              <a:sym typeface="Inter"/>
            </a:endParaRPr>
          </a:p>
        </p:txBody>
      </p:sp>
      <p:sp>
        <p:nvSpPr>
          <p:cNvPr id="312" name="Google Shape;312;p10"/>
          <p:cNvSpPr/>
          <p:nvPr/>
        </p:nvSpPr>
        <p:spPr>
          <a:xfrm>
            <a:off x="11170265" y="6238273"/>
            <a:ext cx="208942"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10</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11"/>
          <p:cNvSpPr txBox="1"/>
          <p:nvPr>
            <p:ph type="title"/>
          </p:nvPr>
        </p:nvSpPr>
        <p:spPr>
          <a:xfrm>
            <a:off x="812765" y="762000"/>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Failures we found and what we learned</a:t>
            </a:r>
            <a:endParaRPr sz="3600"/>
          </a:p>
        </p:txBody>
      </p:sp>
      <p:sp>
        <p:nvSpPr>
          <p:cNvPr id="319" name="Google Shape;319;p11"/>
          <p:cNvSpPr/>
          <p:nvPr/>
        </p:nvSpPr>
        <p:spPr>
          <a:xfrm>
            <a:off x="812765" y="1518878"/>
            <a:ext cx="5207003" cy="1395110"/>
          </a:xfrm>
          <a:prstGeom prst="roundRect">
            <a:avLst>
              <a:gd fmla="val 10924"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1015922" y="1696678"/>
            <a:ext cx="431766" cy="431766"/>
          </a:xfrm>
          <a:prstGeom prst="roundRect">
            <a:avLst>
              <a:gd fmla="val 50000" name="adj"/>
            </a:avLst>
          </a:prstGeom>
          <a:solidFill>
            <a:srgbClr val="8C2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321" name="Google Shape;321;p11"/>
          <p:cNvPicPr preferRelativeResize="0"/>
          <p:nvPr/>
        </p:nvPicPr>
        <p:blipFill rotWithShape="1">
          <a:blip r:embed="rId3">
            <a:alphaModFix/>
          </a:blip>
          <a:srcRect b="0" l="0" r="0" t="0"/>
          <a:stretch/>
        </p:blipFill>
        <p:spPr>
          <a:xfrm>
            <a:off x="1117501" y="1798253"/>
            <a:ext cx="228563" cy="228563"/>
          </a:xfrm>
          <a:prstGeom prst="rect">
            <a:avLst/>
          </a:prstGeom>
          <a:noFill/>
          <a:ln>
            <a:noFill/>
          </a:ln>
        </p:spPr>
      </p:pic>
      <p:sp>
        <p:nvSpPr>
          <p:cNvPr id="322" name="Google Shape;322;p11"/>
          <p:cNvSpPr/>
          <p:nvPr/>
        </p:nvSpPr>
        <p:spPr>
          <a:xfrm>
            <a:off x="1600079" y="1696678"/>
            <a:ext cx="4343029" cy="26922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C2D00"/>
              </a:buClr>
              <a:buSzPts val="1600"/>
              <a:buFont typeface="Inter"/>
              <a:buNone/>
            </a:pPr>
            <a:r>
              <a:rPr b="1" i="0" lang="en-US" sz="1600" u="none" cap="none" strike="noStrike">
                <a:solidFill>
                  <a:srgbClr val="8C2D00"/>
                </a:solidFill>
                <a:latin typeface="Inter"/>
                <a:ea typeface="Inter"/>
                <a:cs typeface="Inter"/>
                <a:sym typeface="Inter"/>
              </a:rPr>
              <a:t>Invented meaning</a:t>
            </a:r>
            <a:endParaRPr b="0" i="0" sz="1600" u="none" cap="none" strike="noStrike">
              <a:solidFill>
                <a:schemeClr val="dk1"/>
              </a:solidFill>
              <a:latin typeface="Inter"/>
              <a:ea typeface="Inter"/>
              <a:cs typeface="Inter"/>
              <a:sym typeface="Inter"/>
            </a:endParaRPr>
          </a:p>
        </p:txBody>
      </p:sp>
      <p:sp>
        <p:nvSpPr>
          <p:cNvPr id="323" name="Google Shape;323;p11"/>
          <p:cNvSpPr/>
          <p:nvPr/>
        </p:nvSpPr>
        <p:spPr>
          <a:xfrm>
            <a:off x="1600079" y="2003996"/>
            <a:ext cx="4343029" cy="47120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Read a blurry Startup Repair screen as a password prompt, with high confidence.</a:t>
            </a:r>
            <a:endParaRPr b="0" i="0" sz="1300" u="none" cap="none" strike="noStrike">
              <a:solidFill>
                <a:schemeClr val="dk1"/>
              </a:solidFill>
              <a:latin typeface="Inter"/>
              <a:ea typeface="Inter"/>
              <a:cs typeface="Inter"/>
              <a:sym typeface="Inter"/>
            </a:endParaRPr>
          </a:p>
        </p:txBody>
      </p:sp>
      <p:sp>
        <p:nvSpPr>
          <p:cNvPr id="324" name="Google Shape;324;p11"/>
          <p:cNvSpPr/>
          <p:nvPr/>
        </p:nvSpPr>
        <p:spPr>
          <a:xfrm>
            <a:off x="1600079" y="2513292"/>
            <a:ext cx="4343029" cy="24830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Fix:</a:t>
            </a:r>
            <a:r>
              <a:rPr b="0" i="0" lang="en-US" sz="1300" u="none" cap="none" strike="noStrike">
                <a:solidFill>
                  <a:srgbClr val="0E1A45"/>
                </a:solidFill>
                <a:latin typeface="Inter"/>
                <a:ea typeface="Inter"/>
                <a:cs typeface="Inter"/>
                <a:sym typeface="Inter"/>
              </a:rPr>
              <a:t> describe only what is readable.</a:t>
            </a:r>
            <a:endParaRPr b="0" i="0" sz="1300" u="none" cap="none" strike="noStrike">
              <a:solidFill>
                <a:schemeClr val="dk1"/>
              </a:solidFill>
              <a:latin typeface="Inter"/>
              <a:ea typeface="Inter"/>
              <a:cs typeface="Inter"/>
              <a:sym typeface="Inter"/>
            </a:endParaRPr>
          </a:p>
        </p:txBody>
      </p:sp>
      <p:sp>
        <p:nvSpPr>
          <p:cNvPr id="325" name="Google Shape;325;p11"/>
          <p:cNvSpPr/>
          <p:nvPr/>
        </p:nvSpPr>
        <p:spPr>
          <a:xfrm>
            <a:off x="6172159" y="1518878"/>
            <a:ext cx="5207049" cy="1395110"/>
          </a:xfrm>
          <a:prstGeom prst="roundRect">
            <a:avLst>
              <a:gd fmla="val 10924"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6375316" y="1696678"/>
            <a:ext cx="431766" cy="431766"/>
          </a:xfrm>
          <a:prstGeom prst="roundRect">
            <a:avLst>
              <a:gd fmla="val 50000" name="adj"/>
            </a:avLst>
          </a:prstGeom>
          <a:solidFill>
            <a:srgbClr val="8C2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nk" id="327" name="Google Shape;327;p11"/>
          <p:cNvPicPr preferRelativeResize="0"/>
          <p:nvPr/>
        </p:nvPicPr>
        <p:blipFill rotWithShape="1">
          <a:blip r:embed="rId4">
            <a:alphaModFix/>
          </a:blip>
          <a:srcRect b="0" l="0" r="0" t="0"/>
          <a:stretch/>
        </p:blipFill>
        <p:spPr>
          <a:xfrm>
            <a:off x="6476895" y="1798253"/>
            <a:ext cx="228563" cy="228563"/>
          </a:xfrm>
          <a:prstGeom prst="rect">
            <a:avLst/>
          </a:prstGeom>
          <a:noFill/>
          <a:ln>
            <a:noFill/>
          </a:ln>
        </p:spPr>
      </p:pic>
      <p:sp>
        <p:nvSpPr>
          <p:cNvPr id="328" name="Google Shape;328;p11"/>
          <p:cNvSpPr/>
          <p:nvPr/>
        </p:nvSpPr>
        <p:spPr>
          <a:xfrm>
            <a:off x="6959473" y="1696678"/>
            <a:ext cx="4343075" cy="26922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C2D00"/>
              </a:buClr>
              <a:buSzPts val="1600"/>
              <a:buFont typeface="Inter"/>
              <a:buNone/>
            </a:pPr>
            <a:r>
              <a:rPr b="1" i="0" lang="en-US" sz="1600" u="none" cap="none" strike="noStrike">
                <a:solidFill>
                  <a:srgbClr val="8C2D00"/>
                </a:solidFill>
                <a:latin typeface="Inter"/>
                <a:ea typeface="Inter"/>
                <a:cs typeface="Inter"/>
                <a:sym typeface="Inter"/>
              </a:rPr>
              <a:t>Cache leak</a:t>
            </a:r>
            <a:endParaRPr b="0" i="0" sz="1600" u="none" cap="none" strike="noStrike">
              <a:solidFill>
                <a:schemeClr val="dk1"/>
              </a:solidFill>
              <a:latin typeface="Inter"/>
              <a:ea typeface="Inter"/>
              <a:cs typeface="Inter"/>
              <a:sym typeface="Inter"/>
            </a:endParaRPr>
          </a:p>
        </p:txBody>
      </p:sp>
      <p:sp>
        <p:nvSpPr>
          <p:cNvPr id="329" name="Google Shape;329;p11"/>
          <p:cNvSpPr/>
          <p:nvPr/>
        </p:nvSpPr>
        <p:spPr>
          <a:xfrm>
            <a:off x="6959473" y="2003996"/>
            <a:ext cx="4343075" cy="47120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One photo’s content showed up in the next photo’s answer.</a:t>
            </a:r>
            <a:endParaRPr b="0" i="0" sz="1300" u="none" cap="none" strike="noStrike">
              <a:solidFill>
                <a:schemeClr val="dk1"/>
              </a:solidFill>
              <a:latin typeface="Inter"/>
              <a:ea typeface="Inter"/>
              <a:cs typeface="Inter"/>
              <a:sym typeface="Inter"/>
            </a:endParaRPr>
          </a:p>
        </p:txBody>
      </p:sp>
      <p:sp>
        <p:nvSpPr>
          <p:cNvPr id="330" name="Google Shape;330;p11"/>
          <p:cNvSpPr/>
          <p:nvPr/>
        </p:nvSpPr>
        <p:spPr>
          <a:xfrm>
            <a:off x="6959473" y="2513292"/>
            <a:ext cx="4343075" cy="24830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Fix:</a:t>
            </a:r>
            <a:r>
              <a:rPr b="0" i="0" lang="en-US" sz="1300" u="none" cap="none" strike="noStrike">
                <a:solidFill>
                  <a:srgbClr val="0E1A45"/>
                </a:solidFill>
                <a:latin typeface="Inter"/>
                <a:ea typeface="Inter"/>
                <a:cs typeface="Inter"/>
                <a:sym typeface="Inter"/>
              </a:rPr>
              <a:t> a separate id for each conversation.</a:t>
            </a:r>
            <a:endParaRPr b="0" i="0" sz="1300" u="none" cap="none" strike="noStrike">
              <a:solidFill>
                <a:schemeClr val="dk1"/>
              </a:solidFill>
              <a:latin typeface="Inter"/>
              <a:ea typeface="Inter"/>
              <a:cs typeface="Inter"/>
              <a:sym typeface="Inter"/>
            </a:endParaRPr>
          </a:p>
        </p:txBody>
      </p:sp>
      <p:sp>
        <p:nvSpPr>
          <p:cNvPr id="331" name="Google Shape;331;p11"/>
          <p:cNvSpPr/>
          <p:nvPr/>
        </p:nvSpPr>
        <p:spPr>
          <a:xfrm>
            <a:off x="812765" y="3066380"/>
            <a:ext cx="5207003" cy="1395110"/>
          </a:xfrm>
          <a:prstGeom prst="roundRect">
            <a:avLst>
              <a:gd fmla="val 10924"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1015922" y="3244180"/>
            <a:ext cx="431766" cy="431766"/>
          </a:xfrm>
          <a:prstGeom prst="roundRect">
            <a:avLst>
              <a:gd fmla="val 50000" name="adj"/>
            </a:avLst>
          </a:prstGeom>
          <a:solidFill>
            <a:srgbClr val="8C2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333" name="Google Shape;333;p11"/>
          <p:cNvPicPr preferRelativeResize="0"/>
          <p:nvPr/>
        </p:nvPicPr>
        <p:blipFill rotWithShape="1">
          <a:blip r:embed="rId5">
            <a:alphaModFix/>
          </a:blip>
          <a:srcRect b="0" l="0" r="0" t="0"/>
          <a:stretch/>
        </p:blipFill>
        <p:spPr>
          <a:xfrm>
            <a:off x="1117501" y="3345755"/>
            <a:ext cx="228563" cy="228563"/>
          </a:xfrm>
          <a:prstGeom prst="rect">
            <a:avLst/>
          </a:prstGeom>
          <a:noFill/>
          <a:ln>
            <a:noFill/>
          </a:ln>
        </p:spPr>
      </p:pic>
      <p:sp>
        <p:nvSpPr>
          <p:cNvPr id="334" name="Google Shape;334;p11"/>
          <p:cNvSpPr/>
          <p:nvPr/>
        </p:nvSpPr>
        <p:spPr>
          <a:xfrm>
            <a:off x="1600079" y="3244180"/>
            <a:ext cx="4343029" cy="26922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C2D00"/>
              </a:buClr>
              <a:buSzPts val="1600"/>
              <a:buFont typeface="Inter"/>
              <a:buNone/>
            </a:pPr>
            <a:r>
              <a:rPr b="1" i="0" lang="en-US" sz="1600" u="none" cap="none" strike="noStrike">
                <a:solidFill>
                  <a:srgbClr val="8C2D00"/>
                </a:solidFill>
                <a:latin typeface="Inter"/>
                <a:ea typeface="Inter"/>
                <a:cs typeface="Inter"/>
                <a:sym typeface="Inter"/>
              </a:rPr>
              <a:t>Gate too strict</a:t>
            </a:r>
            <a:endParaRPr b="0" i="0" sz="1600" u="none" cap="none" strike="noStrike">
              <a:solidFill>
                <a:schemeClr val="dk1"/>
              </a:solidFill>
              <a:latin typeface="Inter"/>
              <a:ea typeface="Inter"/>
              <a:cs typeface="Inter"/>
              <a:sym typeface="Inter"/>
            </a:endParaRPr>
          </a:p>
        </p:txBody>
      </p:sp>
      <p:sp>
        <p:nvSpPr>
          <p:cNvPr id="335" name="Google Shape;335;p11"/>
          <p:cNvSpPr/>
          <p:nvPr/>
        </p:nvSpPr>
        <p:spPr>
          <a:xfrm>
            <a:off x="1600079" y="3551492"/>
            <a:ext cx="4343029" cy="24830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Blocked a readable braille photo as blurry.</a:t>
            </a:r>
            <a:endParaRPr b="0" i="0" sz="1300" u="none" cap="none" strike="noStrike">
              <a:solidFill>
                <a:schemeClr val="dk1"/>
              </a:solidFill>
              <a:latin typeface="Inter"/>
              <a:ea typeface="Inter"/>
              <a:cs typeface="Inter"/>
              <a:sym typeface="Inter"/>
            </a:endParaRPr>
          </a:p>
        </p:txBody>
      </p:sp>
      <p:sp>
        <p:nvSpPr>
          <p:cNvPr id="336" name="Google Shape;336;p11"/>
          <p:cNvSpPr/>
          <p:nvPr/>
        </p:nvSpPr>
        <p:spPr>
          <a:xfrm>
            <a:off x="1600079" y="3837887"/>
            <a:ext cx="4343029" cy="24830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Lesson:</a:t>
            </a:r>
            <a:r>
              <a:rPr b="0" i="0" lang="en-US" sz="1300" u="none" cap="none" strike="noStrike">
                <a:solidFill>
                  <a:srgbClr val="0E1A45"/>
                </a:solidFill>
                <a:latin typeface="Inter"/>
                <a:ea typeface="Inter"/>
                <a:cs typeface="Inter"/>
                <a:sym typeface="Inter"/>
              </a:rPr>
              <a:t> flat textures fool a sharpness test.</a:t>
            </a:r>
            <a:endParaRPr b="0" i="0" sz="1300" u="none" cap="none" strike="noStrike">
              <a:solidFill>
                <a:schemeClr val="dk1"/>
              </a:solidFill>
              <a:latin typeface="Inter"/>
              <a:ea typeface="Inter"/>
              <a:cs typeface="Inter"/>
              <a:sym typeface="Inter"/>
            </a:endParaRPr>
          </a:p>
        </p:txBody>
      </p:sp>
      <p:sp>
        <p:nvSpPr>
          <p:cNvPr id="337" name="Google Shape;337;p11"/>
          <p:cNvSpPr/>
          <p:nvPr/>
        </p:nvSpPr>
        <p:spPr>
          <a:xfrm>
            <a:off x="6172159" y="3066380"/>
            <a:ext cx="5207049" cy="1395110"/>
          </a:xfrm>
          <a:prstGeom prst="roundRect">
            <a:avLst>
              <a:gd fmla="val 10924"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6375316" y="3244180"/>
            <a:ext cx="431766" cy="431766"/>
          </a:xfrm>
          <a:prstGeom prst="roundRect">
            <a:avLst>
              <a:gd fmla="val 50000" name="adj"/>
            </a:avLst>
          </a:prstGeom>
          <a:solidFill>
            <a:srgbClr val="8C2D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339" name="Google Shape;339;p11"/>
          <p:cNvPicPr preferRelativeResize="0"/>
          <p:nvPr/>
        </p:nvPicPr>
        <p:blipFill rotWithShape="1">
          <a:blip r:embed="rId6">
            <a:alphaModFix/>
          </a:blip>
          <a:srcRect b="0" l="0" r="0" t="0"/>
          <a:stretch/>
        </p:blipFill>
        <p:spPr>
          <a:xfrm>
            <a:off x="6476895" y="3345755"/>
            <a:ext cx="228563" cy="228563"/>
          </a:xfrm>
          <a:prstGeom prst="rect">
            <a:avLst/>
          </a:prstGeom>
          <a:noFill/>
          <a:ln>
            <a:noFill/>
          </a:ln>
        </p:spPr>
      </p:pic>
      <p:sp>
        <p:nvSpPr>
          <p:cNvPr id="340" name="Google Shape;340;p11"/>
          <p:cNvSpPr/>
          <p:nvPr/>
        </p:nvSpPr>
        <p:spPr>
          <a:xfrm>
            <a:off x="6959473" y="3244180"/>
            <a:ext cx="4343075" cy="269225"/>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C2D00"/>
              </a:buClr>
              <a:buSzPts val="1600"/>
              <a:buFont typeface="Inter"/>
              <a:buNone/>
            </a:pPr>
            <a:r>
              <a:rPr b="1" i="0" lang="en-US" sz="1600" u="none" cap="none" strike="noStrike">
                <a:solidFill>
                  <a:srgbClr val="8C2D00"/>
                </a:solidFill>
                <a:latin typeface="Inter"/>
                <a:ea typeface="Inter"/>
                <a:cs typeface="Inter"/>
                <a:sym typeface="Inter"/>
              </a:rPr>
              <a:t>Grader error</a:t>
            </a:r>
            <a:endParaRPr b="0" i="0" sz="1600" u="none" cap="none" strike="noStrike">
              <a:solidFill>
                <a:schemeClr val="dk1"/>
              </a:solidFill>
              <a:latin typeface="Inter"/>
              <a:ea typeface="Inter"/>
              <a:cs typeface="Inter"/>
              <a:sym typeface="Inter"/>
            </a:endParaRPr>
          </a:p>
        </p:txBody>
      </p:sp>
      <p:sp>
        <p:nvSpPr>
          <p:cNvPr id="341" name="Google Shape;341;p11"/>
          <p:cNvSpPr/>
          <p:nvPr/>
        </p:nvSpPr>
        <p:spPr>
          <a:xfrm>
            <a:off x="6959473" y="3551492"/>
            <a:ext cx="4343075" cy="47120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300"/>
              <a:buFont typeface="Inter"/>
              <a:buNone/>
            </a:pPr>
            <a:r>
              <a:rPr b="0" i="0" lang="en-US" sz="1300" u="none" cap="none" strike="noStrike">
                <a:solidFill>
                  <a:srgbClr val="2B3556"/>
                </a:solidFill>
                <a:latin typeface="Inter"/>
                <a:ea typeface="Inter"/>
                <a:cs typeface="Inter"/>
                <a:sym typeface="Inter"/>
              </a:rPr>
              <a:t>My grader marked a correct answer wrong and faked a safety alarm.</a:t>
            </a:r>
            <a:endParaRPr b="0" i="0" sz="1300" u="none" cap="none" strike="noStrike">
              <a:solidFill>
                <a:schemeClr val="dk1"/>
              </a:solidFill>
              <a:latin typeface="Inter"/>
              <a:ea typeface="Inter"/>
              <a:cs typeface="Inter"/>
              <a:sym typeface="Inter"/>
            </a:endParaRPr>
          </a:p>
        </p:txBody>
      </p:sp>
      <p:sp>
        <p:nvSpPr>
          <p:cNvPr id="342" name="Google Shape;342;p11"/>
          <p:cNvSpPr/>
          <p:nvPr/>
        </p:nvSpPr>
        <p:spPr>
          <a:xfrm>
            <a:off x="6959473" y="4060794"/>
            <a:ext cx="4343075" cy="24830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Fix:</a:t>
            </a:r>
            <a:r>
              <a:rPr b="0" i="0" lang="en-US" sz="1300" u="none" cap="none" strike="noStrike">
                <a:solidFill>
                  <a:srgbClr val="0E1A45"/>
                </a:solidFill>
                <a:latin typeface="Inter"/>
                <a:ea typeface="Inter"/>
                <a:cs typeface="Inter"/>
                <a:sym typeface="Inter"/>
              </a:rPr>
              <a:t> a person now checks every grade.</a:t>
            </a:r>
            <a:endParaRPr b="0" i="0" sz="1300" u="none" cap="none" strike="noStrike">
              <a:solidFill>
                <a:schemeClr val="dk1"/>
              </a:solidFill>
              <a:latin typeface="Inter"/>
              <a:ea typeface="Inter"/>
              <a:cs typeface="Inter"/>
              <a:sym typeface="Inter"/>
            </a:endParaRPr>
          </a:p>
        </p:txBody>
      </p:sp>
      <p:sp>
        <p:nvSpPr>
          <p:cNvPr id="343" name="Google Shape;343;p11"/>
          <p:cNvSpPr/>
          <p:nvPr/>
        </p:nvSpPr>
        <p:spPr>
          <a:xfrm>
            <a:off x="825465" y="4728158"/>
            <a:ext cx="10541043" cy="582260"/>
          </a:xfrm>
          <a:prstGeom prst="roundRect">
            <a:avLst>
              <a:gd fmla="val 19630" name="adj"/>
            </a:avLst>
          </a:prstGeom>
          <a:solidFill>
            <a:srgbClr val="F4F6FB"/>
          </a:solidFill>
          <a:ln cap="flat" cmpd="sng" w="25400">
            <a:solidFill>
              <a:srgbClr val="F2A9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p:nvPr/>
        </p:nvSpPr>
        <p:spPr>
          <a:xfrm>
            <a:off x="1039109" y="4865632"/>
            <a:ext cx="681614" cy="307317"/>
          </a:xfrm>
          <a:custGeom>
            <a:rect b="b" l="l" r="r" t="t"/>
            <a:pathLst>
              <a:path extrusionOk="0" h="307317" w="681614">
                <a:moveTo>
                  <a:pt x="153659" y="0"/>
                </a:moveTo>
                <a:lnTo>
                  <a:pt x="527955" y="0"/>
                </a:lnTo>
                <a:cubicBezTo>
                  <a:pt x="568708" y="0"/>
                  <a:pt x="607792" y="16189"/>
                  <a:pt x="636608" y="45006"/>
                </a:cubicBezTo>
                <a:cubicBezTo>
                  <a:pt x="665425" y="73822"/>
                  <a:pt x="681614" y="112906"/>
                  <a:pt x="681614" y="153659"/>
                </a:cubicBezTo>
                <a:lnTo>
                  <a:pt x="681614" y="153659"/>
                </a:lnTo>
                <a:cubicBezTo>
                  <a:pt x="681614" y="238523"/>
                  <a:pt x="612819" y="307318"/>
                  <a:pt x="527955" y="307318"/>
                </a:cubicBezTo>
                <a:lnTo>
                  <a:pt x="153659" y="307317"/>
                </a:lnTo>
                <a:cubicBezTo>
                  <a:pt x="68795" y="307317"/>
                  <a:pt x="0" y="238522"/>
                  <a:pt x="0" y="153658"/>
                </a:cubicBezTo>
                <a:lnTo>
                  <a:pt x="0" y="153659"/>
                </a:lnTo>
                <a:cubicBezTo>
                  <a:pt x="0" y="68795"/>
                  <a:pt x="68795" y="0"/>
                  <a:pt x="153659" y="0"/>
                </a:cubicBezTo>
                <a:close/>
              </a:path>
            </a:pathLst>
          </a:custGeom>
          <a:solidFill>
            <a:srgbClr val="F2A90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A45"/>
              </a:buClr>
              <a:buSzPts val="1300"/>
              <a:buFont typeface="Inter"/>
              <a:buNone/>
            </a:pPr>
            <a:r>
              <a:rPr b="1" i="0" lang="en-US" sz="1300" u="none" cap="none" strike="noStrike">
                <a:solidFill>
                  <a:srgbClr val="0E1A45"/>
                </a:solidFill>
                <a:latin typeface="Inter"/>
                <a:ea typeface="Inter"/>
                <a:cs typeface="Inter"/>
                <a:sym typeface="Inter"/>
              </a:rPr>
              <a:t>TBD</a:t>
            </a:r>
            <a:endParaRPr b="0" i="0" sz="1300" u="none" cap="none" strike="noStrike">
              <a:solidFill>
                <a:schemeClr val="dk1"/>
              </a:solidFill>
              <a:latin typeface="Inter"/>
              <a:ea typeface="Inter"/>
              <a:cs typeface="Inter"/>
              <a:sym typeface="Inter"/>
            </a:endParaRPr>
          </a:p>
        </p:txBody>
      </p:sp>
      <p:sp>
        <p:nvSpPr>
          <p:cNvPr id="345" name="Google Shape;345;p11"/>
          <p:cNvSpPr/>
          <p:nvPr/>
        </p:nvSpPr>
        <p:spPr>
          <a:xfrm>
            <a:off x="1873114" y="4894839"/>
            <a:ext cx="9558142"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7A5200"/>
              </a:buClr>
              <a:buSzPts val="1400"/>
              <a:buFont typeface="Inter"/>
              <a:buNone/>
            </a:pPr>
            <a:r>
              <a:rPr b="0" i="0" lang="en-US" sz="1400" u="none" cap="none" strike="noStrike">
                <a:solidFill>
                  <a:srgbClr val="7A5200"/>
                </a:solidFill>
                <a:latin typeface="Inter"/>
                <a:ea typeface="Inter"/>
                <a:cs typeface="Inter"/>
                <a:sym typeface="Inter"/>
              </a:rPr>
              <a:t>TBD: top failure patterns from the test set</a:t>
            </a:r>
            <a:endParaRPr b="0" i="0" sz="1400" u="none" cap="none" strike="noStrike">
              <a:solidFill>
                <a:schemeClr val="dk1"/>
              </a:solidFill>
              <a:latin typeface="Inter"/>
              <a:ea typeface="Inter"/>
              <a:cs typeface="Inter"/>
              <a:sym typeface="Inter"/>
            </a:endParaRPr>
          </a:p>
        </p:txBody>
      </p:sp>
      <p:sp>
        <p:nvSpPr>
          <p:cNvPr id="346" name="Google Shape;346;p11"/>
          <p:cNvSpPr/>
          <p:nvPr/>
        </p:nvSpPr>
        <p:spPr>
          <a:xfrm>
            <a:off x="812765" y="6238280"/>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347" name="Google Shape;347;p11"/>
          <p:cNvSpPr/>
          <p:nvPr/>
        </p:nvSpPr>
        <p:spPr>
          <a:xfrm>
            <a:off x="5694563" y="6238280"/>
            <a:ext cx="1723151"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Goutham</a:t>
            </a:r>
            <a:endParaRPr b="0" i="0" sz="1200" u="none" cap="none" strike="noStrike">
              <a:solidFill>
                <a:schemeClr val="dk1"/>
              </a:solidFill>
              <a:latin typeface="Inter"/>
              <a:ea typeface="Inter"/>
              <a:cs typeface="Inter"/>
              <a:sym typeface="Inter"/>
            </a:endParaRPr>
          </a:p>
        </p:txBody>
      </p:sp>
      <p:sp>
        <p:nvSpPr>
          <p:cNvPr id="348" name="Google Shape;348;p11"/>
          <p:cNvSpPr/>
          <p:nvPr/>
        </p:nvSpPr>
        <p:spPr>
          <a:xfrm>
            <a:off x="11204412" y="6238280"/>
            <a:ext cx="174796"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11</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12"/>
          <p:cNvSpPr txBox="1"/>
          <p:nvPr>
            <p:ph type="title"/>
          </p:nvPr>
        </p:nvSpPr>
        <p:spPr>
          <a:xfrm>
            <a:off x="812765" y="761994"/>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Ethics, limits and what comes next</a:t>
            </a:r>
            <a:endParaRPr sz="3600"/>
          </a:p>
        </p:txBody>
      </p:sp>
      <p:sp>
        <p:nvSpPr>
          <p:cNvPr id="355" name="Google Shape;355;p12"/>
          <p:cNvSpPr/>
          <p:nvPr/>
        </p:nvSpPr>
        <p:spPr>
          <a:xfrm>
            <a:off x="812765" y="1518878"/>
            <a:ext cx="5023167" cy="33018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446C8"/>
              </a:buClr>
              <a:buSzPts val="2000"/>
              <a:buFont typeface="Caladea"/>
              <a:buNone/>
            </a:pPr>
            <a:r>
              <a:rPr b="1" i="0" lang="en-US" sz="2000" u="none" cap="none" strike="noStrike">
                <a:solidFill>
                  <a:srgbClr val="2446C8"/>
                </a:solidFill>
                <a:latin typeface="Caladea"/>
                <a:ea typeface="Caladea"/>
                <a:cs typeface="Caladea"/>
                <a:sym typeface="Caladea"/>
              </a:rPr>
              <a:t>When should an AI refuse?</a:t>
            </a:r>
            <a:endParaRPr b="0" i="0" sz="2000" u="none" cap="none" strike="noStrike">
              <a:solidFill>
                <a:schemeClr val="dk1"/>
              </a:solidFill>
              <a:latin typeface="Inter"/>
              <a:ea typeface="Inter"/>
              <a:cs typeface="Inter"/>
              <a:sym typeface="Inter"/>
            </a:endParaRPr>
          </a:p>
        </p:txBody>
      </p:sp>
      <p:sp>
        <p:nvSpPr>
          <p:cNvPr id="356" name="Google Shape;356;p12"/>
          <p:cNvSpPr/>
          <p:nvPr/>
        </p:nvSpPr>
        <p:spPr>
          <a:xfrm>
            <a:off x="897347" y="1925234"/>
            <a:ext cx="4930965" cy="798720"/>
          </a:xfrm>
          <a:prstGeom prst="rect">
            <a:avLst/>
          </a:prstGeom>
          <a:noFill/>
          <a:ln>
            <a:noFill/>
          </a:ln>
        </p:spPr>
        <p:txBody>
          <a:bodyPr anchorCtr="0" anchor="t" bIns="0" lIns="0" spcFirstLastPara="1" rIns="0" wrap="square" tIns="0">
            <a:normAutofit/>
          </a:bodyPr>
          <a:lstStyle/>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When a photo can’t support the answer and a wrong answer is dangerous</a:t>
            </a:r>
            <a:endParaRPr b="0" i="0" sz="1400" u="none" cap="none" strike="noStrike">
              <a:solidFill>
                <a:schemeClr val="dk1"/>
              </a:solidFill>
              <a:latin typeface="Inter"/>
              <a:ea typeface="Inter"/>
              <a:cs typeface="Inter"/>
              <a:sym typeface="Inter"/>
            </a:endParaRPr>
          </a:p>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Always with a next step, never just “no”</a:t>
            </a:r>
            <a:endParaRPr b="0" i="0" sz="1400" u="none" cap="none" strike="noStrike">
              <a:solidFill>
                <a:schemeClr val="dk1"/>
              </a:solidFill>
              <a:latin typeface="Inter"/>
              <a:ea typeface="Inter"/>
              <a:cs typeface="Inter"/>
              <a:sym typeface="Inter"/>
            </a:endParaRPr>
          </a:p>
        </p:txBody>
      </p:sp>
      <p:sp>
        <p:nvSpPr>
          <p:cNvPr id="357" name="Google Shape;357;p12"/>
          <p:cNvSpPr/>
          <p:nvPr/>
        </p:nvSpPr>
        <p:spPr>
          <a:xfrm>
            <a:off x="812765" y="2800133"/>
            <a:ext cx="5023167" cy="33018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446C8"/>
              </a:buClr>
              <a:buSzPts val="2000"/>
              <a:buFont typeface="Caladea"/>
              <a:buNone/>
            </a:pPr>
            <a:r>
              <a:rPr b="1" i="0" lang="en-US" sz="2000" u="none" cap="none" strike="noStrike">
                <a:solidFill>
                  <a:srgbClr val="2446C8"/>
                </a:solidFill>
                <a:latin typeface="Caladea"/>
                <a:ea typeface="Caladea"/>
                <a:cs typeface="Caladea"/>
                <a:sym typeface="Caladea"/>
              </a:rPr>
              <a:t>Limits</a:t>
            </a:r>
            <a:endParaRPr b="0" i="0" sz="2000" u="none" cap="none" strike="noStrike">
              <a:solidFill>
                <a:schemeClr val="dk1"/>
              </a:solidFill>
              <a:latin typeface="Inter"/>
              <a:ea typeface="Inter"/>
              <a:cs typeface="Inter"/>
              <a:sym typeface="Inter"/>
            </a:endParaRPr>
          </a:p>
        </p:txBody>
      </p:sp>
      <p:sp>
        <p:nvSpPr>
          <p:cNvPr id="358" name="Google Shape;358;p12"/>
          <p:cNvSpPr/>
          <p:nvPr/>
        </p:nvSpPr>
        <p:spPr>
          <a:xfrm>
            <a:off x="897347" y="3206496"/>
            <a:ext cx="4930965" cy="540947"/>
          </a:xfrm>
          <a:prstGeom prst="rect">
            <a:avLst/>
          </a:prstGeom>
          <a:noFill/>
          <a:ln>
            <a:noFill/>
          </a:ln>
        </p:spPr>
        <p:txBody>
          <a:bodyPr anchorCtr="0" anchor="t" bIns="0" lIns="0" spcFirstLastPara="1" rIns="0" wrap="square" tIns="0">
            <a:normAutofit/>
          </a:bodyPr>
          <a:lstStyle/>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A small model that is sometimes confidently wrong</a:t>
            </a:r>
            <a:endParaRPr b="0" i="0" sz="1400" u="none" cap="none" strike="noStrike">
              <a:solidFill>
                <a:schemeClr val="dk1"/>
              </a:solidFill>
              <a:latin typeface="Inter"/>
              <a:ea typeface="Inter"/>
              <a:cs typeface="Inter"/>
              <a:sym typeface="Inter"/>
            </a:endParaRPr>
          </a:p>
          <a:p>
            <a:pPr indent="-169418" lvl="0" marL="169418" marR="0" rtl="0" algn="l">
              <a:lnSpc>
                <a:spcPct val="145000"/>
              </a:lnSpc>
              <a:spcBef>
                <a:spcPts val="0"/>
              </a:spcBef>
              <a:spcAft>
                <a:spcPts val="0"/>
              </a:spcAft>
              <a:buClr>
                <a:srgbClr val="2B3556"/>
              </a:buClr>
              <a:buSzPts val="1400"/>
              <a:buFont typeface="Inter"/>
              <a:buChar char="•"/>
            </a:pPr>
            <a:r>
              <a:rPr b="0" i="0" lang="en-US" sz="1400" u="none" cap="none" strike="noStrike">
                <a:solidFill>
                  <a:srgbClr val="2B3556"/>
                </a:solidFill>
                <a:latin typeface="Inter"/>
                <a:ea typeface="Inter"/>
                <a:cs typeface="Inter"/>
                <a:sym typeface="Inter"/>
              </a:rPr>
              <a:t>Rules that keywords can miss</a:t>
            </a:r>
            <a:endParaRPr b="0" i="0" sz="1400" u="none" cap="none" strike="noStrike">
              <a:solidFill>
                <a:schemeClr val="dk1"/>
              </a:solidFill>
              <a:latin typeface="Inter"/>
              <a:ea typeface="Inter"/>
              <a:cs typeface="Inter"/>
              <a:sym typeface="Inter"/>
            </a:endParaRPr>
          </a:p>
        </p:txBody>
      </p:sp>
      <p:sp>
        <p:nvSpPr>
          <p:cNvPr id="359" name="Google Shape;359;p12"/>
          <p:cNvSpPr/>
          <p:nvPr/>
        </p:nvSpPr>
        <p:spPr>
          <a:xfrm>
            <a:off x="5994408" y="1518878"/>
            <a:ext cx="5384800" cy="3383434"/>
          </a:xfrm>
          <a:prstGeom prst="roundRect">
            <a:avLst>
              <a:gd fmla="val 4504" name="adj"/>
            </a:avLst>
          </a:prstGeom>
          <a:solidFill>
            <a:srgbClr val="F4F6FB"/>
          </a:solidFill>
          <a:ln>
            <a:noFill/>
          </a:ln>
          <a:effectLst>
            <a:outerShdw blurRad="152400" rotWithShape="0" algn="bl" dir="5400000" dist="50800">
              <a:srgbClr val="0E1A45">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2"/>
          <p:cNvSpPr/>
          <p:nvPr/>
        </p:nvSpPr>
        <p:spPr>
          <a:xfrm>
            <a:off x="6248377" y="1722034"/>
            <a:ext cx="5023167" cy="254009"/>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0E1A45"/>
              </a:buClr>
              <a:buSzPts val="1500"/>
              <a:buFont typeface="Inter"/>
              <a:buNone/>
            </a:pPr>
            <a:r>
              <a:rPr b="1" i="0" lang="en-US" sz="1500" u="none" cap="none" strike="noStrike">
                <a:solidFill>
                  <a:srgbClr val="0E1A45"/>
                </a:solidFill>
                <a:latin typeface="Inter"/>
                <a:ea typeface="Inter"/>
                <a:cs typeface="Inter"/>
                <a:sym typeface="Inter"/>
              </a:rPr>
              <a:t>What comes next</a:t>
            </a:r>
            <a:endParaRPr b="0" i="0" sz="1500" u="none" cap="none" strike="noStrike">
              <a:solidFill>
                <a:schemeClr val="dk1"/>
              </a:solidFill>
              <a:latin typeface="Inter"/>
              <a:ea typeface="Inter"/>
              <a:cs typeface="Inter"/>
              <a:sym typeface="Inter"/>
            </a:endParaRPr>
          </a:p>
        </p:txBody>
      </p:sp>
      <p:sp>
        <p:nvSpPr>
          <p:cNvPr id="361" name="Google Shape;361;p12"/>
          <p:cNvSpPr/>
          <p:nvPr/>
        </p:nvSpPr>
        <p:spPr>
          <a:xfrm>
            <a:off x="6248377" y="2077628"/>
            <a:ext cx="355593" cy="355593"/>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ud" id="362" name="Google Shape;362;p12"/>
          <p:cNvPicPr preferRelativeResize="0"/>
          <p:nvPr/>
        </p:nvPicPr>
        <p:blipFill rotWithShape="1">
          <a:blip r:embed="rId3">
            <a:alphaModFix/>
          </a:blip>
          <a:srcRect b="0" l="0" r="0" t="0"/>
          <a:stretch/>
        </p:blipFill>
        <p:spPr>
          <a:xfrm>
            <a:off x="6330935" y="2160184"/>
            <a:ext cx="190477" cy="190477"/>
          </a:xfrm>
          <a:prstGeom prst="rect">
            <a:avLst/>
          </a:prstGeom>
          <a:noFill/>
          <a:ln>
            <a:noFill/>
          </a:ln>
        </p:spPr>
      </p:pic>
      <p:sp>
        <p:nvSpPr>
          <p:cNvPr id="363" name="Google Shape;363;p12"/>
          <p:cNvSpPr/>
          <p:nvPr/>
        </p:nvSpPr>
        <p:spPr>
          <a:xfrm>
            <a:off x="6730955" y="2130977"/>
            <a:ext cx="4526112"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A bigger hosted model</a:t>
            </a:r>
            <a:endParaRPr b="0" i="0" sz="1400" u="none" cap="none" strike="noStrike">
              <a:solidFill>
                <a:schemeClr val="dk1"/>
              </a:solidFill>
              <a:latin typeface="Inter"/>
              <a:ea typeface="Inter"/>
              <a:cs typeface="Inter"/>
              <a:sym typeface="Inter"/>
            </a:endParaRPr>
          </a:p>
        </p:txBody>
      </p:sp>
      <p:sp>
        <p:nvSpPr>
          <p:cNvPr id="364" name="Google Shape;364;p12"/>
          <p:cNvSpPr/>
          <p:nvPr/>
        </p:nvSpPr>
        <p:spPr>
          <a:xfrm>
            <a:off x="6248377" y="2560203"/>
            <a:ext cx="355593" cy="355593"/>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365" name="Google Shape;365;p12"/>
          <p:cNvPicPr preferRelativeResize="0"/>
          <p:nvPr/>
        </p:nvPicPr>
        <p:blipFill rotWithShape="1">
          <a:blip r:embed="rId4">
            <a:alphaModFix/>
          </a:blip>
          <a:srcRect b="0" l="0" r="0" t="0"/>
          <a:stretch/>
        </p:blipFill>
        <p:spPr>
          <a:xfrm>
            <a:off x="6330935" y="2642766"/>
            <a:ext cx="190477" cy="190477"/>
          </a:xfrm>
          <a:prstGeom prst="rect">
            <a:avLst/>
          </a:prstGeom>
          <a:noFill/>
          <a:ln>
            <a:noFill/>
          </a:ln>
        </p:spPr>
      </p:pic>
      <p:sp>
        <p:nvSpPr>
          <p:cNvPr id="366" name="Google Shape;366;p12"/>
          <p:cNvSpPr/>
          <p:nvPr/>
        </p:nvSpPr>
        <p:spPr>
          <a:xfrm>
            <a:off x="6730955" y="2613552"/>
            <a:ext cx="4526112"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Local speech recognition</a:t>
            </a:r>
            <a:endParaRPr b="0" i="0" sz="1400" u="none" cap="none" strike="noStrike">
              <a:solidFill>
                <a:schemeClr val="dk1"/>
              </a:solidFill>
              <a:latin typeface="Inter"/>
              <a:ea typeface="Inter"/>
              <a:cs typeface="Inter"/>
              <a:sym typeface="Inter"/>
            </a:endParaRPr>
          </a:p>
        </p:txBody>
      </p:sp>
      <p:sp>
        <p:nvSpPr>
          <p:cNvPr id="367" name="Google Shape;367;p12"/>
          <p:cNvSpPr/>
          <p:nvPr/>
        </p:nvSpPr>
        <p:spPr>
          <a:xfrm>
            <a:off x="6248377" y="3042785"/>
            <a:ext cx="355593" cy="355593"/>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368" name="Google Shape;368;p12"/>
          <p:cNvPicPr preferRelativeResize="0"/>
          <p:nvPr/>
        </p:nvPicPr>
        <p:blipFill rotWithShape="1">
          <a:blip r:embed="rId5">
            <a:alphaModFix/>
          </a:blip>
          <a:srcRect b="0" l="0" r="0" t="0"/>
          <a:stretch/>
        </p:blipFill>
        <p:spPr>
          <a:xfrm>
            <a:off x="6330935" y="3125341"/>
            <a:ext cx="190477" cy="190477"/>
          </a:xfrm>
          <a:prstGeom prst="rect">
            <a:avLst/>
          </a:prstGeom>
          <a:noFill/>
          <a:ln>
            <a:noFill/>
          </a:ln>
        </p:spPr>
      </p:pic>
      <p:sp>
        <p:nvSpPr>
          <p:cNvPr id="369" name="Google Shape;369;p12"/>
          <p:cNvSpPr/>
          <p:nvPr/>
        </p:nvSpPr>
        <p:spPr>
          <a:xfrm>
            <a:off x="6730955" y="3096133"/>
            <a:ext cx="4526112"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Testing with real users</a:t>
            </a:r>
            <a:endParaRPr b="0" i="0" sz="1400" u="none" cap="none" strike="noStrike">
              <a:solidFill>
                <a:schemeClr val="dk1"/>
              </a:solidFill>
              <a:latin typeface="Inter"/>
              <a:ea typeface="Inter"/>
              <a:cs typeface="Inter"/>
              <a:sym typeface="Inter"/>
            </a:endParaRPr>
          </a:p>
        </p:txBody>
      </p:sp>
      <p:sp>
        <p:nvSpPr>
          <p:cNvPr id="370" name="Google Shape;370;p12"/>
          <p:cNvSpPr/>
          <p:nvPr/>
        </p:nvSpPr>
        <p:spPr>
          <a:xfrm>
            <a:off x="6248377" y="3525360"/>
            <a:ext cx="355593" cy="355593"/>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371" name="Google Shape;371;p12"/>
          <p:cNvPicPr preferRelativeResize="0"/>
          <p:nvPr/>
        </p:nvPicPr>
        <p:blipFill rotWithShape="1">
          <a:blip r:embed="rId6">
            <a:alphaModFix/>
          </a:blip>
          <a:srcRect b="0" l="0" r="0" t="0"/>
          <a:stretch/>
        </p:blipFill>
        <p:spPr>
          <a:xfrm>
            <a:off x="6330935" y="3607916"/>
            <a:ext cx="190477" cy="190477"/>
          </a:xfrm>
          <a:prstGeom prst="rect">
            <a:avLst/>
          </a:prstGeom>
          <a:noFill/>
          <a:ln>
            <a:noFill/>
          </a:ln>
        </p:spPr>
      </p:pic>
      <p:sp>
        <p:nvSpPr>
          <p:cNvPr id="372" name="Google Shape;372;p12"/>
          <p:cNvSpPr/>
          <p:nvPr/>
        </p:nvSpPr>
        <p:spPr>
          <a:xfrm>
            <a:off x="6730955" y="3578709"/>
            <a:ext cx="3306657" cy="27429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B3556"/>
              </a:buClr>
              <a:buSzPts val="1400"/>
              <a:buFont typeface="Inter"/>
              <a:buNone/>
            </a:pPr>
            <a:r>
              <a:rPr b="0" i="0" lang="en-US" sz="1400" u="none" cap="none" strike="noStrike">
                <a:solidFill>
                  <a:srgbClr val="2B3556"/>
                </a:solidFill>
                <a:latin typeface="Inter"/>
                <a:ea typeface="Inter"/>
                <a:cs typeface="Inter"/>
                <a:sym typeface="Inter"/>
              </a:rPr>
              <a:t>Few-shot style examples</a:t>
            </a:r>
            <a:endParaRPr b="0" i="0" sz="1400" u="none" cap="none" strike="noStrike">
              <a:solidFill>
                <a:schemeClr val="dk1"/>
              </a:solidFill>
              <a:latin typeface="Inter"/>
              <a:ea typeface="Inter"/>
              <a:cs typeface="Inter"/>
              <a:sym typeface="Inter"/>
            </a:endParaRPr>
          </a:p>
        </p:txBody>
      </p:sp>
      <p:sp>
        <p:nvSpPr>
          <p:cNvPr id="373" name="Google Shape;373;p12"/>
          <p:cNvSpPr/>
          <p:nvPr/>
        </p:nvSpPr>
        <p:spPr>
          <a:xfrm>
            <a:off x="10068286" y="3571100"/>
            <a:ext cx="1056952" cy="264068"/>
          </a:xfrm>
          <a:custGeom>
            <a:rect b="b" l="l" r="r" t="t"/>
            <a:pathLst>
              <a:path extrusionOk="0" h="264068" w="1056952">
                <a:moveTo>
                  <a:pt x="132034" y="0"/>
                </a:moveTo>
                <a:lnTo>
                  <a:pt x="924918" y="0"/>
                </a:lnTo>
                <a:cubicBezTo>
                  <a:pt x="959936" y="0"/>
                  <a:pt x="993519" y="13911"/>
                  <a:pt x="1018280" y="38672"/>
                </a:cubicBezTo>
                <a:cubicBezTo>
                  <a:pt x="1043041" y="63433"/>
                  <a:pt x="1056952" y="97016"/>
                  <a:pt x="1056952" y="132034"/>
                </a:cubicBezTo>
                <a:lnTo>
                  <a:pt x="1056952" y="132034"/>
                </a:lnTo>
                <a:cubicBezTo>
                  <a:pt x="1056952" y="204954"/>
                  <a:pt x="997838" y="264068"/>
                  <a:pt x="924918" y="264068"/>
                </a:cubicBezTo>
                <a:lnTo>
                  <a:pt x="132034" y="264068"/>
                </a:lnTo>
                <a:cubicBezTo>
                  <a:pt x="59114" y="264068"/>
                  <a:pt x="0" y="204954"/>
                  <a:pt x="0" y="132034"/>
                </a:cubicBezTo>
                <a:lnTo>
                  <a:pt x="0" y="132034"/>
                </a:lnTo>
                <a:cubicBezTo>
                  <a:pt x="0" y="59114"/>
                  <a:pt x="59114" y="0"/>
                  <a:pt x="132034" y="0"/>
                </a:cubicBezTo>
                <a:close/>
              </a:path>
            </a:pathLst>
          </a:custGeom>
          <a:solidFill>
            <a:srgbClr val="F2A90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A45"/>
              </a:buClr>
              <a:buSzPts val="1200"/>
              <a:buFont typeface="Inter"/>
              <a:buNone/>
            </a:pPr>
            <a:r>
              <a:rPr b="1" i="0" lang="en-US" sz="1200" u="none" cap="none" strike="noStrike">
                <a:solidFill>
                  <a:srgbClr val="0E1A45"/>
                </a:solidFill>
                <a:latin typeface="Inter"/>
                <a:ea typeface="Inter"/>
                <a:cs typeface="Inter"/>
                <a:sym typeface="Inter"/>
              </a:rPr>
              <a:t>TBD: result</a:t>
            </a:r>
            <a:endParaRPr b="0" i="0" sz="1200" u="none" cap="none" strike="noStrike">
              <a:solidFill>
                <a:schemeClr val="dk1"/>
              </a:solidFill>
              <a:latin typeface="Inter"/>
              <a:ea typeface="Inter"/>
              <a:cs typeface="Inter"/>
              <a:sym typeface="Inter"/>
            </a:endParaRPr>
          </a:p>
        </p:txBody>
      </p:sp>
      <p:sp>
        <p:nvSpPr>
          <p:cNvPr id="374" name="Google Shape;374;p12"/>
          <p:cNvSpPr/>
          <p:nvPr/>
        </p:nvSpPr>
        <p:spPr>
          <a:xfrm>
            <a:off x="812765" y="5156281"/>
            <a:ext cx="10566443" cy="685735"/>
          </a:xfrm>
          <a:prstGeom prst="roundRect">
            <a:avLst>
              <a:gd fmla="val 1852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2"/>
          <p:cNvSpPr/>
          <p:nvPr/>
        </p:nvSpPr>
        <p:spPr>
          <a:xfrm>
            <a:off x="1041328" y="5321350"/>
            <a:ext cx="3085346" cy="380993"/>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2000"/>
              <a:buFont typeface="Caladea"/>
              <a:buNone/>
            </a:pPr>
            <a:r>
              <a:rPr b="1" i="0" lang="en-US" sz="2000" u="none" cap="none" strike="noStrike">
                <a:solidFill>
                  <a:srgbClr val="FFFFFF"/>
                </a:solidFill>
                <a:latin typeface="Caladea"/>
                <a:ea typeface="Caladea"/>
                <a:cs typeface="Caladea"/>
                <a:sym typeface="Caladea"/>
              </a:rPr>
              <a:t>Thank you. Questions?</a:t>
            </a:r>
            <a:endParaRPr b="0" i="0" sz="2000" u="none" cap="none" strike="noStrike">
              <a:solidFill>
                <a:schemeClr val="dk1"/>
              </a:solidFill>
              <a:latin typeface="Inter"/>
              <a:ea typeface="Inter"/>
              <a:cs typeface="Inter"/>
              <a:sym typeface="Inter"/>
            </a:endParaRPr>
          </a:p>
        </p:txBody>
      </p:sp>
      <p:sp>
        <p:nvSpPr>
          <p:cNvPr id="376" name="Google Shape;376;p12"/>
          <p:cNvSpPr/>
          <p:nvPr/>
        </p:nvSpPr>
        <p:spPr>
          <a:xfrm>
            <a:off x="5638661" y="5392452"/>
            <a:ext cx="5511984"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FFFFFF"/>
              </a:buClr>
              <a:buSzPts val="1200"/>
              <a:buFont typeface="Inter"/>
              <a:buNone/>
            </a:pPr>
            <a:r>
              <a:rPr b="0" i="0" lang="en-US" sz="1200" u="none" cap="none" strike="noStrike">
                <a:solidFill>
                  <a:srgbClr val="FFFFFF"/>
                </a:solidFill>
                <a:latin typeface="Inter"/>
                <a:ea typeface="Inter"/>
                <a:cs typeface="Inter"/>
                <a:sym typeface="Inter"/>
              </a:rPr>
              <a:t>[GitHub link] · VizWiz data (CC BY 4.0) · Qwen2.5-VL via Ollama</a:t>
            </a:r>
            <a:endParaRPr b="0" i="0" sz="1200" u="none" cap="none" strike="noStrike">
              <a:solidFill>
                <a:schemeClr val="dk1"/>
              </a:solidFill>
              <a:latin typeface="Inter"/>
              <a:ea typeface="Inter"/>
              <a:cs typeface="Inter"/>
              <a:sym typeface="Inter"/>
            </a:endParaRPr>
          </a:p>
        </p:txBody>
      </p:sp>
      <p:sp>
        <p:nvSpPr>
          <p:cNvPr id="377" name="Google Shape;377;p12"/>
          <p:cNvSpPr/>
          <p:nvPr/>
        </p:nvSpPr>
        <p:spPr>
          <a:xfrm>
            <a:off x="812765" y="6238273"/>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378" name="Google Shape;378;p12"/>
          <p:cNvSpPr/>
          <p:nvPr/>
        </p:nvSpPr>
        <p:spPr>
          <a:xfrm>
            <a:off x="5023093" y="6238273"/>
            <a:ext cx="3297561"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Presenter: [Member 3], then everyone</a:t>
            </a:r>
            <a:endParaRPr b="0" i="0" sz="1200" u="none" cap="none" strike="noStrike">
              <a:solidFill>
                <a:schemeClr val="dk1"/>
              </a:solidFill>
              <a:latin typeface="Inter"/>
              <a:ea typeface="Inter"/>
              <a:cs typeface="Inter"/>
              <a:sym typeface="Inter"/>
            </a:endParaRPr>
          </a:p>
        </p:txBody>
      </p:sp>
      <p:sp>
        <p:nvSpPr>
          <p:cNvPr id="379" name="Google Shape;379;p12"/>
          <p:cNvSpPr/>
          <p:nvPr/>
        </p:nvSpPr>
        <p:spPr>
          <a:xfrm>
            <a:off x="11173481" y="6238273"/>
            <a:ext cx="205727"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12</a:t>
            </a:r>
            <a:endParaRPr b="0" i="0" sz="1200" u="none" cap="none" strike="noStrike">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 name="Shape 384"/>
        <p:cNvGrpSpPr/>
        <p:nvPr/>
      </p:nvGrpSpPr>
      <p:grpSpPr>
        <a:xfrm>
          <a:off x="0" y="0"/>
          <a:ext cx="0" cy="0"/>
          <a:chOff x="0" y="0"/>
          <a:chExt cx="0" cy="0"/>
        </a:xfrm>
      </p:grpSpPr>
      <p:sp>
        <p:nvSpPr>
          <p:cNvPr id="385" name="Google Shape;385;p9"/>
          <p:cNvSpPr txBox="1"/>
          <p:nvPr>
            <p:ph type="title"/>
          </p:nvPr>
        </p:nvSpPr>
        <p:spPr>
          <a:xfrm>
            <a:off x="812765" y="762000"/>
            <a:ext cx="10883436" cy="528312"/>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E1A45"/>
              </a:buClr>
              <a:buSzPts val="3600"/>
              <a:buFont typeface="Caladea"/>
              <a:buNone/>
            </a:pPr>
            <a:r>
              <a:rPr b="1" i="0" lang="en-US" sz="3600">
                <a:solidFill>
                  <a:srgbClr val="0E1A45"/>
                </a:solidFill>
                <a:latin typeface="Caladea"/>
                <a:ea typeface="Caladea"/>
                <a:cs typeface="Caladea"/>
                <a:sym typeface="Caladea"/>
              </a:rPr>
              <a:t>Live demo</a:t>
            </a:r>
            <a:endParaRPr sz="3600"/>
          </a:p>
        </p:txBody>
      </p:sp>
      <p:sp>
        <p:nvSpPr>
          <p:cNvPr id="386" name="Google Shape;386;p9"/>
          <p:cNvSpPr/>
          <p:nvPr/>
        </p:nvSpPr>
        <p:spPr>
          <a:xfrm>
            <a:off x="812765" y="1606513"/>
            <a:ext cx="406360" cy="406360"/>
          </a:xfrm>
          <a:prstGeom prst="roundRect">
            <a:avLst>
              <a:gd fmla="val 50000" name="adj"/>
            </a:avLst>
          </a:prstGeom>
          <a:solidFill>
            <a:srgbClr val="2446C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1</a:t>
            </a:r>
            <a:endParaRPr b="0" i="0" sz="1500" u="none" cap="none" strike="noStrike">
              <a:solidFill>
                <a:schemeClr val="dk1"/>
              </a:solidFill>
              <a:latin typeface="Inter"/>
              <a:ea typeface="Inter"/>
              <a:cs typeface="Inter"/>
              <a:sym typeface="Inter"/>
            </a:endParaRPr>
          </a:p>
        </p:txBody>
      </p:sp>
      <p:sp>
        <p:nvSpPr>
          <p:cNvPr id="387" name="Google Shape;387;p9"/>
          <p:cNvSpPr/>
          <p:nvPr/>
        </p:nvSpPr>
        <p:spPr>
          <a:xfrm>
            <a:off x="1358790" y="1569690"/>
            <a:ext cx="4068333" cy="50544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400"/>
              <a:buFont typeface="Inter"/>
              <a:buNone/>
            </a:pPr>
            <a:r>
              <a:rPr b="1" i="0" lang="en-US" sz="1400" u="none" cap="none" strike="noStrike">
                <a:solidFill>
                  <a:srgbClr val="2B3556"/>
                </a:solidFill>
                <a:latin typeface="Inter"/>
                <a:ea typeface="Inter"/>
                <a:cs typeface="Inter"/>
                <a:sym typeface="Inter"/>
              </a:rPr>
              <a:t>Medicine bottle:</a:t>
            </a:r>
            <a:r>
              <a:rPr b="0" i="0" lang="en-US" sz="1400" u="none" cap="none" strike="noStrike">
                <a:solidFill>
                  <a:srgbClr val="2B3556"/>
                </a:solidFill>
                <a:latin typeface="Inter"/>
                <a:ea typeface="Inter"/>
                <a:cs typeface="Inter"/>
                <a:sym typeface="Inter"/>
              </a:rPr>
              <a:t> reads the label and adds a verify line</a:t>
            </a:r>
            <a:endParaRPr b="0" i="0" sz="1400" u="none" cap="none" strike="noStrike">
              <a:solidFill>
                <a:schemeClr val="dk1"/>
              </a:solidFill>
              <a:latin typeface="Inter"/>
              <a:ea typeface="Inter"/>
              <a:cs typeface="Inter"/>
              <a:sym typeface="Inter"/>
            </a:endParaRPr>
          </a:p>
        </p:txBody>
      </p:sp>
      <p:sp>
        <p:nvSpPr>
          <p:cNvPr id="388" name="Google Shape;388;p9"/>
          <p:cNvSpPr/>
          <p:nvPr/>
        </p:nvSpPr>
        <p:spPr>
          <a:xfrm>
            <a:off x="812765" y="2591414"/>
            <a:ext cx="406360" cy="406360"/>
          </a:xfrm>
          <a:prstGeom prst="roundRect">
            <a:avLst>
              <a:gd fmla="val 50000" name="adj"/>
            </a:avLst>
          </a:prstGeom>
          <a:solidFill>
            <a:srgbClr val="2446C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2</a:t>
            </a:r>
            <a:endParaRPr b="0" i="0" sz="1500" u="none" cap="none" strike="noStrike">
              <a:solidFill>
                <a:schemeClr val="dk1"/>
              </a:solidFill>
              <a:latin typeface="Inter"/>
              <a:ea typeface="Inter"/>
              <a:cs typeface="Inter"/>
              <a:sym typeface="Inter"/>
            </a:endParaRPr>
          </a:p>
        </p:txBody>
      </p:sp>
      <p:sp>
        <p:nvSpPr>
          <p:cNvPr id="389" name="Google Shape;389;p9"/>
          <p:cNvSpPr/>
          <p:nvPr/>
        </p:nvSpPr>
        <p:spPr>
          <a:xfrm>
            <a:off x="1358790" y="2554591"/>
            <a:ext cx="4068333" cy="50544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400"/>
              <a:buFont typeface="Inter"/>
              <a:buNone/>
            </a:pPr>
            <a:r>
              <a:rPr b="1" i="0" lang="en-US" sz="1400" u="none" cap="none" strike="noStrike">
                <a:solidFill>
                  <a:srgbClr val="2B3556"/>
                </a:solidFill>
                <a:latin typeface="Inter"/>
                <a:ea typeface="Inter"/>
                <a:cs typeface="Inter"/>
                <a:sym typeface="Inter"/>
              </a:rPr>
              <a:t>“How many tablets should I take?”</a:t>
            </a:r>
            <a:r>
              <a:rPr b="0" i="0" lang="en-US" sz="1400" u="none" cap="none" strike="noStrike">
                <a:solidFill>
                  <a:srgbClr val="2B3556"/>
                </a:solidFill>
                <a:latin typeface="Inter"/>
                <a:ea typeface="Inter"/>
                <a:cs typeface="Inter"/>
                <a:sym typeface="Inter"/>
              </a:rPr>
              <a:t> Refused, rule shown</a:t>
            </a:r>
            <a:endParaRPr b="0" i="0" sz="1400" u="none" cap="none" strike="noStrike">
              <a:solidFill>
                <a:schemeClr val="dk1"/>
              </a:solidFill>
              <a:latin typeface="Inter"/>
              <a:ea typeface="Inter"/>
              <a:cs typeface="Inter"/>
              <a:sym typeface="Inter"/>
            </a:endParaRPr>
          </a:p>
        </p:txBody>
      </p:sp>
      <p:sp>
        <p:nvSpPr>
          <p:cNvPr id="390" name="Google Shape;390;p9"/>
          <p:cNvSpPr/>
          <p:nvPr/>
        </p:nvSpPr>
        <p:spPr>
          <a:xfrm>
            <a:off x="812765" y="3539536"/>
            <a:ext cx="406360" cy="406360"/>
          </a:xfrm>
          <a:prstGeom prst="roundRect">
            <a:avLst>
              <a:gd fmla="val 50000" name="adj"/>
            </a:avLst>
          </a:prstGeom>
          <a:solidFill>
            <a:srgbClr val="2446C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3</a:t>
            </a:r>
            <a:endParaRPr b="0" i="0" sz="1500" u="none" cap="none" strike="noStrike">
              <a:solidFill>
                <a:schemeClr val="dk1"/>
              </a:solidFill>
              <a:latin typeface="Inter"/>
              <a:ea typeface="Inter"/>
              <a:cs typeface="Inter"/>
              <a:sym typeface="Inter"/>
            </a:endParaRPr>
          </a:p>
        </p:txBody>
      </p:sp>
      <p:sp>
        <p:nvSpPr>
          <p:cNvPr id="391" name="Google Shape;391;p9"/>
          <p:cNvSpPr/>
          <p:nvPr/>
        </p:nvSpPr>
        <p:spPr>
          <a:xfrm>
            <a:off x="1358790" y="3622687"/>
            <a:ext cx="4068333" cy="26542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400"/>
              <a:buFont typeface="Inter"/>
              <a:buNone/>
            </a:pPr>
            <a:r>
              <a:rPr b="1" i="0" lang="en-US" sz="1400" u="none" cap="none" strike="noStrike">
                <a:solidFill>
                  <a:srgbClr val="2B3556"/>
                </a:solidFill>
                <a:latin typeface="Inter"/>
                <a:ea typeface="Inter"/>
                <a:cs typeface="Inter"/>
                <a:sym typeface="Inter"/>
              </a:rPr>
              <a:t>Blurry photo:</a:t>
            </a:r>
            <a:r>
              <a:rPr b="0" i="0" lang="en-US" sz="1400" u="none" cap="none" strike="noStrike">
                <a:solidFill>
                  <a:srgbClr val="2B3556"/>
                </a:solidFill>
                <a:latin typeface="Inter"/>
                <a:ea typeface="Inter"/>
                <a:cs typeface="Inter"/>
                <a:sym typeface="Inter"/>
              </a:rPr>
              <a:t> asks for a retake</a:t>
            </a:r>
            <a:endParaRPr b="0" i="0" sz="1400" u="none" cap="none" strike="noStrike">
              <a:solidFill>
                <a:schemeClr val="dk1"/>
              </a:solidFill>
              <a:latin typeface="Inter"/>
              <a:ea typeface="Inter"/>
              <a:cs typeface="Inter"/>
              <a:sym typeface="Inter"/>
            </a:endParaRPr>
          </a:p>
        </p:txBody>
      </p:sp>
      <p:sp>
        <p:nvSpPr>
          <p:cNvPr id="392" name="Google Shape;392;p9"/>
          <p:cNvSpPr/>
          <p:nvPr/>
        </p:nvSpPr>
        <p:spPr>
          <a:xfrm>
            <a:off x="812765" y="4450755"/>
            <a:ext cx="406360" cy="406360"/>
          </a:xfrm>
          <a:prstGeom prst="roundRect">
            <a:avLst>
              <a:gd fmla="val 50000" name="adj"/>
            </a:avLst>
          </a:prstGeom>
          <a:solidFill>
            <a:srgbClr val="2446C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4</a:t>
            </a:r>
            <a:endParaRPr b="0" i="0" sz="1500" u="none" cap="none" strike="noStrike">
              <a:solidFill>
                <a:schemeClr val="dk1"/>
              </a:solidFill>
              <a:latin typeface="Inter"/>
              <a:ea typeface="Inter"/>
              <a:cs typeface="Inter"/>
              <a:sym typeface="Inter"/>
            </a:endParaRPr>
          </a:p>
        </p:txBody>
      </p:sp>
      <p:sp>
        <p:nvSpPr>
          <p:cNvPr id="393" name="Google Shape;393;p9"/>
          <p:cNvSpPr/>
          <p:nvPr/>
        </p:nvSpPr>
        <p:spPr>
          <a:xfrm>
            <a:off x="1358790" y="4533906"/>
            <a:ext cx="4305431" cy="265421"/>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400"/>
              <a:buFont typeface="Inter"/>
              <a:buNone/>
            </a:pPr>
            <a:r>
              <a:rPr b="1" i="0" lang="en-US" sz="1400" u="none" cap="none" strike="noStrike">
                <a:solidFill>
                  <a:srgbClr val="2B3556"/>
                </a:solidFill>
                <a:latin typeface="Inter"/>
                <a:ea typeface="Inter"/>
                <a:cs typeface="Inter"/>
                <a:sym typeface="Inter"/>
              </a:rPr>
              <a:t>Camera:</a:t>
            </a:r>
            <a:r>
              <a:rPr b="0" i="0" lang="en-US" sz="1400" u="none" cap="none" strike="noStrike">
                <a:solidFill>
                  <a:srgbClr val="2B3556"/>
                </a:solidFill>
                <a:latin typeface="Inter"/>
                <a:ea typeface="Inter"/>
                <a:cs typeface="Inter"/>
                <a:sym typeface="Inter"/>
              </a:rPr>
              <a:t> spoken guidance, then auto-capture</a:t>
            </a:r>
            <a:endParaRPr b="0" i="0" sz="1400" u="none" cap="none" strike="noStrike">
              <a:solidFill>
                <a:schemeClr val="dk1"/>
              </a:solidFill>
              <a:latin typeface="Inter"/>
              <a:ea typeface="Inter"/>
              <a:cs typeface="Inter"/>
              <a:sym typeface="Inter"/>
            </a:endParaRPr>
          </a:p>
        </p:txBody>
      </p:sp>
      <p:sp>
        <p:nvSpPr>
          <p:cNvPr id="394" name="Google Shape;394;p9"/>
          <p:cNvSpPr/>
          <p:nvPr/>
        </p:nvSpPr>
        <p:spPr>
          <a:xfrm>
            <a:off x="812765" y="5398796"/>
            <a:ext cx="406360" cy="406360"/>
          </a:xfrm>
          <a:prstGeom prst="roundRect">
            <a:avLst>
              <a:gd fmla="val 50000" name="adj"/>
            </a:avLst>
          </a:prstGeom>
          <a:solidFill>
            <a:srgbClr val="2446C8"/>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1500"/>
              <a:buFont typeface="Inter"/>
              <a:buNone/>
            </a:pPr>
            <a:r>
              <a:rPr b="1" i="0" lang="en-US" sz="1500" u="none" cap="none" strike="noStrike">
                <a:solidFill>
                  <a:srgbClr val="FFFFFF"/>
                </a:solidFill>
                <a:latin typeface="Inter"/>
                <a:ea typeface="Inter"/>
                <a:cs typeface="Inter"/>
                <a:sym typeface="Inter"/>
              </a:rPr>
              <a:t>5</a:t>
            </a:r>
            <a:endParaRPr b="0" i="0" sz="1500" u="none" cap="none" strike="noStrike">
              <a:solidFill>
                <a:schemeClr val="dk1"/>
              </a:solidFill>
              <a:latin typeface="Inter"/>
              <a:ea typeface="Inter"/>
              <a:cs typeface="Inter"/>
              <a:sym typeface="Inter"/>
            </a:endParaRPr>
          </a:p>
        </p:txBody>
      </p:sp>
      <p:sp>
        <p:nvSpPr>
          <p:cNvPr id="395" name="Google Shape;395;p9"/>
          <p:cNvSpPr/>
          <p:nvPr/>
        </p:nvSpPr>
        <p:spPr>
          <a:xfrm>
            <a:off x="1358790" y="5361973"/>
            <a:ext cx="4068333" cy="505442"/>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B3556"/>
              </a:buClr>
              <a:buSzPts val="1400"/>
              <a:buFont typeface="Inter"/>
              <a:buNone/>
            </a:pPr>
            <a:r>
              <a:rPr b="1" i="0" lang="en-US" sz="1400" u="none" cap="none" strike="noStrike">
                <a:solidFill>
                  <a:srgbClr val="2B3556"/>
                </a:solidFill>
                <a:latin typeface="Inter"/>
                <a:ea typeface="Inter"/>
                <a:cs typeface="Inter"/>
                <a:sym typeface="Inter"/>
              </a:rPr>
              <a:t>Handwritten “ignore instructions” note:</a:t>
            </a:r>
            <a:r>
              <a:rPr b="0" i="0" lang="en-US" sz="1400" u="none" cap="none" strike="noStrike">
                <a:solidFill>
                  <a:srgbClr val="2B3556"/>
                </a:solidFill>
                <a:latin typeface="Inter"/>
                <a:ea typeface="Inter"/>
                <a:cs typeface="Inter"/>
                <a:sym typeface="Inter"/>
              </a:rPr>
              <a:t> not obeyed</a:t>
            </a:r>
            <a:endParaRPr b="0" i="0" sz="1400" u="none" cap="none" strike="noStrike">
              <a:solidFill>
                <a:schemeClr val="dk1"/>
              </a:solidFill>
              <a:latin typeface="Inter"/>
              <a:ea typeface="Inter"/>
              <a:cs typeface="Inter"/>
              <a:sym typeface="Inter"/>
            </a:endParaRPr>
          </a:p>
        </p:txBody>
      </p:sp>
      <p:sp>
        <p:nvSpPr>
          <p:cNvPr id="396" name="Google Shape;396;p9"/>
          <p:cNvSpPr/>
          <p:nvPr/>
        </p:nvSpPr>
        <p:spPr>
          <a:xfrm>
            <a:off x="5676921" y="1582390"/>
            <a:ext cx="5689587" cy="4246926"/>
          </a:xfrm>
          <a:prstGeom prst="roundRect">
            <a:avLst>
              <a:gd fmla="val 3289" name="adj"/>
            </a:avLst>
          </a:prstGeom>
          <a:solidFill>
            <a:srgbClr val="F4F6FB"/>
          </a:solidFill>
          <a:ln cap="flat" cmpd="sng" w="25400">
            <a:solidFill>
              <a:srgbClr val="F2A9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8216910" y="2940118"/>
            <a:ext cx="609562" cy="609562"/>
          </a:xfrm>
          <a:prstGeom prst="roundRect">
            <a:avLst>
              <a:gd fmla="val 50000" name="adj"/>
            </a:avLst>
          </a:prstGeom>
          <a:solidFill>
            <a:srgbClr val="2446C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lay" id="398" name="Google Shape;398;p9"/>
          <p:cNvPicPr preferRelativeResize="0"/>
          <p:nvPr/>
        </p:nvPicPr>
        <p:blipFill rotWithShape="1">
          <a:blip r:embed="rId3">
            <a:alphaModFix/>
          </a:blip>
          <a:srcRect b="0" l="0" r="0" t="0"/>
          <a:stretch/>
        </p:blipFill>
        <p:spPr>
          <a:xfrm>
            <a:off x="8369301" y="3092512"/>
            <a:ext cx="304781" cy="304781"/>
          </a:xfrm>
          <a:prstGeom prst="rect">
            <a:avLst/>
          </a:prstGeom>
          <a:noFill/>
          <a:ln>
            <a:noFill/>
          </a:ln>
        </p:spPr>
      </p:pic>
      <p:sp>
        <p:nvSpPr>
          <p:cNvPr id="399" name="Google Shape;399;p9"/>
          <p:cNvSpPr/>
          <p:nvPr/>
        </p:nvSpPr>
        <p:spPr>
          <a:xfrm>
            <a:off x="8142459" y="3702075"/>
            <a:ext cx="758466" cy="350430"/>
          </a:xfrm>
          <a:prstGeom prst="roundRect">
            <a:avLst>
              <a:gd fmla="val 50000" name="adj"/>
            </a:avLst>
          </a:prstGeom>
          <a:solidFill>
            <a:srgbClr val="F2A90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0E1A45"/>
              </a:buClr>
              <a:buSzPts val="1400"/>
              <a:buFont typeface="Inter"/>
              <a:buNone/>
            </a:pPr>
            <a:r>
              <a:rPr b="1" i="0" lang="en-US" sz="1400" u="none" cap="none" strike="noStrike">
                <a:solidFill>
                  <a:srgbClr val="0E1A45"/>
                </a:solidFill>
                <a:latin typeface="Inter"/>
                <a:ea typeface="Inter"/>
                <a:cs typeface="Inter"/>
                <a:sym typeface="Inter"/>
              </a:rPr>
              <a:t>TBD</a:t>
            </a:r>
            <a:endParaRPr b="0" i="0" sz="1400" u="none" cap="none" strike="noStrike">
              <a:solidFill>
                <a:schemeClr val="dk1"/>
              </a:solidFill>
              <a:latin typeface="Inter"/>
              <a:ea typeface="Inter"/>
              <a:cs typeface="Inter"/>
              <a:sym typeface="Inter"/>
            </a:endParaRPr>
          </a:p>
        </p:txBody>
      </p:sp>
      <p:sp>
        <p:nvSpPr>
          <p:cNvPr id="400" name="Google Shape;400;p9"/>
          <p:cNvSpPr/>
          <p:nvPr/>
        </p:nvSpPr>
        <p:spPr>
          <a:xfrm>
            <a:off x="7387960" y="4204897"/>
            <a:ext cx="2267463" cy="292095"/>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7A5200"/>
              </a:buClr>
              <a:buSzPts val="1500"/>
              <a:buFont typeface="Inter"/>
              <a:buNone/>
            </a:pPr>
            <a:r>
              <a:rPr b="0" i="0" lang="en-US" sz="1500" u="none" cap="none" strike="noStrike">
                <a:solidFill>
                  <a:srgbClr val="7A5200"/>
                </a:solidFill>
                <a:latin typeface="Inter"/>
                <a:ea typeface="Inter"/>
                <a:cs typeface="Inter"/>
                <a:sym typeface="Inter"/>
              </a:rPr>
              <a:t>TBD: app screenshot</a:t>
            </a:r>
            <a:endParaRPr b="0" i="0" sz="1500" u="none" cap="none" strike="noStrike">
              <a:solidFill>
                <a:schemeClr val="dk1"/>
              </a:solidFill>
              <a:latin typeface="Inter"/>
              <a:ea typeface="Inter"/>
              <a:cs typeface="Inter"/>
              <a:sym typeface="Inter"/>
            </a:endParaRPr>
          </a:p>
        </p:txBody>
      </p:sp>
      <p:sp>
        <p:nvSpPr>
          <p:cNvPr id="401" name="Google Shape;401;p9"/>
          <p:cNvSpPr/>
          <p:nvPr/>
        </p:nvSpPr>
        <p:spPr>
          <a:xfrm>
            <a:off x="812765" y="6238280"/>
            <a:ext cx="908529"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1" i="0" lang="en-US" sz="1200" u="none" cap="none" strike="noStrike">
                <a:solidFill>
                  <a:srgbClr val="4A5578"/>
                </a:solidFill>
                <a:latin typeface="Inter"/>
                <a:ea typeface="Inter"/>
                <a:cs typeface="Inter"/>
                <a:sym typeface="Inter"/>
              </a:rPr>
              <a:t>SeeForMe</a:t>
            </a:r>
            <a:endParaRPr b="0" i="0" sz="1200" u="none" cap="none" strike="noStrike">
              <a:solidFill>
                <a:schemeClr val="dk1"/>
              </a:solidFill>
              <a:latin typeface="Inter"/>
              <a:ea typeface="Inter"/>
              <a:cs typeface="Inter"/>
              <a:sym typeface="Inter"/>
            </a:endParaRPr>
          </a:p>
        </p:txBody>
      </p:sp>
      <p:sp>
        <p:nvSpPr>
          <p:cNvPr id="402" name="Google Shape;402;p9"/>
          <p:cNvSpPr/>
          <p:nvPr/>
        </p:nvSpPr>
        <p:spPr>
          <a:xfrm>
            <a:off x="4953125" y="6238280"/>
            <a:ext cx="3538034" cy="238747"/>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[Member 5] narrates · [Member 4] drives</a:t>
            </a:r>
            <a:endParaRPr b="0" i="0" sz="1200" u="none" cap="none" strike="noStrike">
              <a:solidFill>
                <a:schemeClr val="dk1"/>
              </a:solidFill>
              <a:latin typeface="Inter"/>
              <a:ea typeface="Inter"/>
              <a:cs typeface="Inter"/>
              <a:sym typeface="Inter"/>
            </a:endParaRPr>
          </a:p>
        </p:txBody>
      </p:sp>
      <p:sp>
        <p:nvSpPr>
          <p:cNvPr id="403" name="Google Shape;403;p9"/>
          <p:cNvSpPr/>
          <p:nvPr/>
        </p:nvSpPr>
        <p:spPr>
          <a:xfrm>
            <a:off x="11233894" y="6238280"/>
            <a:ext cx="145314" cy="238747"/>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78"/>
              </a:buClr>
              <a:buSzPts val="1200"/>
              <a:buFont typeface="Inter"/>
              <a:buNone/>
            </a:pPr>
            <a:r>
              <a:rPr b="0" i="0" lang="en-US" sz="1200" u="none" cap="none" strike="noStrike">
                <a:solidFill>
                  <a:srgbClr val="4A5578"/>
                </a:solidFill>
                <a:latin typeface="Inter"/>
                <a:ea typeface="Inter"/>
                <a:cs typeface="Inter"/>
                <a:sym typeface="Inter"/>
              </a:rPr>
              <a:t>9</a:t>
            </a:r>
            <a:endParaRPr b="0" i="0" sz="1200" u="none" cap="none" strike="noStrike">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eeForMe">
  <a:themeElements>
    <a:clrScheme name="SeeForMe">
      <a:dk1>
        <a:srgbClr val="0E1A45"/>
      </a:dk1>
      <a:lt1>
        <a:srgbClr val="FFFFFF"/>
      </a:lt1>
      <a:dk2>
        <a:srgbClr val="4A5374"/>
      </a:dk2>
      <a:lt2>
        <a:srgbClr val="E7E8EC"/>
      </a:lt2>
      <a:accent1>
        <a:srgbClr val="2B3556"/>
      </a:accent1>
      <a:accent2>
        <a:srgbClr val="4A5578"/>
      </a:accent2>
      <a:accent3>
        <a:srgbClr val="2446C8"/>
      </a:accent3>
      <a:accent4>
        <a:srgbClr val="0B6A33"/>
      </a:accent4>
      <a:accent5>
        <a:srgbClr val="8C2D00"/>
      </a:accent5>
      <a:accent6>
        <a:srgbClr val="F2A9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eForMe">
  <a:themeElements>
    <a:clrScheme name="SeeForMe">
      <a:dk1>
        <a:srgbClr val="0E1A45"/>
      </a:dk1>
      <a:lt1>
        <a:srgbClr val="FFFFFF"/>
      </a:lt1>
      <a:dk2>
        <a:srgbClr val="4A5374"/>
      </a:dk2>
      <a:lt2>
        <a:srgbClr val="E7E8EC"/>
      </a:lt2>
      <a:accent1>
        <a:srgbClr val="2B3556"/>
      </a:accent1>
      <a:accent2>
        <a:srgbClr val="4A5578"/>
      </a:accent2>
      <a:accent3>
        <a:srgbClr val="2446C8"/>
      </a:accent3>
      <a:accent4>
        <a:srgbClr val="0B6A33"/>
      </a:accent4>
      <a:accent5>
        <a:srgbClr val="8C2D00"/>
      </a:accent5>
      <a:accent6>
        <a:srgbClr val="F2A9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2026-10-24T22:12:50Z</dcterms:created>
</cp:coreProperties>
</file>