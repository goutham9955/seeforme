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b6fb162-bbe3-9ca3-95d4-3d80fd2cca2c}">
          <p14:sldIdLst>
            <p14:sldId id="256"/>
            <p14:sldId id="257"/>
          </p14:sldIdLst>
        </p14:section>
        <p14:section name="Modules" id="{03b442a7-5d98-506d-449c-8fcf1350516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Evidence" id="{8c2983e1-b8e7-8304-09f1-b96ce7727668}">
          <p14:sldIdLst>
            <p14:sldId id="264"/>
            <p14:sldId id="265"/>
            <p14:sldId id="266"/>
          </p14:sldIdLst>
        </p14:section>
        <p14:section name="Close" id="{96cf35b5-0cb6-1f9e-7573-3a650ae1dc6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A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E1A45"/>
                </a:solidFill>
                <a:latin typeface="Arial"/>
              </a:rPr>
              <a:t>Seconds per answer (measured)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 per answer</c:v>
                </c:pt>
              </c:strCache>
            </c:strRef>
          </c:tx>
          <c:spPr>
            <a:solidFill>
              <a:srgbClr val="24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Memory starved</c:v>
                  </c:pt>
                  <c:pt idx="1">
                    <c:v>Chrome open</c:v>
                  </c:pt>
                  <c:pt idx="2">
                    <c:v>Chrome closed</c:v>
                  </c:pt>
                  <c:pt idx="3">
                    <c:v>Memory 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</c:v>
                </c:pt>
                <c:pt idx="1">
                  <c:v>71</c:v>
                </c:pt>
                <c:pt idx="2">
                  <c:v>30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1A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E1A45"/>
                </a:solidFill>
                <a:latin typeface="Arial"/>
              </a:rPr>
              <a:t>Test set mix (30 items)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items</c:v>
                </c:pt>
              </c:strCache>
            </c:strRef>
          </c:tx>
          <c:spPr>
            <a:solidFill>
              <a:srgbClr val="24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Signage</c:v>
                  </c:pt>
                  <c:pt idx="1">
                    <c:v>Hazard</c:v>
                  </c:pt>
                  <c:pt idx="2">
                    <c:v>Document</c:v>
                  </c:pt>
                  <c:pt idx="3">
                    <c:v>Medication</c:v>
                  </c:pt>
                  <c:pt idx="4">
                    <c:v>Label</c:v>
                  </c:pt>
                  <c:pt idx="5">
                    <c:v>Unanswerable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2. Introduce the team and the one-line idea: a blind or low-vision person asks a question about a photo, and the assistant says out loud how sure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2. State the problem, then the brief's requirements. The key sentence: the user cannot verify the answer, so honesty matters more than sounding helpful.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4. This is the map for the rest of the talk. Each brief requirement became one module with one owner. Fill in the owners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Goutham. Walk left to right. The amber box is the design idea: safety is ordinary code after the model, so it can be tested and the model cannot talk its way past it. Modules 4 and 5 wrap the pipeline: one serves it, the other measures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Goutham. Explain the three parts of the model: a frozen vision encoder turns the photo into about 1,100 tokens, a connecting layer maps them into the language model, and the language model writes the answer. Structured output matters because the safety rules read the confidence field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3. Answer the brief's ethics question: refuse when a photo cannot support the answer and a wrong answer is dangerous, and always offer a next step. Every rule that fires is shown to the user with a shield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4. The interface was designed for the people who will use it. Confidence is shown with words and icons, never colour alone. Mention what was tested with a keyboard and VoiceOver.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5. The model server and the browser compete for 8 GB of memory. We measured answer time under four conditions on the same machine. The lesson: on a small machine, free memory matters more than any code change. For the demo, close everything except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5 (Member 4 drives the screen). Ask one question first to warm up the model. Close Chrome and other apps. Backup: play the recorded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2. Fill in the three numbers after the test run. The middle number is the safety headline. Explain the cost idea: errors are weighted by item risk and by whether the app admitted doubt.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Goutham. This slide is about honesty. These are real failures from our own runs. The cache leak and the grader error are the best stories: both made the numbers look wrong in ways only a person looking at the photo could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Member 3 (all join for thanks). Answer the ethics question directly, state the limits honestly, then the next steps. End with thanks and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SeeForMe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SeeForMe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spcAft>
                <a:spcPts val="10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A multimodal accessibility assistant that tells you when it isn't sure</a:t>
            </a:r>
            <a:endParaRPr lang="en-US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Team: Goutham  ·  [Member 2]  ·  [Member 3]  ·  [Member 4]  ·  [Member 5]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[Course name]  ·  October 2026</a:t>
            </a:r>
            <a:endParaRPr lang="en-US" sz="1400" dirty="0"/>
          </a:p>
        </p:txBody>
      </p:sp>
      <p:sp>
        <p:nvSpPr>
          <p:cNvPr id="4" name="Logo circle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Logo eye" descr="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problem and what the brief asked</a:t>
            </a:r>
            <a:endParaRPr lang="en-US" dirty="0"/>
          </a:p>
        </p:txBody>
      </p:sp>
      <p:sp>
        <p:nvSpPr>
          <p:cNvPr id="3" name="Problem text"/>
          <p:cNvSpPr txBox="1"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Blind and low-vision people need answers to their own questions: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Which medicine is this?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does this sign say?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the stove on?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They can't check the answer, so the AI must be honest about what it doesn't know.</a:t>
            </a:r>
            <a:endParaRPr lang="en-US" sz="1600" dirty="0"/>
          </a:p>
        </p:txBody>
      </p:sp>
      <p:sp>
        <p:nvSpPr>
          <p:cNvPr id="4" name="Brief card"/>
          <p:cNvSpPr/>
          <p:nvPr/>
        </p:nvSpPr>
        <p:spPr>
          <a:xfrm>
            <a:off x="4572000" y="1280160"/>
            <a:ext cx="41148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Brief heading"/>
          <p:cNvSpPr txBox="1"/>
          <p:nvPr/>
        </p:nvSpPr>
        <p:spPr>
          <a:xfrm>
            <a:off x="48006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the brief asked for</a:t>
            </a:r>
            <a:endParaRPr lang="en-US" sz="1600" dirty="0"/>
          </a:p>
        </p:txBody>
      </p:sp>
      <p:sp>
        <p:nvSpPr>
          <p:cNvPr id="6" name="Check 1 circle"/>
          <p:cNvSpPr/>
          <p:nvPr/>
        </p:nvSpPr>
        <p:spPr>
          <a:xfrm>
            <a:off x="4800600" y="1828800"/>
            <a:ext cx="347472" cy="347472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7" name="Check 1 icon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7468" y="1915668"/>
            <a:ext cx="173736" cy="173736"/>
          </a:xfrm>
          <a:prstGeom prst="rect">
            <a:avLst/>
          </a:prstGeom>
        </p:spPr>
      </p:pic>
      <p:sp>
        <p:nvSpPr>
          <p:cNvPr id="8" name="Brief item 1"/>
          <p:cNvSpPr txBox="1"/>
          <p:nvPr/>
        </p:nvSpPr>
        <p:spPr>
          <a:xfrm>
            <a:off x="5257800" y="18013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a photo, then multi-turn visual Q&amp;A</a:t>
            </a:r>
            <a:endParaRPr lang="en-US" sz="1400" dirty="0"/>
          </a:p>
        </p:txBody>
      </p:sp>
      <p:sp>
        <p:nvSpPr>
          <p:cNvPr id="9" name="Check 2 circle"/>
          <p:cNvSpPr/>
          <p:nvPr/>
        </p:nvSpPr>
        <p:spPr>
          <a:xfrm>
            <a:off x="4800600" y="2350008"/>
            <a:ext cx="347472" cy="347472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0" name="Check 2 icon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2436876"/>
            <a:ext cx="173736" cy="173736"/>
          </a:xfrm>
          <a:prstGeom prst="rect">
            <a:avLst/>
          </a:prstGeom>
        </p:spPr>
      </p:pic>
      <p:sp>
        <p:nvSpPr>
          <p:cNvPr id="11" name="Brief item 2"/>
          <p:cNvSpPr txBox="1"/>
          <p:nvPr/>
        </p:nvSpPr>
        <p:spPr>
          <a:xfrm>
            <a:off x="5257800" y="23225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Spoken responses</a:t>
            </a:r>
            <a:endParaRPr lang="en-US" sz="1400" dirty="0"/>
          </a:p>
        </p:txBody>
      </p:sp>
      <p:sp>
        <p:nvSpPr>
          <p:cNvPr id="12" name="Check 3 circle"/>
          <p:cNvSpPr/>
          <p:nvPr/>
        </p:nvSpPr>
        <p:spPr>
          <a:xfrm>
            <a:off x="4800600" y="2871216"/>
            <a:ext cx="347472" cy="347472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3" name="Check 3 icon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2958084"/>
            <a:ext cx="173736" cy="173736"/>
          </a:xfrm>
          <a:prstGeom prst="rect">
            <a:avLst/>
          </a:prstGeom>
        </p:spPr>
      </p:pic>
      <p:sp>
        <p:nvSpPr>
          <p:cNvPr id="14" name="Brief item 3"/>
          <p:cNvSpPr txBox="1"/>
          <p:nvPr/>
        </p:nvSpPr>
        <p:spPr>
          <a:xfrm>
            <a:off x="5257800" y="28437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explicit low-confidence behavior</a:t>
            </a:r>
            <a:endParaRPr lang="en-US" sz="1400" dirty="0"/>
          </a:p>
        </p:txBody>
      </p:sp>
      <p:sp>
        <p:nvSpPr>
          <p:cNvPr id="15" name="Check 4 circle"/>
          <p:cNvSpPr/>
          <p:nvPr/>
        </p:nvSpPr>
        <p:spPr>
          <a:xfrm>
            <a:off x="4800600" y="3392424"/>
            <a:ext cx="347472" cy="347472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6" name="Check 4 icon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468" y="3479292"/>
            <a:ext cx="173736" cy="173736"/>
          </a:xfrm>
          <a:prstGeom prst="rect">
            <a:avLst/>
          </a:prstGeom>
        </p:spPr>
      </p:pic>
      <p:sp>
        <p:nvSpPr>
          <p:cNvPr id="17" name="Brief item 4"/>
          <p:cNvSpPr txBox="1"/>
          <p:nvPr/>
        </p:nvSpPr>
        <p:spPr>
          <a:xfrm>
            <a:off x="5257800" y="3364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30-image test set: accuracy and cost of errors</a:t>
            </a:r>
            <a:endParaRPr lang="en-US" sz="1400" dirty="0"/>
          </a:p>
        </p:txBody>
      </p:sp>
      <p:sp>
        <p:nvSpPr>
          <p:cNvPr id="18" name="Check 5 circle"/>
          <p:cNvSpPr/>
          <p:nvPr/>
        </p:nvSpPr>
        <p:spPr>
          <a:xfrm>
            <a:off x="4800600" y="3913632"/>
            <a:ext cx="347472" cy="347472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9" name="Check 5 icon" descr="Check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468" y="4000500"/>
            <a:ext cx="173736" cy="173736"/>
          </a:xfrm>
          <a:prstGeom prst="rect">
            <a:avLst/>
          </a:prstGeom>
        </p:spPr>
      </p:pic>
      <p:sp>
        <p:nvSpPr>
          <p:cNvPr id="20" name="Brief item 5"/>
          <p:cNvSpPr txBox="1"/>
          <p:nvPr/>
        </p:nvSpPr>
        <p:spPr>
          <a:xfrm>
            <a:off x="525780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Ethics: when should an AI refuse?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From the brief to five modules</a:t>
            </a:r>
            <a:endParaRPr lang="en-US" dirty="0"/>
          </a:p>
        </p:txBody>
      </p:sp>
      <p:graphicFrame>
        <p:nvGraphicFramePr>
          <p:cNvPr id="4" name="Mod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9260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the brief asked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Multi-turn visual Q&amp;A, frozen encoder plus connector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1  Vision-language 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Goutham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Low-confidence behavior, when to refuse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2  Safety, ethics and confidence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[Member 3]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Upload or capture, spoken responses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3  Accessible interface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[Member 4]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Runs locally, without failures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4  Platform and performance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[Member 5]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30-image test, accuracy and cost of errors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5  Evaluation and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[Member 2]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wner note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Owner column: replace with who actually built each module.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Architecture: the model proposes, code decides</a:t>
            </a:r>
            <a:endParaRPr lang="en-US" dirty="0"/>
          </a:p>
        </p:txBody>
      </p:sp>
      <p:sp>
        <p:nvSpPr>
          <p:cNvPr id="3" name="Module tag 1"/>
          <p:cNvSpPr txBox="1"/>
          <p:nvPr/>
        </p:nvSpPr>
        <p:spPr>
          <a:xfrm>
            <a:off x="36576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Module 3</a:t>
            </a:r>
            <a:endParaRPr lang="en-US" sz="1200" dirty="0"/>
          </a:p>
        </p:txBody>
      </p:sp>
      <p:sp>
        <p:nvSpPr>
          <p:cNvPr id="4" name="Pipeline box 1"/>
          <p:cNvSpPr/>
          <p:nvPr/>
        </p:nvSpPr>
        <p:spPr>
          <a:xfrm>
            <a:off x="365760" y="1508760"/>
            <a:ext cx="1463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Pipeline text 1"/>
          <p:cNvSpPr txBox="1"/>
          <p:nvPr/>
        </p:nvSpPr>
        <p:spPr>
          <a:xfrm>
            <a:off x="438912" y="155448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Photo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Camera, upload, paste</a:t>
            </a:r>
            <a:endParaRPr lang="en-US" sz="1500" dirty="0"/>
          </a:p>
        </p:txBody>
      </p:sp>
      <p:sp>
        <p:nvSpPr>
          <p:cNvPr id="6" name="Arrow 1"/>
          <p:cNvSpPr/>
          <p:nvPr/>
        </p:nvSpPr>
        <p:spPr>
          <a:xfrm>
            <a:off x="1847088" y="2194560"/>
            <a:ext cx="237744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Module tag 2"/>
          <p:cNvSpPr txBox="1"/>
          <p:nvPr/>
        </p:nvSpPr>
        <p:spPr>
          <a:xfrm>
            <a:off x="210312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Module 4</a:t>
            </a:r>
            <a:endParaRPr lang="en-US" sz="1200" dirty="0"/>
          </a:p>
        </p:txBody>
      </p:sp>
      <p:sp>
        <p:nvSpPr>
          <p:cNvPr id="8" name="Pipeline box 2"/>
          <p:cNvSpPr/>
          <p:nvPr/>
        </p:nvSpPr>
        <p:spPr>
          <a:xfrm>
            <a:off x="2103120" y="1508760"/>
            <a:ext cx="1463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Pipeline text 2"/>
          <p:cNvSpPr txBox="1"/>
          <p:nvPr/>
        </p:nvSpPr>
        <p:spPr>
          <a:xfrm>
            <a:off x="2176272" y="155448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Quality check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OpenCV: blur, brightness</a:t>
            </a:r>
            <a:endParaRPr lang="en-US" sz="1500" dirty="0"/>
          </a:p>
        </p:txBody>
      </p:sp>
      <p:sp>
        <p:nvSpPr>
          <p:cNvPr id="10" name="Arrow 2"/>
          <p:cNvSpPr/>
          <p:nvPr/>
        </p:nvSpPr>
        <p:spPr>
          <a:xfrm>
            <a:off x="3584448" y="2194560"/>
            <a:ext cx="237744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Module tag 3"/>
          <p:cNvSpPr txBox="1"/>
          <p:nvPr/>
        </p:nvSpPr>
        <p:spPr>
          <a:xfrm>
            <a:off x="384048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Module 1</a:t>
            </a:r>
            <a:endParaRPr lang="en-US" sz="1200" dirty="0"/>
          </a:p>
        </p:txBody>
      </p:sp>
      <p:sp>
        <p:nvSpPr>
          <p:cNvPr id="12" name="Pipeline box 3"/>
          <p:cNvSpPr/>
          <p:nvPr/>
        </p:nvSpPr>
        <p:spPr>
          <a:xfrm>
            <a:off x="3840480" y="1508760"/>
            <a:ext cx="1463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Pipeline text 3"/>
          <p:cNvSpPr txBox="1"/>
          <p:nvPr/>
        </p:nvSpPr>
        <p:spPr>
          <a:xfrm>
            <a:off x="3913632" y="155448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Vision-language model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Qwen2.5-VL 3B via Ollama</a:t>
            </a:r>
            <a:endParaRPr lang="en-US" sz="1500" dirty="0"/>
          </a:p>
        </p:txBody>
      </p:sp>
      <p:sp>
        <p:nvSpPr>
          <p:cNvPr id="14" name="Arrow 3"/>
          <p:cNvSpPr/>
          <p:nvPr/>
        </p:nvSpPr>
        <p:spPr>
          <a:xfrm>
            <a:off x="5321808" y="2194560"/>
            <a:ext cx="237744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Module tag 4"/>
          <p:cNvSpPr txBox="1"/>
          <p:nvPr/>
        </p:nvSpPr>
        <p:spPr>
          <a:xfrm>
            <a:off x="557784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Module 2</a:t>
            </a:r>
            <a:endParaRPr lang="en-US" sz="1200" dirty="0"/>
          </a:p>
        </p:txBody>
      </p:sp>
      <p:sp>
        <p:nvSpPr>
          <p:cNvPr id="16" name="Pipeline box 4"/>
          <p:cNvSpPr/>
          <p:nvPr/>
        </p:nvSpPr>
        <p:spPr>
          <a:xfrm>
            <a:off x="5577840" y="1508760"/>
            <a:ext cx="14630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Pipeline text 4"/>
          <p:cNvSpPr txBox="1"/>
          <p:nvPr/>
        </p:nvSpPr>
        <p:spPr>
          <a:xfrm>
            <a:off x="5650992" y="155448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Safety rules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Plain code: refuse, hedge</a:t>
            </a:r>
            <a:endParaRPr lang="en-US" sz="1500" dirty="0"/>
          </a:p>
        </p:txBody>
      </p:sp>
      <p:sp>
        <p:nvSpPr>
          <p:cNvPr id="18" name="Arrow 4"/>
          <p:cNvSpPr/>
          <p:nvPr/>
        </p:nvSpPr>
        <p:spPr>
          <a:xfrm>
            <a:off x="7059168" y="2194560"/>
            <a:ext cx="237744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Module tag 5"/>
          <p:cNvSpPr txBox="1"/>
          <p:nvPr/>
        </p:nvSpPr>
        <p:spPr>
          <a:xfrm>
            <a:off x="731520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Module 3</a:t>
            </a:r>
            <a:endParaRPr lang="en-US" sz="1200" dirty="0"/>
          </a:p>
        </p:txBody>
      </p:sp>
      <p:sp>
        <p:nvSpPr>
          <p:cNvPr id="20" name="Pipeline box 5"/>
          <p:cNvSpPr/>
          <p:nvPr/>
        </p:nvSpPr>
        <p:spPr>
          <a:xfrm>
            <a:off x="7315200" y="1508760"/>
            <a:ext cx="1463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Pipeline text 5"/>
          <p:cNvSpPr txBox="1"/>
          <p:nvPr/>
        </p:nvSpPr>
        <p:spPr>
          <a:xfrm>
            <a:off x="7388352" y="155448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Answer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Sentence, confidence, voice</a:t>
            </a:r>
            <a:endParaRPr lang="en-US" sz="1500" dirty="0"/>
          </a:p>
        </p:txBody>
      </p:sp>
      <p:sp>
        <p:nvSpPr>
          <p:cNvPr id="22" name="Bar 1"/>
          <p:cNvSpPr/>
          <p:nvPr/>
        </p:nvSpPr>
        <p:spPr>
          <a:xfrm>
            <a:off x="365760" y="3154680"/>
            <a:ext cx="84124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Bar text 1"/>
          <p:cNvSpPr txBox="1"/>
          <p:nvPr/>
        </p:nvSpPr>
        <p:spPr>
          <a:xfrm>
            <a:off x="502920" y="3154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Module 4: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 server and browser page. Sessions in memory only. One question at a time.</a:t>
            </a:r>
            <a:endParaRPr lang="en-US" sz="1400" dirty="0"/>
          </a:p>
        </p:txBody>
      </p:sp>
      <p:sp>
        <p:nvSpPr>
          <p:cNvPr id="24" name="Bar 2"/>
          <p:cNvSpPr/>
          <p:nvPr/>
        </p:nvSpPr>
        <p:spPr>
          <a:xfrm>
            <a:off x="365760" y="3794760"/>
            <a:ext cx="84124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Bar text 2"/>
          <p:cNvSpPr txBox="1"/>
          <p:nvPr/>
        </p:nvSpPr>
        <p:spPr>
          <a:xfrm>
            <a:off x="502920" y="37947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Module 5: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the same pipeline over a frozen test set and scores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Module 1: the vision-language core</a:t>
            </a:r>
            <a:endParaRPr lang="en-US" dirty="0"/>
          </a:p>
        </p:txBody>
      </p:sp>
      <p:sp>
        <p:nvSpPr>
          <p:cNvPr id="3" name="Module 1 bullets"/>
          <p:cNvSpPr txBox="1"/>
          <p:nvPr/>
        </p:nvSpPr>
        <p:spPr>
          <a:xfrm>
            <a:off x="457200" y="1280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Qwen2.5-VL 3B runs locally through Ollama, about 3 GB, so it fits an 8 GB laptop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photo goes in once. Follow-up questions reuse it, so a second answer takes seconds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Answers are forced into a JSON shape: answer, confidence, category, reason, retake flag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prompt asks for full spoken sentences, only what is readable, and treats text in the photo as data</a:t>
            </a:r>
            <a:endParaRPr lang="en-US" sz="1500" dirty="0"/>
          </a:p>
        </p:txBody>
      </p:sp>
      <p:sp>
        <p:nvSpPr>
          <p:cNvPr id="4" name="Stat card"/>
          <p:cNvSpPr/>
          <p:nvPr/>
        </p:nvSpPr>
        <p:spPr>
          <a:xfrm>
            <a:off x="5486400" y="128016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tat"/>
          <p:cNvSpPr txBox="1"/>
          <p:nvPr/>
        </p:nvSpPr>
        <p:spPr>
          <a:xfrm>
            <a:off x="548640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~1,100</a:t>
            </a:r>
            <a:endParaRPr lang="en-US" sz="4600" dirty="0"/>
          </a:p>
        </p:txBody>
      </p:sp>
      <p:sp>
        <p:nvSpPr>
          <p:cNvPr id="6" name="Stat label"/>
          <p:cNvSpPr txBox="1"/>
          <p:nvPr/>
        </p:nvSpPr>
        <p:spPr>
          <a:xfrm>
            <a:off x="54864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 tokens per photo</a:t>
            </a:r>
            <a:endParaRPr lang="en-US" sz="1400" dirty="0"/>
          </a:p>
        </p:txBody>
      </p:sp>
      <p:sp>
        <p:nvSpPr>
          <p:cNvPr id="7" name="Course card"/>
          <p:cNvSpPr/>
          <p:nvPr/>
        </p:nvSpPr>
        <p:spPr>
          <a:xfrm>
            <a:off x="5486400" y="2926080"/>
            <a:ext cx="32004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Course text"/>
          <p:cNvSpPr txBox="1"/>
          <p:nvPr/>
        </p:nvSpPr>
        <p:spPr>
          <a:xfrm>
            <a:off x="566928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Course tie-in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Frozen vision encoder, connecting layer and language model, as in Flamingo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Module 2: safety, ethics and confidence</a:t>
            </a:r>
            <a:endParaRPr lang="en-US" dirty="0"/>
          </a:p>
        </p:txBody>
      </p:sp>
      <p:sp>
        <p:nvSpPr>
          <p:cNvPr id="3" name="Rule card 1"/>
          <p:cNvSpPr/>
          <p:nvPr/>
        </p:nvSpPr>
        <p:spPr>
          <a:xfrm>
            <a:off x="457200" y="128016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fuse 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5" name="Refuse icon" descr="Ref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6" name="Rule title 1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Refuse</a:t>
            </a:r>
            <a:endParaRPr lang="en-US" sz="1800" dirty="0"/>
          </a:p>
        </p:txBody>
      </p:sp>
      <p:sp>
        <p:nvSpPr>
          <p:cNvPr id="7" name="Rule text 1"/>
          <p:cNvSpPr txBox="1"/>
          <p:nvPr/>
        </p:nvSpPr>
        <p:spPr>
          <a:xfrm>
            <a:off x="685800" y="2560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Advice a photo can't support, such as doses or "is it safe to take". We read what is printed and send you to a pharmacist.</a:t>
            </a:r>
            <a:endParaRPr lang="en-US" sz="1300" dirty="0"/>
          </a:p>
        </p:txBody>
      </p:sp>
      <p:sp>
        <p:nvSpPr>
          <p:cNvPr id="8" name="Rule card 2"/>
          <p:cNvSpPr/>
          <p:nvPr/>
        </p:nvSpPr>
        <p:spPr>
          <a:xfrm>
            <a:off x="3291840" y="128016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Hedge circle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0" name="Hedge icon" descr="He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577340"/>
            <a:ext cx="320040" cy="320040"/>
          </a:xfrm>
          <a:prstGeom prst="rect">
            <a:avLst/>
          </a:prstGeom>
        </p:spPr>
      </p:pic>
      <p:sp>
        <p:nvSpPr>
          <p:cNvPr id="11" name="Rule title 2"/>
          <p:cNvSpPr txBox="1"/>
          <p:nvPr/>
        </p:nvSpPr>
        <p:spPr>
          <a:xfrm>
            <a:off x="35204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Hedge</a:t>
            </a:r>
            <a:endParaRPr lang="en-US" sz="1800" dirty="0"/>
          </a:p>
        </p:txBody>
      </p:sp>
      <p:sp>
        <p:nvSpPr>
          <p:cNvPr id="12" name="Rule text 2"/>
          <p:cNvSpPr txBox="1"/>
          <p:nvPr/>
        </p:nvSpPr>
        <p:spPr>
          <a:xfrm>
            <a:off x="3520440" y="2560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Low confidence starts with "I'm not sure" plus a next step. A stove is never reported as surely off. A blurry photo can't give high confidence.</a:t>
            </a:r>
            <a:endParaRPr lang="en-US" sz="1300" dirty="0"/>
          </a:p>
        </p:txBody>
      </p:sp>
      <p:sp>
        <p:nvSpPr>
          <p:cNvPr id="13" name="Rule card 3"/>
          <p:cNvSpPr/>
          <p:nvPr/>
        </p:nvSpPr>
        <p:spPr>
          <a:xfrm>
            <a:off x="6126480" y="128016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gnore circle"/>
          <p:cNvSpPr/>
          <p:nvPr/>
        </p:nvSpPr>
        <p:spPr>
          <a:xfrm>
            <a:off x="6355080" y="141732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5" name="Ignore icon" descr="Ign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577340"/>
            <a:ext cx="320040" cy="320040"/>
          </a:xfrm>
          <a:prstGeom prst="rect">
            <a:avLst/>
          </a:prstGeom>
        </p:spPr>
      </p:pic>
      <p:sp>
        <p:nvSpPr>
          <p:cNvPr id="16" name="Rule title 3"/>
          <p:cNvSpPr txBox="1"/>
          <p:nvPr/>
        </p:nvSpPr>
        <p:spPr>
          <a:xfrm>
            <a:off x="6355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Ignore</a:t>
            </a:r>
            <a:endParaRPr lang="en-US" sz="1800" dirty="0"/>
          </a:p>
        </p:txBody>
      </p:sp>
      <p:sp>
        <p:nvSpPr>
          <p:cNvPr id="17" name="Rule text 3"/>
          <p:cNvSpPr txBox="1"/>
          <p:nvPr/>
        </p:nvSpPr>
        <p:spPr>
          <a:xfrm>
            <a:off x="6355080" y="2560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Instructions written inside a photo are data, not commands. The app flags them and does not follow them.</a:t>
            </a:r>
            <a:endParaRPr lang="en-US" sz="1300" dirty="0"/>
          </a:p>
        </p:txBody>
      </p:sp>
      <p:sp>
        <p:nvSpPr>
          <p:cNvPr id="18" name="Module 2 note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rules are plain code that runs after the model, so they can be tested. They can only raise the risk, never lower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Module 3: the accessible interface</a:t>
            </a:r>
            <a:endParaRPr lang="en-US" dirty="0"/>
          </a:p>
        </p:txBody>
      </p:sp>
      <p:sp>
        <p:nvSpPr>
          <p:cNvPr id="3" name="Module 3 bullets"/>
          <p:cNvSpPr txBox="1"/>
          <p:nvPr/>
        </p:nvSpPr>
        <p:spPr>
          <a:xfrm>
            <a:off x="457200" y="128016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Photo from a file, paste, drag and drop, or the live camera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camera speaks guidance (too dark, hold steady, move closer) and takes the photo itself when it is sharp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Spoken answers with replay, and a microphone to speak the question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Keyboard-only use, screen-reader mode, high-contrast theme, large text</a:t>
            </a:r>
            <a:endParaRPr lang="en-US" sz="1500" dirty="0"/>
          </a:p>
        </p:txBody>
      </p:sp>
      <p:sp>
        <p:nvSpPr>
          <p:cNvPr id="4" name="Interface screenshot placeholder"/>
          <p:cNvSpPr/>
          <p:nvPr/>
        </p:nvSpPr>
        <p:spPr>
          <a:xfrm>
            <a:off x="4937760" y="1280160"/>
            <a:ext cx="374904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5" name="Interface screenshot placeholder text"/>
          <p:cNvSpPr txBox="1"/>
          <p:nvPr/>
        </p:nvSpPr>
        <p:spPr>
          <a:xfrm>
            <a:off x="4937760" y="1280160"/>
            <a:ext cx="3749040" cy="3200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TBD: interface screenshot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Module 4: platform and performance</a:t>
            </a:r>
            <a:endParaRPr lang="en-US" dirty="0"/>
          </a:p>
        </p:txBody>
      </p:sp>
      <p:sp>
        <p:nvSpPr>
          <p:cNvPr id="3" name="Module 4 bullets"/>
          <p:cNvSpPr txBox="1"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FastAPI server: sessions in memory, upload limits, one question at a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photo-quality check (blur, brightness) runs before the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Runs entirely on a MacBook Air M1 with 8 GB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Speed depends on free memory: freeing RAM cut an answer from minutes to seconds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18872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Live demo</a:t>
            </a:r>
            <a:endParaRPr lang="en-US" dirty="0"/>
          </a:p>
        </p:txBody>
      </p:sp>
      <p:sp>
        <p:nvSpPr>
          <p:cNvPr id="3" name="Step badg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text 1"/>
          <p:cNvSpPr txBox="1"/>
          <p:nvPr/>
        </p:nvSpPr>
        <p:spPr>
          <a:xfrm>
            <a:off x="1051560" y="1325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Medicine bottle: reads the label, adds a verify line</a:t>
            </a:r>
            <a:endParaRPr lang="en-US" sz="1400" dirty="0"/>
          </a:p>
        </p:txBody>
      </p:sp>
      <p:sp>
        <p:nvSpPr>
          <p:cNvPr id="6" name="Step badge 2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Step number 2"/>
          <p:cNvSpPr txBox="1"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text 2"/>
          <p:cNvSpPr txBox="1"/>
          <p:nvPr/>
        </p:nvSpPr>
        <p:spPr>
          <a:xfrm>
            <a:off x="1051560" y="19842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"How many tablets should I take?": refused, rule shown</a:t>
            </a:r>
            <a:endParaRPr lang="en-US" sz="1400" dirty="0"/>
          </a:p>
        </p:txBody>
      </p:sp>
      <p:sp>
        <p:nvSpPr>
          <p:cNvPr id="9" name="Step badge 3"/>
          <p:cNvSpPr/>
          <p:nvPr/>
        </p:nvSpPr>
        <p:spPr>
          <a:xfrm>
            <a:off x="457200" y="268833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tep number 3"/>
          <p:cNvSpPr txBox="1"/>
          <p:nvPr/>
        </p:nvSpPr>
        <p:spPr>
          <a:xfrm>
            <a:off x="45720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text 3"/>
          <p:cNvSpPr txBox="1"/>
          <p:nvPr/>
        </p:nvSpPr>
        <p:spPr>
          <a:xfrm>
            <a:off x="1051560" y="26426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Blurry photo: asks for a retake</a:t>
            </a:r>
            <a:endParaRPr lang="en-US" sz="1400" dirty="0"/>
          </a:p>
        </p:txBody>
      </p:sp>
      <p:sp>
        <p:nvSpPr>
          <p:cNvPr id="12" name="Step badge 4"/>
          <p:cNvSpPr/>
          <p:nvPr/>
        </p:nvSpPr>
        <p:spPr>
          <a:xfrm>
            <a:off x="457200" y="334670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number 4"/>
          <p:cNvSpPr txBox="1"/>
          <p:nvPr/>
        </p:nvSpPr>
        <p:spPr>
          <a:xfrm>
            <a:off x="4572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text 4"/>
          <p:cNvSpPr txBox="1"/>
          <p:nvPr/>
        </p:nvSpPr>
        <p:spPr>
          <a:xfrm>
            <a:off x="1051560" y="33009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Camera: spoken guidance, then auto-capture</a:t>
            </a:r>
            <a:endParaRPr lang="en-US" sz="1400" dirty="0"/>
          </a:p>
        </p:txBody>
      </p:sp>
      <p:sp>
        <p:nvSpPr>
          <p:cNvPr id="15" name="Step badge 5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Step number 5"/>
          <p:cNvSpPr txBox="1"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text 5"/>
          <p:cNvSpPr txBox="1"/>
          <p:nvPr/>
        </p:nvSpPr>
        <p:spPr>
          <a:xfrm>
            <a:off x="1051560" y="39593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Handwritten "ignore instructions" note: not obeyed</a:t>
            </a:r>
            <a:endParaRPr lang="en-US" sz="1400" dirty="0"/>
          </a:p>
        </p:txBody>
      </p:sp>
      <p:sp>
        <p:nvSpPr>
          <p:cNvPr id="18" name="Screenshot placeholder"/>
          <p:cNvSpPr/>
          <p:nvPr/>
        </p:nvSpPr>
        <p:spPr>
          <a:xfrm>
            <a:off x="4892040" y="1325880"/>
            <a:ext cx="37947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19" name="Screenshot placeholder text"/>
          <p:cNvSpPr txBox="1"/>
          <p:nvPr/>
        </p:nvSpPr>
        <p:spPr>
          <a:xfrm>
            <a:off x="4892040" y="1325880"/>
            <a:ext cx="3794760" cy="3108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TBD: app screenshot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Module 5: evaluation and results</a:t>
            </a:r>
            <a:endParaRPr lang="en-US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tat value 1"/>
          <p:cNvSpPr txBox="1"/>
          <p:nvPr/>
        </p:nvSpPr>
        <p:spPr>
          <a:xfrm>
            <a:off x="45720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24</a:t>
            </a:r>
            <a:endParaRPr lang="en-US" sz="4800" dirty="0"/>
          </a:p>
        </p:txBody>
      </p:sp>
      <p:sp>
        <p:nvSpPr>
          <p:cNvPr id="5" name="Stat label 1"/>
          <p:cNvSpPr txBox="1"/>
          <p:nvPr/>
        </p:nvSpPr>
        <p:spPr>
          <a:xfrm>
            <a:off x="59436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30 test items handled correctly</a:t>
            </a:r>
            <a:endParaRPr lang="en-US" sz="13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18872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Stat value 2"/>
          <p:cNvSpPr txBox="1"/>
          <p:nvPr/>
        </p:nvSpPr>
        <p:spPr>
          <a:xfrm>
            <a:off x="329184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8" name="Stat label 2"/>
          <p:cNvSpPr txBox="1"/>
          <p:nvPr/>
        </p:nvSpPr>
        <p:spPr>
          <a:xfrm>
            <a:off x="342900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confident wrong answers on high-risk items</a:t>
            </a:r>
            <a:endParaRPr lang="en-US" sz="13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18872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tat value 3"/>
          <p:cNvSpPr txBox="1"/>
          <p:nvPr/>
        </p:nvSpPr>
        <p:spPr>
          <a:xfrm>
            <a:off x="612648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43 s</a:t>
            </a:r>
            <a:endParaRPr lang="en-US" sz="48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263640" y="2011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typical time per answer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" y="269748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Method bullets"/>
          <p:cNvSpPr txBox="1"/>
          <p:nvPr/>
        </p:nvSpPr>
        <p:spPr>
          <a:xfrm>
            <a:off x="4846320" y="274320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30 test items, run once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12 separate items for tuning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Cost: a confident wrong medicine answer = 20, a hedged miss on a low-risk item = 1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grade checked against the photo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Failures we found and what we learned</a:t>
            </a:r>
            <a:endParaRPr lang="en-US" dirty="0"/>
          </a:p>
        </p:txBody>
      </p:sp>
      <p:sp>
        <p:nvSpPr>
          <p:cNvPr id="3" name="Failure card 1"/>
          <p:cNvSpPr/>
          <p:nvPr/>
        </p:nvSpPr>
        <p:spPr>
          <a:xfrm>
            <a:off x="457200" y="1280160"/>
            <a:ext cx="1920240" cy="2697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Invented meaning circl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5" name="Invented meaning icon" descr="Invented mea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6" name="Failure title 1"/>
          <p:cNvSpPr txBox="1"/>
          <p:nvPr/>
        </p:nvSpPr>
        <p:spPr>
          <a:xfrm>
            <a:off x="64008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Invented meaning</a:t>
            </a:r>
            <a:endParaRPr lang="en-US" sz="1400" dirty="0"/>
          </a:p>
        </p:txBody>
      </p:sp>
      <p:sp>
        <p:nvSpPr>
          <p:cNvPr id="7" name="Failure text 1"/>
          <p:cNvSpPr txBox="1"/>
          <p:nvPr/>
        </p:nvSpPr>
        <p:spPr>
          <a:xfrm>
            <a:off x="640080" y="25146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 a blurry Startup Repair screen as a password prompt, with high confidence. Fix: describe only what is readable.</a:t>
            </a:r>
            <a:endParaRPr lang="en-US" sz="1200" dirty="0"/>
          </a:p>
        </p:txBody>
      </p:sp>
      <p:sp>
        <p:nvSpPr>
          <p:cNvPr id="8" name="Failure card 2"/>
          <p:cNvSpPr/>
          <p:nvPr/>
        </p:nvSpPr>
        <p:spPr>
          <a:xfrm>
            <a:off x="2560320" y="1280160"/>
            <a:ext cx="1920240" cy="2697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Cache leak circle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0" name="Cache leak icon" descr="Cache lea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554480"/>
            <a:ext cx="274320" cy="274320"/>
          </a:xfrm>
          <a:prstGeom prst="rect">
            <a:avLst/>
          </a:prstGeom>
        </p:spPr>
      </p:pic>
      <p:sp>
        <p:nvSpPr>
          <p:cNvPr id="11" name="Failure title 2"/>
          <p:cNvSpPr txBox="1"/>
          <p:nvPr/>
        </p:nvSpPr>
        <p:spPr>
          <a:xfrm>
            <a:off x="274320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Cache leak</a:t>
            </a:r>
            <a:endParaRPr lang="en-US" sz="1400" dirty="0"/>
          </a:p>
        </p:txBody>
      </p:sp>
      <p:sp>
        <p:nvSpPr>
          <p:cNvPr id="12" name="Failure text 2"/>
          <p:cNvSpPr txBox="1"/>
          <p:nvPr/>
        </p:nvSpPr>
        <p:spPr>
          <a:xfrm>
            <a:off x="2743200" y="25146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photo's content showed up in the next photo's answer. Fix: a separate id for each conversation.</a:t>
            </a:r>
            <a:endParaRPr lang="en-US" sz="1200" dirty="0"/>
          </a:p>
        </p:txBody>
      </p:sp>
      <p:sp>
        <p:nvSpPr>
          <p:cNvPr id="13" name="Failure card 3"/>
          <p:cNvSpPr/>
          <p:nvPr/>
        </p:nvSpPr>
        <p:spPr>
          <a:xfrm>
            <a:off x="4663440" y="1280160"/>
            <a:ext cx="1920240" cy="2697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Gate too strict circle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5" name="Gate too strict icon" descr="Gate too stri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274320" cy="274320"/>
          </a:xfrm>
          <a:prstGeom prst="rect">
            <a:avLst/>
          </a:prstGeom>
        </p:spPr>
      </p:pic>
      <p:sp>
        <p:nvSpPr>
          <p:cNvPr id="16" name="Failure title 3"/>
          <p:cNvSpPr txBox="1"/>
          <p:nvPr/>
        </p:nvSpPr>
        <p:spPr>
          <a:xfrm>
            <a:off x="484632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Gate too strict</a:t>
            </a:r>
            <a:endParaRPr lang="en-US" sz="1400" dirty="0"/>
          </a:p>
        </p:txBody>
      </p:sp>
      <p:sp>
        <p:nvSpPr>
          <p:cNvPr id="17" name="Failure text 3"/>
          <p:cNvSpPr txBox="1"/>
          <p:nvPr/>
        </p:nvSpPr>
        <p:spPr>
          <a:xfrm>
            <a:off x="4846320" y="25146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Blocked a readable braille photo as blurry. Flat textures fool a sharpness test.</a:t>
            </a:r>
            <a:endParaRPr lang="en-US" sz="1200" dirty="0"/>
          </a:p>
        </p:txBody>
      </p:sp>
      <p:sp>
        <p:nvSpPr>
          <p:cNvPr id="18" name="Failure card 4"/>
          <p:cNvSpPr/>
          <p:nvPr/>
        </p:nvSpPr>
        <p:spPr>
          <a:xfrm>
            <a:off x="6766560" y="1280160"/>
            <a:ext cx="1920240" cy="26974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Grader error circle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0" name="Grader error icon" descr="Grader err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554480"/>
            <a:ext cx="274320" cy="274320"/>
          </a:xfrm>
          <a:prstGeom prst="rect">
            <a:avLst/>
          </a:prstGeom>
        </p:spPr>
      </p:pic>
      <p:sp>
        <p:nvSpPr>
          <p:cNvPr id="21" name="Failure title 4"/>
          <p:cNvSpPr txBox="1"/>
          <p:nvPr/>
        </p:nvSpPr>
        <p:spPr>
          <a:xfrm>
            <a:off x="694944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Grader error</a:t>
            </a:r>
            <a:endParaRPr lang="en-US" sz="1400" dirty="0"/>
          </a:p>
        </p:txBody>
      </p:sp>
      <p:sp>
        <p:nvSpPr>
          <p:cNvPr id="22" name="Failure text 4"/>
          <p:cNvSpPr txBox="1"/>
          <p:nvPr/>
        </p:nvSpPr>
        <p:spPr>
          <a:xfrm>
            <a:off x="6949440" y="25146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My grader marked a correct answer wrong and faked a safety alarm. A person now checks every grade.</a:t>
            </a:r>
            <a:endParaRPr lang="en-US" sz="1200" dirty="0"/>
          </a:p>
        </p:txBody>
      </p:sp>
      <p:sp>
        <p:nvSpPr>
          <p:cNvPr id="23" name="Test failures bar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st failures text"/>
          <p:cNvSpPr txBox="1"/>
          <p:nvPr/>
        </p:nvSpPr>
        <p:spPr>
          <a:xfrm>
            <a:off x="59436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On the test set: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blurry fish-oil jar misread but hedged · 7 of 27 answerable items hedged or blocked · a count question refused as dosing advice (fixed after the test) · a cheese bag called Thai Sweet Chilli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Ethics, limits and what comes next</a:t>
            </a:r>
            <a:endParaRPr lang="en-US" dirty="0"/>
          </a:p>
        </p:txBody>
      </p:sp>
      <p:sp>
        <p:nvSpPr>
          <p:cNvPr id="3" name="Ethics text"/>
          <p:cNvSpPr txBox="1"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When should an AI refuse?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When a photo can't support the answer and a wrong answer is dangerous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Always with a next step, never just "no"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Limits: a small model that is sometimes confidently wrong, rules that keywords can miss</a:t>
            </a:r>
            <a:endParaRPr lang="en-US" sz="1400" dirty="0"/>
          </a:p>
        </p:txBody>
      </p:sp>
      <p:sp>
        <p:nvSpPr>
          <p:cNvPr id="4" name="Next heading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comes next</a:t>
            </a:r>
            <a:endParaRPr lang="en-US" sz="1800" dirty="0"/>
          </a:p>
        </p:txBody>
      </p:sp>
      <p:sp>
        <p:nvSpPr>
          <p:cNvPr id="5" name="Next 1 circle"/>
          <p:cNvSpPr/>
          <p:nvPr/>
        </p:nvSpPr>
        <p:spPr>
          <a:xfrm>
            <a:off x="4754880" y="17373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Next 1 icon" descr="Nex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9180" y="1851660"/>
            <a:ext cx="228600" cy="228600"/>
          </a:xfrm>
          <a:prstGeom prst="rect">
            <a:avLst/>
          </a:prstGeom>
        </p:spPr>
      </p:pic>
      <p:sp>
        <p:nvSpPr>
          <p:cNvPr id="7" name="Next text 1"/>
          <p:cNvSpPr txBox="1"/>
          <p:nvPr/>
        </p:nvSpPr>
        <p:spPr>
          <a:xfrm>
            <a:off x="539496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bigger hosted model</a:t>
            </a:r>
            <a:endParaRPr lang="en-US" sz="1400" dirty="0"/>
          </a:p>
        </p:txBody>
      </p:sp>
      <p:sp>
        <p:nvSpPr>
          <p:cNvPr id="8" name="Next 2 circle"/>
          <p:cNvSpPr/>
          <p:nvPr/>
        </p:nvSpPr>
        <p:spPr>
          <a:xfrm>
            <a:off x="4754880" y="230428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9" name="Next 2 icon" descr="Nex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418588"/>
            <a:ext cx="228600" cy="228600"/>
          </a:xfrm>
          <a:prstGeom prst="rect">
            <a:avLst/>
          </a:prstGeom>
        </p:spPr>
      </p:pic>
      <p:sp>
        <p:nvSpPr>
          <p:cNvPr id="10" name="Next text 2"/>
          <p:cNvSpPr txBox="1"/>
          <p:nvPr/>
        </p:nvSpPr>
        <p:spPr>
          <a:xfrm>
            <a:off x="5394960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speech recognition</a:t>
            </a:r>
            <a:endParaRPr lang="en-US" sz="1400" dirty="0"/>
          </a:p>
        </p:txBody>
      </p:sp>
      <p:sp>
        <p:nvSpPr>
          <p:cNvPr id="11" name="Next 3 circle"/>
          <p:cNvSpPr/>
          <p:nvPr/>
        </p:nvSpPr>
        <p:spPr>
          <a:xfrm>
            <a:off x="4754880" y="287121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Next 3 icon" descr="Nex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2985516"/>
            <a:ext cx="228600" cy="228600"/>
          </a:xfrm>
          <a:prstGeom prst="rect">
            <a:avLst/>
          </a:prstGeom>
        </p:spPr>
      </p:pic>
      <p:sp>
        <p:nvSpPr>
          <p:cNvPr id="13" name="Next text 3"/>
          <p:cNvSpPr txBox="1"/>
          <p:nvPr/>
        </p:nvSpPr>
        <p:spPr>
          <a:xfrm>
            <a:off x="5394960" y="28712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with real users</a:t>
            </a:r>
            <a:endParaRPr lang="en-US" sz="1400" dirty="0"/>
          </a:p>
        </p:txBody>
      </p:sp>
      <p:sp>
        <p:nvSpPr>
          <p:cNvPr id="14" name="Next 4 circle"/>
          <p:cNvSpPr/>
          <p:nvPr/>
        </p:nvSpPr>
        <p:spPr>
          <a:xfrm>
            <a:off x="4754880" y="343814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5" name="Next 4 icon" descr="Next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3552444"/>
            <a:ext cx="228600" cy="228600"/>
          </a:xfrm>
          <a:prstGeom prst="rect">
            <a:avLst/>
          </a:prstGeom>
        </p:spPr>
      </p:pic>
      <p:sp>
        <p:nvSpPr>
          <p:cNvPr id="16" name="Next text 4"/>
          <p:cNvSpPr txBox="1"/>
          <p:nvPr/>
        </p:nvSpPr>
        <p:spPr>
          <a:xfrm>
            <a:off x="5394960" y="34381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Few-shot examples (not yet tested)</a:t>
            </a:r>
            <a:endParaRPr lang="en-US" sz="1400" dirty="0"/>
          </a:p>
        </p:txBody>
      </p:sp>
      <p:sp>
        <p:nvSpPr>
          <p:cNvPr id="17" name="Thanks bar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Thanks text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Thank you. Questions?   [GitHub link]   ·   VizWiz data (CC BY 4.0)   ·   Qwen2.5-VL via Ollama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eForMe">
  <a:themeElements>
    <a:clrScheme name="SeeForMe">
      <a:dk1>
        <a:srgbClr val="111827"/>
      </a:dk1>
      <a:lt1>
        <a:srgbClr val="FFFFFF"/>
      </a:lt1>
      <a:dk2>
        <a:srgbClr val="0E1A45"/>
      </a:dk2>
      <a:lt2>
        <a:srgbClr val="F4F6FB"/>
      </a:lt2>
      <a:accent1>
        <a:srgbClr val="2446C8"/>
      </a:accent1>
      <a:accent2>
        <a:srgbClr val="F2A900"/>
      </a:accent2>
      <a:accent3>
        <a:srgbClr val="0B6A33"/>
      </a:accent3>
      <a:accent4>
        <a:srgbClr val="8C2D00"/>
      </a:accent4>
      <a:accent5>
        <a:srgbClr val="5D6A82"/>
      </a:accent5>
      <a:accent6>
        <a:srgbClr val="8FB0FF"/>
      </a:accent6>
      <a:hlink>
        <a:srgbClr val="2446C8"/>
      </a:hlink>
      <a:folHlink>
        <a:srgbClr val="5D6A82"/>
      </a:folHlink>
    </a:clrScheme>
    <a:fontScheme name="SeeFor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SeeForMe: team deck</dc:title>
  <dc:subject>PptxGenJS Presentation</dc:subject>
  <dc:creator>SeeForMe team</dc:creator>
  <cp:lastModifiedBy>SeeForMe team</cp:lastModifiedBy>
  <cp:revision>1</cp:revision>
  <dcterms:created xsi:type="dcterms:W3CDTF">2026-10-25T02:25:37Z</dcterms:created>
  <dcterms:modified xsi:type="dcterms:W3CDTF">2026-10-25T02:25:37Z</dcterms:modified>
</cp:coreProperties>
</file>