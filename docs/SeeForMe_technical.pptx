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bed76482-f936-c21b-64ad-aaf1a6c23453}">
          <p14:sldIdLst>
            <p14:sldId id="256"/>
            <p14:sldId id="257"/>
          </p14:sldIdLst>
        </p14:section>
        <p14:section name="Model" id="{8038e771-0057-d175-5831-1450c7a8ec25}">
          <p14:sldIdLst>
            <p14:sldId id="258"/>
            <p14:sldId id="259"/>
            <p14:sldId id="260"/>
          </p14:sldIdLst>
        </p14:section>
        <p14:section name="Safety and sensing" id="{f3b6ad57-89fd-d934-17fb-455f7bbe1210}">
          <p14:sldIdLst>
            <p14:sldId id="261"/>
            <p14:sldId id="262"/>
          </p14:sldIdLst>
        </p14:section>
        <p14:section name="Engineering" id="{3035496e-f2da-d9c2-dfb1-a143f442d56b}">
          <p14:sldIdLst>
            <p14:sldId id="263"/>
          </p14:sldIdLst>
        </p14:section>
        <p14:section name="Evaluation" id="{33232b50-32b9-28fa-70ed-241ace9e6e89}">
          <p14:sldIdLst>
            <p14:sldId id="264"/>
            <p14:sldId id="265"/>
            <p14:sldId id="266"/>
          </p14:sldIdLst>
        </p14:section>
        <p14:section name="Close" id="{fbb0a312-9dc8-e3a2-579d-a076ddabe076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1A4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E1A45"/>
                </a:solidFill>
                <a:latin typeface="Arial"/>
              </a:rPr>
              <a:t>First request, seconds (memory starved)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2446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Loading the model</c:v>
                  </c:pt>
                  <c:pt idx="1">
                    <c:v>Reading photo and prompt</c:v>
                  </c:pt>
                  <c:pt idx="2">
                    <c:v>Writing the answer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112</c:v>
                </c:pt>
                <c:pt idx="2">
                  <c:v>7.6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1A4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E1A45"/>
                </a:solidFill>
                <a:latin typeface="Arial"/>
              </a:rPr>
              <a:t>Answer time, seconds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2446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New photo</c:v>
                  </c:pt>
                  <c:pt idx="1">
                    <c:v>Follow-up question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4.6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1A4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E1A45"/>
                </a:solidFill>
                <a:latin typeface="Arial"/>
              </a:rPr>
              <a:t>Sharpness score of one photo as blur grows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Sharpness</c:v>
                </c:pt>
              </c:strCache>
            </c:strRef>
          </c:tx>
          <c:spPr>
            <a:solidFill>
              <a:srgbClr val="2446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Sharp</c:v>
                  </c:pt>
                  <c:pt idx="1">
                    <c:v>Blur 1.5</c:v>
                  </c:pt>
                  <c:pt idx="2">
                    <c:v>Blur 3</c:v>
                  </c:pt>
                  <c:pt idx="3">
                    <c:v>Blur 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424</c:v>
                </c:pt>
                <c:pt idx="1">
                  <c:v>60</c:v>
                </c:pt>
                <c:pt idx="2">
                  <c:v>25</c:v>
                </c:pt>
                <c:pt idx="3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1A4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E1A45"/>
                </a:solidFill>
                <a:latin typeface="Arial"/>
              </a:rPr>
              <a:t>Seconds per answer (measured)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2446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Memory starved</c:v>
                  </c:pt>
                  <c:pt idx="1">
                    <c:v>Chrome open</c:v>
                  </c:pt>
                  <c:pt idx="2">
                    <c:v>Chrome closed</c:v>
                  </c:pt>
                  <c:pt idx="3">
                    <c:v>Memory free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135</c:v>
                </c:pt>
                <c:pt idx="1">
                  <c:v>71</c:v>
                </c:pt>
                <c:pt idx="2">
                  <c:v>30</c:v>
                </c:pt>
                <c:pt idx="3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1A4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E1A45"/>
                </a:solidFill>
                <a:latin typeface="Arial"/>
              </a:rPr>
              <a:t>Development set, out of 10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Prompt v1</c:v>
                </c:pt>
              </c:strCache>
            </c:strRef>
          </c:tx>
          <c:spPr>
            <a:solidFill>
              <a:srgbClr val="5D6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Correct</c:v>
                  </c:pt>
                  <c:pt idx="1">
                    <c:v>Full sentence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Final (v2 + safety rules)</c:v>
                </c:pt>
              </c:strCache>
            </c:strRef>
          </c:tx>
          <c:spPr>
            <a:solidFill>
              <a:srgbClr val="2446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Correct</c:v>
                  </c:pt>
                  <c:pt idx="1">
                    <c:v>Full sentence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</c:v>
                </c:pt>
                <c:pt idx="1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1182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my technical section. I will go through one request from end to end, then each part in detail, then how we measured it and what went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seven steps. Point out that steps 2 and 6 are ordinary code around the model in step 4, and that the JSON on the right is exactly what the browser receives.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three parts: a frozen vision encoder turns the photo into tokens, a connector projects them into the language model's space, the language model reads them like words. Reading about 1,100 to 1,600 tokens costs far more than writing a 15-token answer. This first measurement was taken while memory was starved, but the shape holds: reading dominates.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schema makes the model's output machine-readable, so safety rules do not have to parse prose. If the model returns something invalid we retry once with a short repair message, then fall back to a safe low-confidence answer. A small model can lose accuracy under strict formatting, so we compare constrained and free output on the development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photo is sent only with the first message we keep, so a follow-up reuses the server's cached work: 4.6 s instead of 30 s. But cache reuse also caused a bug: the Pringles photo's content appeared in the answer for the next photo. We reproduced it outside the evaluation, then fixed it by putting a per-conversation id on the first line of the system prompt. Follow-ups share the id, so they stay fast. Different conversations never share cache.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can only be raised by these rules, never lowered. The model supplies a category but a small model sometimes mislabels, for example a bird photo labelled as medicine, so the category definitions are in the prompt and keywords can raise risk independently. Each rule that fires is shown to the user as a shield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Sharpness is the variance of the Laplacian, an edge-energy measure. We calibrated it on 300 VizWiz photos: questions the crowd could answer have a median sharpness of 351 versus 131 for unanswerable ones, so the metric predicts answerability. A mild blur cuts the score from 424 to 60. The camera uses the same measure on the centre of the frame, plus a steadiness check, to speak guidance and auto-capture.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this slide was measured, not assumed. The model runs 66% on the GPU and 34% on the CPU because it does not fully fit in the GPU's share of memory. Shrinking the photo and shrinking the context did not help. Closing other apps did: from 135 seconds when memory was starved to 9 seconds when it was free. The lesson is that on a small machine, free memory beats code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separate sets: 12 items for tuning the prompt and 30 held out. The test run is locked so it can only be done once, after every item is approved by a person. The score is cost-weighted: a confident wrong answer on a high-risk item costs 20, a hedged miss on a low-risk item costs 1. We report counts with Wilson intervals because 30 items is small, and we run a second, flatter weighting to check the conclusions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the numbers after the runs. Left: development comparison of prompt version 1 and 2 with the cache fix in place. Right: the three headline numbers from the single locked test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is a real failure from our runs. The important point is how each was found: several were found only by looking at the actual photo, not from the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direct about limits: it is a 3 billion parameter model and sometimes confidently wrong, its self-reported confidence is not well calibrated, and the test set is small. Next steps follow from the failures: a bigger model, local speech recognition, proper user testing, and a larger test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SeeForMe · technical deep dive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SeeForMe: technical deep dive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spcAft>
                <a:spcPts val="10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How it works inside: model, safety rules, sensing, performance and evaluation</a:t>
            </a:r>
            <a:endParaRPr lang="en-US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Goutham  ·  [Course name]  ·  October 2026</a:t>
            </a:r>
            <a:endParaRPr lang="en-US" sz="1400" dirty="0"/>
          </a:p>
        </p:txBody>
      </p:sp>
      <p:sp>
        <p:nvSpPr>
          <p:cNvPr id="4" name="Logo circle"/>
          <p:cNvSpPr/>
          <p:nvPr/>
        </p:nvSpPr>
        <p:spPr>
          <a:xfrm>
            <a:off x="6126480" y="1097280"/>
            <a:ext cx="2468880" cy="24688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5" name="Logo eye" descr="Ey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69164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One request, end to end</a:t>
            </a:r>
            <a:endParaRPr lang="en-US" dirty="0"/>
          </a:p>
        </p:txBody>
      </p:sp>
      <p:sp>
        <p:nvSpPr>
          <p:cNvPr id="4" name="Step badge 1"/>
          <p:cNvSpPr/>
          <p:nvPr/>
        </p:nvSpPr>
        <p:spPr>
          <a:xfrm>
            <a:off x="457200" y="1271016"/>
            <a:ext cx="347472" cy="347472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5" name="Step num 1"/>
          <p:cNvSpPr txBox="1"/>
          <p:nvPr/>
        </p:nvSpPr>
        <p:spPr>
          <a:xfrm>
            <a:off x="457200" y="1271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Step text 1"/>
          <p:cNvSpPr txBox="1"/>
          <p:nvPr/>
        </p:nvSpPr>
        <p:spPr>
          <a:xfrm>
            <a:off x="914400" y="123444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Upload: shrink to 768 px JPEG, keep in memory</a:t>
            </a:r>
            <a:endParaRPr lang="en-US" sz="1300" dirty="0"/>
          </a:p>
        </p:txBody>
      </p:sp>
      <p:sp>
        <p:nvSpPr>
          <p:cNvPr id="7" name="Step badge 2"/>
          <p:cNvSpPr/>
          <p:nvPr/>
        </p:nvSpPr>
        <p:spPr>
          <a:xfrm>
            <a:off x="457200" y="1746504"/>
            <a:ext cx="347472" cy="347472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" name="Step num 2"/>
          <p:cNvSpPr txBox="1"/>
          <p:nvPr/>
        </p:nvSpPr>
        <p:spPr>
          <a:xfrm>
            <a:off x="457200" y="1746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Step text 2"/>
          <p:cNvSpPr txBox="1"/>
          <p:nvPr/>
        </p:nvSpPr>
        <p:spPr>
          <a:xfrm>
            <a:off x="914400" y="17099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Quality check: blur and brightness (OpenCV)</a:t>
            </a:r>
            <a:endParaRPr lang="en-US" sz="1300" dirty="0"/>
          </a:p>
        </p:txBody>
      </p:sp>
      <p:sp>
        <p:nvSpPr>
          <p:cNvPr id="10" name="Step badge 3"/>
          <p:cNvSpPr/>
          <p:nvPr/>
        </p:nvSpPr>
        <p:spPr>
          <a:xfrm>
            <a:off x="457200" y="2221992"/>
            <a:ext cx="347472" cy="347472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1" name="Step num 3"/>
          <p:cNvSpPr txBox="1"/>
          <p:nvPr/>
        </p:nvSpPr>
        <p:spPr>
          <a:xfrm>
            <a:off x="457200" y="2221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Step text 3"/>
          <p:cNvSpPr txBox="1"/>
          <p:nvPr/>
        </p:nvSpPr>
        <p:spPr>
          <a:xfrm>
            <a:off x="914400" y="218541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Prompt: system rules, conversation id, history, question, photo once</a:t>
            </a:r>
            <a:endParaRPr lang="en-US" sz="1300" dirty="0"/>
          </a:p>
        </p:txBody>
      </p:sp>
      <p:sp>
        <p:nvSpPr>
          <p:cNvPr id="13" name="Step badge 4"/>
          <p:cNvSpPr/>
          <p:nvPr/>
        </p:nvSpPr>
        <p:spPr>
          <a:xfrm>
            <a:off x="457200" y="269748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4" name="Step num 4"/>
          <p:cNvSpPr txBox="1"/>
          <p:nvPr/>
        </p:nvSpPr>
        <p:spPr>
          <a:xfrm>
            <a:off x="45720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Step text 4"/>
          <p:cNvSpPr txBox="1"/>
          <p:nvPr/>
        </p:nvSpPr>
        <p:spPr>
          <a:xfrm>
            <a:off x="914400" y="2660904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Ollama call: JSON schema, temperature 0.2, 4,096-token context</a:t>
            </a:r>
            <a:endParaRPr lang="en-US" sz="1300" dirty="0"/>
          </a:p>
        </p:txBody>
      </p:sp>
      <p:sp>
        <p:nvSpPr>
          <p:cNvPr id="16" name="Step badge 5"/>
          <p:cNvSpPr/>
          <p:nvPr/>
        </p:nvSpPr>
        <p:spPr>
          <a:xfrm>
            <a:off x="457200" y="3172968"/>
            <a:ext cx="347472" cy="347472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7" name="Step num 5"/>
          <p:cNvSpPr txBox="1"/>
          <p:nvPr/>
        </p:nvSpPr>
        <p:spPr>
          <a:xfrm>
            <a:off x="457200" y="3172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Step text 5"/>
          <p:cNvSpPr txBox="1"/>
          <p:nvPr/>
        </p:nvSpPr>
        <p:spPr>
          <a:xfrm>
            <a:off x="914400" y="3136392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Parse and validate, one repair retry, safe fallback</a:t>
            </a:r>
            <a:endParaRPr lang="en-US" sz="1300" dirty="0"/>
          </a:p>
        </p:txBody>
      </p:sp>
      <p:sp>
        <p:nvSpPr>
          <p:cNvPr id="19" name="Step badge 6"/>
          <p:cNvSpPr/>
          <p:nvPr/>
        </p:nvSpPr>
        <p:spPr>
          <a:xfrm>
            <a:off x="457200" y="3648456"/>
            <a:ext cx="347472" cy="347472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0" name="Step num 6"/>
          <p:cNvSpPr txBox="1"/>
          <p:nvPr/>
        </p:nvSpPr>
        <p:spPr>
          <a:xfrm>
            <a:off x="457200" y="3648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Step text 6"/>
          <p:cNvSpPr txBox="1"/>
          <p:nvPr/>
        </p:nvSpPr>
        <p:spPr>
          <a:xfrm>
            <a:off x="914400" y="361188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Safety rules in code: refuse, hedge, flag</a:t>
            </a:r>
            <a:endParaRPr lang="en-US" sz="1300" dirty="0"/>
          </a:p>
        </p:txBody>
      </p:sp>
      <p:sp>
        <p:nvSpPr>
          <p:cNvPr id="22" name="Step badge 7"/>
          <p:cNvSpPr/>
          <p:nvPr/>
        </p:nvSpPr>
        <p:spPr>
          <a:xfrm>
            <a:off x="457200" y="4123944"/>
            <a:ext cx="347472" cy="347472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3" name="Step num 7"/>
          <p:cNvSpPr txBox="1"/>
          <p:nvPr/>
        </p:nvSpPr>
        <p:spPr>
          <a:xfrm>
            <a:off x="45720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4" name="Step text 7"/>
          <p:cNvSpPr txBox="1"/>
          <p:nvPr/>
        </p:nvSpPr>
        <p:spPr>
          <a:xfrm>
            <a:off x="914400" y="408736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Return JSON and the time taken</a:t>
            </a:r>
            <a:endParaRPr lang="en-US" sz="1300" dirty="0"/>
          </a:p>
        </p:txBody>
      </p:sp>
      <p:sp>
        <p:nvSpPr>
          <p:cNvPr id="25" name="Response sample"/>
          <p:cNvSpPr/>
          <p:nvPr/>
        </p:nvSpPr>
        <p:spPr>
          <a:xfrm>
            <a:off x="5257800" y="1234440"/>
            <a:ext cx="3429000" cy="3200400"/>
          </a:xfrm>
          <a:prstGeom prst="roundRect">
            <a:avLst>
              <a:gd name="adj" fmla="val 2286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6" name="Response sample text"/>
          <p:cNvSpPr txBox="1"/>
          <p:nvPr/>
        </p:nvSpPr>
        <p:spPr>
          <a:xfrm>
            <a:off x="5394960" y="132588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"answer": "The label says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Night Time.",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"confidence": "medium",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"category": "medication",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"risk": "high",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"flags": [],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"notice": "I read what 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visible. Please verify...",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"latency_ms": 9400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Inside the model: where the time goes</a:t>
            </a:r>
            <a:endParaRPr lang="en-US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Model bullets"/>
          <p:cNvSpPr txBox="1"/>
          <p:nvPr/>
        </p:nvSpPr>
        <p:spPr>
          <a:xfrm>
            <a:off x="5120640" y="128016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Qwen2.5-VL 3B: frozen vision encoder, connecting layer, language model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photo becomes about 1,100 tokens. The prompt-reading step (prefill) is the cost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Writing 15 tokens takes about 1 s once the photo is read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Resizing the photo did not change the token count, so image size is not the lever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Structured output: confidence the code can read</a:t>
            </a:r>
            <a:endParaRPr lang="en-US" dirty="0"/>
          </a:p>
        </p:txBody>
      </p:sp>
      <p:sp>
        <p:nvSpPr>
          <p:cNvPr id="4" name="Schema code"/>
          <p:cNvSpPr/>
          <p:nvPr/>
        </p:nvSpPr>
        <p:spPr>
          <a:xfrm>
            <a:off x="457200" y="1234440"/>
            <a:ext cx="4206240" cy="3246120"/>
          </a:xfrm>
          <a:prstGeom prst="roundRect">
            <a:avLst>
              <a:gd name="adj" fmla="val 2254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5" name="Schema code text"/>
          <p:cNvSpPr txBox="1"/>
          <p:nvPr/>
        </p:nvSpPr>
        <p:spPr>
          <a:xfrm>
            <a:off x="594360" y="1325880"/>
            <a:ext cx="39319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ANSWER_SCHEMA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"answer":     string,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"confidence": "high" | "medium"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| "low",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"category":   "other" | "medication"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"food_label" | "hazard" | "sign"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"document",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"reason":     string,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"retake_suggested": boolean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passed to Ollama as format=schema</a:t>
            </a:r>
            <a:endParaRPr lang="en-US" sz="1100" dirty="0"/>
          </a:p>
        </p:txBody>
      </p:sp>
      <p:sp>
        <p:nvSpPr>
          <p:cNvPr id="6" name="Structured bullets"/>
          <p:cNvSpPr txBox="1"/>
          <p:nvPr/>
        </p:nvSpPr>
        <p:spPr>
          <a:xfrm>
            <a:off x="4937760" y="128016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Parse and validate: non-empty answer, confidence in the allowed set, unknown category becomes other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Invalid JSON: one repair retry, then a safe low-confidence fallback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"other" is listed first as the safe default for a small model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Risk: strict formatting can cost accuracy. Tested on the dev set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Multi-turn, caching, and a leak we caught</a:t>
            </a:r>
            <a:endParaRPr lang="en-US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38404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che bullets"/>
          <p:cNvSpPr txBox="1"/>
          <p:nvPr/>
        </p:nvSpPr>
        <p:spPr>
          <a:xfrm>
            <a:off x="4480560" y="1280160"/>
            <a:ext cx="4206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Photo attached to the first kept message only, history trimmed to 4 turns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bug: after the Pringles photo, the chips photo was answered "Thai Sweet Chilli"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Fix: id on line 1 of the system prompt</a:t>
            </a:r>
            <a:endParaRPr lang="en-US" sz="1400" dirty="0"/>
          </a:p>
        </p:txBody>
      </p:sp>
      <p:sp>
        <p:nvSpPr>
          <p:cNvPr id="6" name="Cache fix code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7" name="Cache fix code text"/>
          <p:cNvSpPr txBox="1"/>
          <p:nvPr/>
        </p:nvSpPr>
        <p:spPr>
          <a:xfrm>
            <a:off x="594360" y="3840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= f"[conversation {session_id}]\n" + SYSTEM_PROMPT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same id in a chat: cache helps.  New chat: new id, no shared cache.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Safety rules: plain code after the model</a:t>
            </a:r>
            <a:endParaRPr lang="en-US" dirty="0"/>
          </a:p>
        </p:txBody>
      </p:sp>
      <p:graphicFrame>
        <p:nvGraphicFramePr>
          <p:cNvPr id="7" name="Rul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84048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Rule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Trigger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Effect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Risk only rises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Model category, or keywords such as mg, dose, tablet, expiry, allergen, stove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Risk becomes high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Refuse advice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High risk and "should I", "how much", "is it safe"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Reads what is visible, refuses the advice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Hazard state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"Is the stove on or off" style questions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Never fully sure; "a photo can't prove it's off"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Injection guard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Text such as "ignore previous instructions"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Confidence low; text not followed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Soft photo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Blurry or dark photo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High confidence becomes medium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Retake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Quality gate or model asks for a retake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Confidence low; next step shown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Sensing: sharpness, brightness and camera guidance</a:t>
            </a:r>
            <a:endParaRPr lang="en-US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40233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ensing bullets"/>
          <p:cNvSpPr txBox="1"/>
          <p:nvPr/>
        </p:nvSpPr>
        <p:spPr>
          <a:xfrm>
            <a:off x="4572000" y="1280160"/>
            <a:ext cx="4114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Medians: 351 answerable vs 131 unanswerable (300 VizWiz photos)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Server gate blocks below 8 (about 1% of photos), warns below 40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Camera: sharp at 100 or more, dark under 55, glare over 225, steady if frame change is 8 or less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Holds 1.2 s of good frames, then auto-captures</a:t>
            </a:r>
            <a:endParaRPr lang="en-US" sz="1300" dirty="0"/>
          </a:p>
        </p:txBody>
      </p:sp>
      <p:sp>
        <p:nvSpPr>
          <p:cNvPr id="6" name="Sensing limit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Known limit: flat textures (braille) read as blurry and can trigger a false retake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Engineering on an 8 GB laptop</a:t>
            </a:r>
            <a:endParaRPr lang="en-US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40233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rie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280160"/>
          <a:ext cx="41148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Tried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Resize photo to 768 px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Same token count, no change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Context 2,048 not 4,096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CPU/GPU split unchanged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Flash attention, 8-bit cache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Set, small saving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Close Chrome and the VM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135 s down to about 30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Nothing else running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About 9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Memory note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Swap use reached 10.6 GB with 12 to 14% memory free when answers were slow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Evaluation method: built to avoid fooling ourselves</a:t>
            </a:r>
            <a:endParaRPr lang="en-US" dirty="0"/>
          </a:p>
        </p:txBody>
      </p:sp>
      <p:sp>
        <p:nvSpPr>
          <p:cNvPr id="4" name="Method bullets"/>
          <p:cNvSpPr txBox="1"/>
          <p:nvPr/>
        </p:nvSpPr>
        <p:spPr>
          <a:xfrm>
            <a:off x="457200" y="1280160"/>
            <a:ext cx="4480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12 development items for tuning, 30 test items held out, no overlap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 run is locked: needs approval of every item and runs once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Gold = crowd consensus, rejected when answers conflict, checked by a person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Wilson intervals, and a second set of weights as a sensitivity check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Grader: normalises spelling, apostrophes and number words, then a person verifies</a:t>
            </a:r>
            <a:endParaRPr lang="en-US" sz="1400" dirty="0"/>
          </a:p>
        </p:txBody>
      </p:sp>
      <p:graphicFrame>
        <p:nvGraphicFramePr>
          <p:cNvPr id="10" name="Cos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371600"/>
          <a:ext cx="3474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Item risk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Hedged miss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Confident wrong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20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ost caption"/>
          <p:cNvSpPr txBox="1"/>
          <p:nvPr/>
        </p:nvSpPr>
        <p:spPr>
          <a:xfrm>
            <a:off x="521208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Cost points per error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Results</a:t>
            </a:r>
            <a:endParaRPr lang="en-US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42062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card 1"/>
          <p:cNvSpPr/>
          <p:nvPr/>
        </p:nvSpPr>
        <p:spPr>
          <a:xfrm>
            <a:off x="4846320" y="1188720"/>
            <a:ext cx="384048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tat value 1"/>
          <p:cNvSpPr txBox="1"/>
          <p:nvPr/>
        </p:nvSpPr>
        <p:spPr>
          <a:xfrm>
            <a:off x="4937760" y="1188720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24</a:t>
            </a:r>
            <a:endParaRPr lang="en-US" sz="3600" dirty="0"/>
          </a:p>
        </p:txBody>
      </p:sp>
      <p:sp>
        <p:nvSpPr>
          <p:cNvPr id="7" name="Stat label 1"/>
          <p:cNvSpPr txBox="1"/>
          <p:nvPr/>
        </p:nvSpPr>
        <p:spPr>
          <a:xfrm>
            <a:off x="6400800" y="1188720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30 test items handled correctly</a:t>
            </a:r>
            <a:endParaRPr lang="en-US" sz="1300" dirty="0"/>
          </a:p>
        </p:txBody>
      </p:sp>
      <p:sp>
        <p:nvSpPr>
          <p:cNvPr id="8" name="Stat card 2"/>
          <p:cNvSpPr/>
          <p:nvPr/>
        </p:nvSpPr>
        <p:spPr>
          <a:xfrm>
            <a:off x="4846320" y="2212848"/>
            <a:ext cx="384048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tat value 2"/>
          <p:cNvSpPr txBox="1"/>
          <p:nvPr/>
        </p:nvSpPr>
        <p:spPr>
          <a:xfrm>
            <a:off x="4937760" y="2212848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</a:t>
            </a:r>
            <a:endParaRPr lang="en-US" sz="3600" dirty="0"/>
          </a:p>
        </p:txBody>
      </p:sp>
      <p:sp>
        <p:nvSpPr>
          <p:cNvPr id="10" name="Stat label 2"/>
          <p:cNvSpPr txBox="1"/>
          <p:nvPr/>
        </p:nvSpPr>
        <p:spPr>
          <a:xfrm>
            <a:off x="6400800" y="2212848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confident wrong answers on high-risk items</a:t>
            </a:r>
            <a:endParaRPr lang="en-US" sz="1300" dirty="0"/>
          </a:p>
        </p:txBody>
      </p:sp>
      <p:sp>
        <p:nvSpPr>
          <p:cNvPr id="11" name="Stat card 3"/>
          <p:cNvSpPr/>
          <p:nvPr/>
        </p:nvSpPr>
        <p:spPr>
          <a:xfrm>
            <a:off x="4846320" y="3236976"/>
            <a:ext cx="384048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Stat value 3"/>
          <p:cNvSpPr txBox="1"/>
          <p:nvPr/>
        </p:nvSpPr>
        <p:spPr>
          <a:xfrm>
            <a:off x="4937760" y="3236976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43 s</a:t>
            </a:r>
            <a:endParaRPr lang="en-US" sz="3600" dirty="0"/>
          </a:p>
        </p:txBody>
      </p:sp>
      <p:sp>
        <p:nvSpPr>
          <p:cNvPr id="13" name="Stat label 3"/>
          <p:cNvSpPr txBox="1"/>
          <p:nvPr/>
        </p:nvSpPr>
        <p:spPr>
          <a:xfrm>
            <a:off x="6400800" y="3236976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typical time per answer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Failure case studies</a:t>
            </a:r>
            <a:endParaRPr lang="en-US" dirty="0"/>
          </a:p>
        </p:txBody>
      </p:sp>
      <p:graphicFrame>
        <p:nvGraphicFramePr>
          <p:cNvPr id="12" name="Fail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Failure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Cause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Found by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Invented a password prompt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Guessed meaning of blurry text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Eval, then viewing the photo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Prompt: only what is readable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Photo A's text in photo B's answer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Cache reuse between requests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A repeated answer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Id per conversation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Bird flagged as medicine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Small model mislabelled category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User screenshot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Category definitions, safe default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Count question refused as dosing advice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Advice rule matched any "how many"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The test run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Narrowed the rule (after the test)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Braille photo blocked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Flat texture scores as blurry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Dev run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Documented trade-off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Fake safety alarm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Grader missed spelling and numbers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Looking at the photo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Better grader, human check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Limits and what I would do next</a:t>
            </a:r>
            <a:endParaRPr lang="en-US" dirty="0"/>
          </a:p>
        </p:txBody>
      </p:sp>
      <p:sp>
        <p:nvSpPr>
          <p:cNvPr id="4" name="Limits"/>
          <p:cNvSpPr txBox="1"/>
          <p:nvPr/>
        </p:nvSpPr>
        <p:spPr>
          <a:xfrm>
            <a:off x="457200" y="1280160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Limits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small model that is sometimes confidently wrong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Its own confidence is poorly calibrated, so the safety rules are deterministic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Keyword rules can miss cases; 30 items shows patterns, not rates</a:t>
            </a:r>
            <a:endParaRPr lang="en-US" sz="1400" dirty="0"/>
          </a:p>
        </p:txBody>
      </p:sp>
      <p:sp>
        <p:nvSpPr>
          <p:cNvPr id="5" name="Next heading"/>
          <p:cNvSpPr txBox="1"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Next</a:t>
            </a:r>
            <a:endParaRPr lang="en-US" sz="1800" dirty="0"/>
          </a:p>
        </p:txBody>
      </p:sp>
      <p:sp>
        <p:nvSpPr>
          <p:cNvPr id="6" name="Next 1 circle"/>
          <p:cNvSpPr/>
          <p:nvPr/>
        </p:nvSpPr>
        <p:spPr>
          <a:xfrm>
            <a:off x="4754880" y="173736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7" name="Next 1 icon" descr="Next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9180" y="1851660"/>
            <a:ext cx="228600" cy="228600"/>
          </a:xfrm>
          <a:prstGeom prst="rect">
            <a:avLst/>
          </a:prstGeom>
        </p:spPr>
      </p:pic>
      <p:sp>
        <p:nvSpPr>
          <p:cNvPr id="8" name="Next text 1"/>
          <p:cNvSpPr txBox="1"/>
          <p:nvPr/>
        </p:nvSpPr>
        <p:spPr>
          <a:xfrm>
            <a:off x="5394960" y="1737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Larger model on a hosted GPU</a:t>
            </a:r>
            <a:endParaRPr lang="en-US" sz="1400" dirty="0"/>
          </a:p>
        </p:txBody>
      </p:sp>
      <p:sp>
        <p:nvSpPr>
          <p:cNvPr id="9" name="Next 2 circle"/>
          <p:cNvSpPr/>
          <p:nvPr/>
        </p:nvSpPr>
        <p:spPr>
          <a:xfrm>
            <a:off x="4754880" y="237744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0" name="Next 2 icon" descr="Next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180" y="2491740"/>
            <a:ext cx="228600" cy="228600"/>
          </a:xfrm>
          <a:prstGeom prst="rect">
            <a:avLst/>
          </a:prstGeom>
        </p:spPr>
      </p:pic>
      <p:sp>
        <p:nvSpPr>
          <p:cNvPr id="11" name="Next text 2"/>
          <p:cNvSpPr txBox="1"/>
          <p:nvPr/>
        </p:nvSpPr>
        <p:spPr>
          <a:xfrm>
            <a:off x="539496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On-device speech recognition</a:t>
            </a:r>
            <a:endParaRPr lang="en-US" sz="1400" dirty="0"/>
          </a:p>
        </p:txBody>
      </p:sp>
      <p:sp>
        <p:nvSpPr>
          <p:cNvPr id="12" name="Next 3 circle"/>
          <p:cNvSpPr/>
          <p:nvPr/>
        </p:nvSpPr>
        <p:spPr>
          <a:xfrm>
            <a:off x="4754880" y="301752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3" name="Next 3 icon" descr="Next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180" y="3131820"/>
            <a:ext cx="228600" cy="228600"/>
          </a:xfrm>
          <a:prstGeom prst="rect">
            <a:avLst/>
          </a:prstGeom>
        </p:spPr>
      </p:pic>
      <p:sp>
        <p:nvSpPr>
          <p:cNvPr id="14" name="Next text 3"/>
          <p:cNvSpPr txBox="1"/>
          <p:nvPr/>
        </p:nvSpPr>
        <p:spPr>
          <a:xfrm>
            <a:off x="539496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 with real users</a:t>
            </a:r>
            <a:endParaRPr lang="en-US" sz="1400" dirty="0"/>
          </a:p>
        </p:txBody>
      </p:sp>
      <p:sp>
        <p:nvSpPr>
          <p:cNvPr id="15" name="Next 4 circle"/>
          <p:cNvSpPr/>
          <p:nvPr/>
        </p:nvSpPr>
        <p:spPr>
          <a:xfrm>
            <a:off x="4754880" y="365760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6" name="Next 4 icon" descr="Next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180" y="3771900"/>
            <a:ext cx="228600" cy="228600"/>
          </a:xfrm>
          <a:prstGeom prst="rect">
            <a:avLst/>
          </a:prstGeom>
        </p:spPr>
      </p:pic>
      <p:sp>
        <p:nvSpPr>
          <p:cNvPr id="17" name="Next text 4"/>
          <p:cNvSpPr txBox="1"/>
          <p:nvPr/>
        </p:nvSpPr>
        <p:spPr>
          <a:xfrm>
            <a:off x="5394960" y="3657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Few-shot examples (not yet tested)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eForMe">
  <a:themeElements>
    <a:clrScheme name="SeeForMe">
      <a:dk1>
        <a:srgbClr val="111827"/>
      </a:dk1>
      <a:lt1>
        <a:srgbClr val="FFFFFF"/>
      </a:lt1>
      <a:dk2>
        <a:srgbClr val="0E1A45"/>
      </a:dk2>
      <a:lt2>
        <a:srgbClr val="F4F6FB"/>
      </a:lt2>
      <a:accent1>
        <a:srgbClr val="2446C8"/>
      </a:accent1>
      <a:accent2>
        <a:srgbClr val="F2A900"/>
      </a:accent2>
      <a:accent3>
        <a:srgbClr val="0B6A33"/>
      </a:accent3>
      <a:accent4>
        <a:srgbClr val="8C2D00"/>
      </a:accent4>
      <a:accent5>
        <a:srgbClr val="5D6A82"/>
      </a:accent5>
      <a:accent6>
        <a:srgbClr val="8FB0FF"/>
      </a:accent6>
      <a:hlink>
        <a:srgbClr val="2446C8"/>
      </a:hlink>
      <a:folHlink>
        <a:srgbClr val="5D6A82"/>
      </a:folHlink>
    </a:clrScheme>
    <a:fontScheme name="SeeForM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SeeForMe: technical deep dive</dc:title>
  <dc:subject>PptxGenJS Presentation</dc:subject>
  <dc:creator>SeeForMe team</dc:creator>
  <cp:lastModifiedBy>SeeForMe team</cp:lastModifiedBy>
  <cp:revision>1</cp:revision>
  <dcterms:created xsi:type="dcterms:W3CDTF">2026-10-25T02:25:37Z</dcterms:created>
  <dcterms:modified xsi:type="dcterms:W3CDTF">2026-10-25T02:25:37Z</dcterms:modified>
</cp:coreProperties>
</file>